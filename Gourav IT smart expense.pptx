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8288000" cy="10287000"/>
  <p:notesSz cx="6858000" cy="9144000"/>
  <p:embeddedFontLst>
    <p:embeddedFont>
      <p:font typeface="Arimo" panose="020B0604020202020204" charset="0"/>
      <p:regular r:id="rId26"/>
    </p:embeddedFont>
    <p:embeddedFont>
      <p:font typeface="Inter" panose="020B0604020202020204" charset="0"/>
      <p:regular r:id="rId27"/>
    </p:embeddedFont>
    <p:embeddedFont>
      <p:font typeface="Inter Bold" panose="020B0604020202020204" charset="0"/>
      <p:regular r:id="rId28"/>
    </p:embeddedFont>
    <p:embeddedFont>
      <p:font typeface="Inter Medium" panose="020B0604020202020204" charset="0"/>
      <p:regular r:id="rId29"/>
    </p:embeddedFont>
    <p:embeddedFont>
      <p:font typeface="Times New Roman Bold" panose="02020803070505020304" pitchFamily="18" charset="0"/>
      <p:bold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8" Type="http://schemas.openxmlformats.org/officeDocument/2006/relationships/image" Target="../media/image2.jpeg"/><Relationship Id="rId13" Type="http://schemas.openxmlformats.org/officeDocument/2006/relationships/image" Target="../media/image14.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2.png"/><Relationship Id="rId5" Type="http://schemas.openxmlformats.org/officeDocument/2006/relationships/image" Target="../media/image7.png"/><Relationship Id="rId10" Type="http://schemas.openxmlformats.org/officeDocument/2006/relationships/image" Target="../media/image11.png"/><Relationship Id="rId4" Type="http://schemas.openxmlformats.org/officeDocument/2006/relationships/image" Target="../media/image6.png"/><Relationship Id="rId9" Type="http://schemas.openxmlformats.org/officeDocument/2006/relationships/image" Target="../media/image10.png"/><Relationship Id="rId14" Type="http://schemas.openxmlformats.org/officeDocument/2006/relationships/image" Target="../media/image15.jpeg"/></Relationships>
</file>

<file path=ppt/slides/_rels/slide3.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6.png"/><Relationship Id="rId7" Type="http://schemas.openxmlformats.org/officeDocument/2006/relationships/image" Target="../media/image2.jpe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22.png"/><Relationship Id="rId4" Type="http://schemas.openxmlformats.org/officeDocument/2006/relationships/image" Target="../media/image17.png"/><Relationship Id="rId9" Type="http://schemas.openxmlformats.org/officeDocument/2006/relationships/image" Target="../media/image21.png"/></Relationships>
</file>

<file path=ppt/slides/_rels/slide4.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30.png"/><Relationship Id="rId5" Type="http://schemas.openxmlformats.org/officeDocument/2006/relationships/image" Target="../media/image25.png"/><Relationship Id="rId10" Type="http://schemas.openxmlformats.org/officeDocument/2006/relationships/image" Target="../media/image29.png"/><Relationship Id="rId4" Type="http://schemas.openxmlformats.org/officeDocument/2006/relationships/image" Target="../media/image24.png"/><Relationship Id="rId9" Type="http://schemas.openxmlformats.org/officeDocument/2006/relationships/image" Target="../media/image28.png"/></Relationships>
</file>

<file path=ppt/slides/_rels/slide5.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png"/></Relationships>
</file>

<file path=ppt/slides/_rels/slide6.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40.png"/><Relationship Id="rId7" Type="http://schemas.openxmlformats.org/officeDocument/2006/relationships/image" Target="../media/image2.jpe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43.png"/><Relationship Id="rId11" Type="http://schemas.openxmlformats.org/officeDocument/2006/relationships/image" Target="../media/image47.png"/><Relationship Id="rId5" Type="http://schemas.openxmlformats.org/officeDocument/2006/relationships/image" Target="../media/image42.png"/><Relationship Id="rId10" Type="http://schemas.openxmlformats.org/officeDocument/2006/relationships/image" Target="../media/image46.png"/><Relationship Id="rId4" Type="http://schemas.openxmlformats.org/officeDocument/2006/relationships/image" Target="../media/image41.png"/><Relationship Id="rId9" Type="http://schemas.openxmlformats.org/officeDocument/2006/relationships/image" Target="../media/image45.png"/></Relationships>
</file>

<file path=ppt/slides/_rels/slide7.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 Id="rId9" Type="http://schemas.openxmlformats.org/officeDocument/2006/relationships/image" Target="../media/image54.png"/></Relationships>
</file>

<file path=ppt/slides/_rels/slide8.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5.png"/><Relationship Id="rId7" Type="http://schemas.openxmlformats.org/officeDocument/2006/relationships/image" Target="../media/image58.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jpeg"/><Relationship Id="rId5" Type="http://schemas.openxmlformats.org/officeDocument/2006/relationships/image" Target="../media/image57.png"/><Relationship Id="rId4" Type="http://schemas.openxmlformats.org/officeDocument/2006/relationships/image" Target="../media/image56.png"/><Relationship Id="rId9" Type="http://schemas.openxmlformats.org/officeDocument/2006/relationships/image" Target="../media/image60.png"/></Relationships>
</file>

<file path=ppt/slides/_rels/slide9.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1.png"/><Relationship Id="rId7" Type="http://schemas.openxmlformats.org/officeDocument/2006/relationships/image" Target="../media/image2.jpe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64.png"/><Relationship Id="rId5" Type="http://schemas.openxmlformats.org/officeDocument/2006/relationships/image" Target="../media/image63.png"/><Relationship Id="rId10" Type="http://schemas.openxmlformats.org/officeDocument/2006/relationships/image" Target="../media/image22.png"/><Relationship Id="rId4" Type="http://schemas.openxmlformats.org/officeDocument/2006/relationships/image" Target="../media/image62.png"/><Relationship Id="rId9" Type="http://schemas.openxmlformats.org/officeDocument/2006/relationships/image" Target="../media/image66.png"/></Relationships>
</file>

<file path=ppt/slides/_rels/slide10.xml.rels><?xml version="1.0" encoding="UTF-8" standalone="yes"?>
<Relationships xmlns="http://schemas.openxmlformats.org/package/2006/relationships"><Relationship Id="rId8" Type="http://schemas.openxmlformats.org/officeDocument/2006/relationships/image" Target="../media/image71.png"/><Relationship Id="rId13" Type="http://schemas.openxmlformats.org/officeDocument/2006/relationships/image" Target="../media/image76.png"/><Relationship Id="rId3" Type="http://schemas.openxmlformats.org/officeDocument/2006/relationships/image" Target="../media/image67.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jpeg"/><Relationship Id="rId11" Type="http://schemas.openxmlformats.org/officeDocument/2006/relationships/image" Target="../media/image74.png"/><Relationship Id="rId5" Type="http://schemas.openxmlformats.org/officeDocument/2006/relationships/image" Target="../media/image69.png"/><Relationship Id="rId10" Type="http://schemas.openxmlformats.org/officeDocument/2006/relationships/image" Target="../media/image73.png"/><Relationship Id="rId4" Type="http://schemas.openxmlformats.org/officeDocument/2006/relationships/image" Target="../media/image68.png"/><Relationship Id="rId9" Type="http://schemas.openxmlformats.org/officeDocument/2006/relationships/image" Target="../media/image72.png"/><Relationship Id="rId14" Type="http://schemas.openxmlformats.org/officeDocument/2006/relationships/image" Target="../media/image30.png"/></Relationships>
</file>

<file path=ppt/slides/_rels/slide11.xml.rels><?xml version="1.0" encoding="UTF-8" standalone="yes"?>
<Relationships xmlns="http://schemas.openxmlformats.org/package/2006/relationships"><Relationship Id="rId8" Type="http://schemas.openxmlformats.org/officeDocument/2006/relationships/image" Target="../media/image83.png"/><Relationship Id="rId13" Type="http://schemas.openxmlformats.org/officeDocument/2006/relationships/image" Target="../media/image88.png"/><Relationship Id="rId3" Type="http://schemas.openxmlformats.org/officeDocument/2006/relationships/image" Target="../media/image78.png"/><Relationship Id="rId7" Type="http://schemas.openxmlformats.org/officeDocument/2006/relationships/image" Target="../media/image82.png"/><Relationship Id="rId12" Type="http://schemas.openxmlformats.org/officeDocument/2006/relationships/image" Target="../media/image87.png"/><Relationship Id="rId2" Type="http://schemas.openxmlformats.org/officeDocument/2006/relationships/image" Target="../media/image77.png"/><Relationship Id="rId1" Type="http://schemas.openxmlformats.org/officeDocument/2006/relationships/slideLayout" Target="../slideLayouts/slideLayout7.xml"/><Relationship Id="rId6" Type="http://schemas.openxmlformats.org/officeDocument/2006/relationships/image" Target="../media/image81.png"/><Relationship Id="rId11" Type="http://schemas.openxmlformats.org/officeDocument/2006/relationships/image" Target="../media/image86.png"/><Relationship Id="rId5" Type="http://schemas.openxmlformats.org/officeDocument/2006/relationships/image" Target="../media/image80.png"/><Relationship Id="rId10" Type="http://schemas.openxmlformats.org/officeDocument/2006/relationships/image" Target="../media/image85.png"/><Relationship Id="rId4" Type="http://schemas.openxmlformats.org/officeDocument/2006/relationships/image" Target="../media/image79.png"/><Relationship Id="rId9" Type="http://schemas.openxmlformats.org/officeDocument/2006/relationships/image" Target="../media/image84.png"/><Relationship Id="rId14" Type="http://schemas.openxmlformats.org/officeDocument/2006/relationships/image" Target="../media/image89.png"/></Relationships>
</file>

<file path=ppt/slides/_rels/slide12.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90.png"/><Relationship Id="rId7" Type="http://schemas.openxmlformats.org/officeDocument/2006/relationships/image" Target="../media/image93.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jpeg"/><Relationship Id="rId5" Type="http://schemas.openxmlformats.org/officeDocument/2006/relationships/image" Target="../media/image92.png"/><Relationship Id="rId10" Type="http://schemas.openxmlformats.org/officeDocument/2006/relationships/image" Target="../media/image30.png"/><Relationship Id="rId4" Type="http://schemas.openxmlformats.org/officeDocument/2006/relationships/image" Target="../media/image91.png"/><Relationship Id="rId9" Type="http://schemas.openxmlformats.org/officeDocument/2006/relationships/image" Target="../media/image95.png"/></Relationships>
</file>

<file path=ppt/slides/_rels/slide13.xml.rels><?xml version="1.0" encoding="UTF-8" standalone="yes"?>
<Relationships xmlns="http://schemas.openxmlformats.org/package/2006/relationships"><Relationship Id="rId8" Type="http://schemas.openxmlformats.org/officeDocument/2006/relationships/image" Target="../media/image99.png"/><Relationship Id="rId3" Type="http://schemas.openxmlformats.org/officeDocument/2006/relationships/image" Target="../media/image96.png"/><Relationship Id="rId7" Type="http://schemas.openxmlformats.org/officeDocument/2006/relationships/image" Target="../media/image70.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jpeg"/><Relationship Id="rId5" Type="http://schemas.openxmlformats.org/officeDocument/2006/relationships/image" Target="../media/image98.png"/><Relationship Id="rId4" Type="http://schemas.openxmlformats.org/officeDocument/2006/relationships/image" Target="../media/image97.png"/></Relationships>
</file>

<file path=ppt/slides/_rels/slide14.xml.rels><?xml version="1.0" encoding="UTF-8" standalone="yes"?>
<Relationships xmlns="http://schemas.openxmlformats.org/package/2006/relationships"><Relationship Id="rId8" Type="http://schemas.openxmlformats.org/officeDocument/2006/relationships/image" Target="../media/image105.png"/><Relationship Id="rId13" Type="http://schemas.openxmlformats.org/officeDocument/2006/relationships/image" Target="../media/image108.png"/><Relationship Id="rId3" Type="http://schemas.openxmlformats.org/officeDocument/2006/relationships/image" Target="../media/image100.png"/><Relationship Id="rId7" Type="http://schemas.openxmlformats.org/officeDocument/2006/relationships/image" Target="../media/image104.png"/><Relationship Id="rId12" Type="http://schemas.openxmlformats.org/officeDocument/2006/relationships/image" Target="../media/image107.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03.png"/><Relationship Id="rId11" Type="http://schemas.openxmlformats.org/officeDocument/2006/relationships/image" Target="../media/image106.png"/><Relationship Id="rId5" Type="http://schemas.openxmlformats.org/officeDocument/2006/relationships/image" Target="../media/image102.png"/><Relationship Id="rId15" Type="http://schemas.openxmlformats.org/officeDocument/2006/relationships/image" Target="../media/image109.png"/><Relationship Id="rId10" Type="http://schemas.openxmlformats.org/officeDocument/2006/relationships/image" Target="../media/image65.png"/><Relationship Id="rId4" Type="http://schemas.openxmlformats.org/officeDocument/2006/relationships/image" Target="../media/image101.png"/><Relationship Id="rId9" Type="http://schemas.openxmlformats.org/officeDocument/2006/relationships/image" Target="../media/image2.jpeg"/><Relationship Id="rId14" Type="http://schemas.openxmlformats.org/officeDocument/2006/relationships/image" Target="../media/image21.png"/></Relationships>
</file>

<file path=ppt/slides/_rels/slide15.xml.rels><?xml version="1.0" encoding="UTF-8" standalone="yes"?>
<Relationships xmlns="http://schemas.openxmlformats.org/package/2006/relationships"><Relationship Id="rId8" Type="http://schemas.openxmlformats.org/officeDocument/2006/relationships/image" Target="../media/image115.png"/><Relationship Id="rId3" Type="http://schemas.openxmlformats.org/officeDocument/2006/relationships/image" Target="../media/image110.png"/><Relationship Id="rId7" Type="http://schemas.openxmlformats.org/officeDocument/2006/relationships/image" Target="../media/image114.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13.png"/><Relationship Id="rId11" Type="http://schemas.openxmlformats.org/officeDocument/2006/relationships/image" Target="../media/image116.png"/><Relationship Id="rId5" Type="http://schemas.openxmlformats.org/officeDocument/2006/relationships/image" Target="../media/image112.png"/><Relationship Id="rId10" Type="http://schemas.openxmlformats.org/officeDocument/2006/relationships/image" Target="../media/image45.png"/><Relationship Id="rId4" Type="http://schemas.openxmlformats.org/officeDocument/2006/relationships/image" Target="../media/image111.png"/><Relationship Id="rId9" Type="http://schemas.openxmlformats.org/officeDocument/2006/relationships/image" Target="../media/image2.jpeg"/></Relationships>
</file>

<file path=ppt/slides/_rels/slide16.xml.rels><?xml version="1.0" encoding="UTF-8" standalone="yes"?>
<Relationships xmlns="http://schemas.openxmlformats.org/package/2006/relationships"><Relationship Id="rId8" Type="http://schemas.openxmlformats.org/officeDocument/2006/relationships/image" Target="../media/image122.png"/><Relationship Id="rId3" Type="http://schemas.openxmlformats.org/officeDocument/2006/relationships/image" Target="../media/image117.png"/><Relationship Id="rId7" Type="http://schemas.openxmlformats.org/officeDocument/2006/relationships/image" Target="../media/image121.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20.png"/><Relationship Id="rId5" Type="http://schemas.openxmlformats.org/officeDocument/2006/relationships/image" Target="../media/image119.png"/><Relationship Id="rId4" Type="http://schemas.openxmlformats.org/officeDocument/2006/relationships/image" Target="../media/image118.png"/><Relationship Id="rId9" Type="http://schemas.openxmlformats.org/officeDocument/2006/relationships/image" Target="../media/image123.png"/></Relationships>
</file>

<file path=ppt/slides/_rels/slide17.xml.rels><?xml version="1.0" encoding="UTF-8" standalone="yes"?>
<Relationships xmlns="http://schemas.openxmlformats.org/package/2006/relationships"><Relationship Id="rId8" Type="http://schemas.openxmlformats.org/officeDocument/2006/relationships/image" Target="../media/image128.png"/><Relationship Id="rId3" Type="http://schemas.openxmlformats.org/officeDocument/2006/relationships/image" Target="../media/image124.png"/><Relationship Id="rId7" Type="http://schemas.openxmlformats.org/officeDocument/2006/relationships/image" Target="../media/image2.jpe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27.png"/><Relationship Id="rId5" Type="http://schemas.openxmlformats.org/officeDocument/2006/relationships/image" Target="../media/image126.png"/><Relationship Id="rId4" Type="http://schemas.openxmlformats.org/officeDocument/2006/relationships/image" Target="../media/image125.png"/><Relationship Id="rId9" Type="http://schemas.openxmlformats.org/officeDocument/2006/relationships/image" Target="../media/image129.png"/></Relationships>
</file>

<file path=ppt/slides/_rels/slide18.xml.rels><?xml version="1.0" encoding="UTF-8" standalone="yes"?>
<Relationships xmlns="http://schemas.openxmlformats.org/package/2006/relationships"><Relationship Id="rId8" Type="http://schemas.openxmlformats.org/officeDocument/2006/relationships/image" Target="../media/image135.png"/><Relationship Id="rId3" Type="http://schemas.openxmlformats.org/officeDocument/2006/relationships/image" Target="../media/image130.png"/><Relationship Id="rId7" Type="http://schemas.openxmlformats.org/officeDocument/2006/relationships/image" Target="../media/image134.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33.png"/><Relationship Id="rId5" Type="http://schemas.openxmlformats.org/officeDocument/2006/relationships/image" Target="../media/image132.png"/><Relationship Id="rId10" Type="http://schemas.openxmlformats.org/officeDocument/2006/relationships/image" Target="../media/image136.png"/><Relationship Id="rId4" Type="http://schemas.openxmlformats.org/officeDocument/2006/relationships/image" Target="../media/image131.png"/><Relationship Id="rId9" Type="http://schemas.openxmlformats.org/officeDocument/2006/relationships/image" Target="../media/image2.jpeg"/></Relationships>
</file>

<file path=ppt/slides/_rels/slide19.xml.rels><?xml version="1.0" encoding="UTF-8" standalone="yes"?>
<Relationships xmlns="http://schemas.openxmlformats.org/package/2006/relationships"><Relationship Id="rId8" Type="http://schemas.openxmlformats.org/officeDocument/2006/relationships/image" Target="../media/image141.png"/><Relationship Id="rId3" Type="http://schemas.openxmlformats.org/officeDocument/2006/relationships/image" Target="../media/image137.png"/><Relationship Id="rId7" Type="http://schemas.openxmlformats.org/officeDocument/2006/relationships/image" Target="../media/image140.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jpeg"/><Relationship Id="rId5" Type="http://schemas.openxmlformats.org/officeDocument/2006/relationships/image" Target="../media/image139.png"/><Relationship Id="rId10" Type="http://schemas.openxmlformats.org/officeDocument/2006/relationships/image" Target="../media/image30.png"/><Relationship Id="rId4" Type="http://schemas.openxmlformats.org/officeDocument/2006/relationships/image" Target="../media/image138.png"/><Relationship Id="rId9" Type="http://schemas.openxmlformats.org/officeDocument/2006/relationships/image" Target="../media/image142.png"/></Relationships>
</file>

<file path=ppt/slides/_rels/slide20.xml.rels><?xml version="1.0" encoding="UTF-8" standalone="yes"?>
<Relationships xmlns="http://schemas.openxmlformats.org/package/2006/relationships"><Relationship Id="rId2" Type="http://schemas.openxmlformats.org/officeDocument/2006/relationships/image" Target="../media/image143.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44.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45.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46.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image" Target="../media/image77.png"/><Relationship Id="rId1" Type="http://schemas.openxmlformats.org/officeDocument/2006/relationships/slideLayout" Target="../slideLayouts/slideLayout7.xml"/><Relationship Id="rId4" Type="http://schemas.openxmlformats.org/officeDocument/2006/relationships/image" Target="../media/image14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114800" y="617220"/>
            <a:ext cx="10012680" cy="480060"/>
            <a:chOff x="0" y="0"/>
            <a:chExt cx="13350240" cy="640080"/>
          </a:xfrm>
        </p:grpSpPr>
        <p:sp>
          <p:nvSpPr>
            <p:cNvPr id="3" name="Freeform 3"/>
            <p:cNvSpPr/>
            <p:nvPr/>
          </p:nvSpPr>
          <p:spPr>
            <a:xfrm>
              <a:off x="0" y="0"/>
              <a:ext cx="13350239" cy="640080"/>
            </a:xfrm>
            <a:custGeom>
              <a:avLst/>
              <a:gdLst/>
              <a:ahLst/>
              <a:cxnLst/>
              <a:rect l="l" t="t" r="r" b="b"/>
              <a:pathLst>
                <a:path w="13350239" h="640080">
                  <a:moveTo>
                    <a:pt x="0" y="0"/>
                  </a:moveTo>
                  <a:lnTo>
                    <a:pt x="13350239" y="0"/>
                  </a:lnTo>
                  <a:lnTo>
                    <a:pt x="13350239" y="640080"/>
                  </a:lnTo>
                  <a:lnTo>
                    <a:pt x="0" y="640080"/>
                  </a:lnTo>
                  <a:close/>
                </a:path>
              </a:pathLst>
            </a:custGeom>
            <a:blipFill>
              <a:blip r:embed="rId2">
                <a:alphaModFix amt="0"/>
              </a:blip>
              <a:stretch>
                <a:fillRect t="-356119" b="-356121"/>
              </a:stretch>
            </a:blipFill>
          </p:spPr>
        </p:sp>
      </p:grpSp>
      <p:grpSp>
        <p:nvGrpSpPr>
          <p:cNvPr id="4" name="Group 4"/>
          <p:cNvGrpSpPr/>
          <p:nvPr/>
        </p:nvGrpSpPr>
        <p:grpSpPr>
          <a:xfrm>
            <a:off x="4114800" y="602932"/>
            <a:ext cx="10012680" cy="494347"/>
            <a:chOff x="0" y="0"/>
            <a:chExt cx="13350240" cy="659130"/>
          </a:xfrm>
        </p:grpSpPr>
        <p:sp>
          <p:nvSpPr>
            <p:cNvPr id="5" name="Freeform 5"/>
            <p:cNvSpPr/>
            <p:nvPr/>
          </p:nvSpPr>
          <p:spPr>
            <a:xfrm>
              <a:off x="0" y="0"/>
              <a:ext cx="13350239" cy="659130"/>
            </a:xfrm>
            <a:custGeom>
              <a:avLst/>
              <a:gdLst/>
              <a:ahLst/>
              <a:cxnLst/>
              <a:rect l="l" t="t" r="r" b="b"/>
              <a:pathLst>
                <a:path w="13350239" h="659130">
                  <a:moveTo>
                    <a:pt x="0" y="0"/>
                  </a:moveTo>
                  <a:lnTo>
                    <a:pt x="13350239" y="0"/>
                  </a:lnTo>
                  <a:lnTo>
                    <a:pt x="13350239" y="659130"/>
                  </a:lnTo>
                  <a:lnTo>
                    <a:pt x="0" y="659130"/>
                  </a:lnTo>
                  <a:close/>
                </a:path>
              </a:pathLst>
            </a:custGeom>
            <a:blipFill>
              <a:blip r:embed="rId3">
                <a:alphaModFix amt="0"/>
              </a:blip>
              <a:stretch>
                <a:fillRect t="-344656" b="-344656"/>
              </a:stretch>
            </a:blipFill>
          </p:spPr>
        </p:sp>
        <p:sp>
          <p:nvSpPr>
            <p:cNvPr id="6" name="TextBox 6"/>
            <p:cNvSpPr txBox="1"/>
            <p:nvPr/>
          </p:nvSpPr>
          <p:spPr>
            <a:xfrm>
              <a:off x="0" y="-19050"/>
              <a:ext cx="13350240" cy="678180"/>
            </a:xfrm>
            <a:prstGeom prst="rect">
              <a:avLst/>
            </a:prstGeom>
          </p:spPr>
          <p:txBody>
            <a:bodyPr lIns="0" tIns="0" rIns="0" bIns="0" rtlCol="0" anchor="ctr"/>
            <a:lstStyle/>
            <a:p>
              <a:pPr algn="ctr">
                <a:lnSpc>
                  <a:spcPts val="3419"/>
                </a:lnSpc>
              </a:pPr>
              <a:r>
                <a:rPr lang="en-US" sz="2850" b="1">
                  <a:solidFill>
                    <a:srgbClr val="0F172A"/>
                  </a:solidFill>
                  <a:latin typeface="Times New Roman Bold"/>
                  <a:ea typeface="Times New Roman Bold"/>
                  <a:cs typeface="Times New Roman Bold"/>
                  <a:sym typeface="Times New Roman Bold"/>
                </a:rPr>
                <a:t>An</a:t>
              </a:r>
            </a:p>
          </p:txBody>
        </p:sp>
      </p:grpSp>
      <p:grpSp>
        <p:nvGrpSpPr>
          <p:cNvPr id="7" name="Group 7"/>
          <p:cNvGrpSpPr/>
          <p:nvPr/>
        </p:nvGrpSpPr>
        <p:grpSpPr>
          <a:xfrm>
            <a:off x="3154680" y="1069848"/>
            <a:ext cx="11932920" cy="576072"/>
            <a:chOff x="0" y="0"/>
            <a:chExt cx="15910560" cy="768096"/>
          </a:xfrm>
        </p:grpSpPr>
        <p:sp>
          <p:nvSpPr>
            <p:cNvPr id="8" name="Freeform 8"/>
            <p:cNvSpPr/>
            <p:nvPr/>
          </p:nvSpPr>
          <p:spPr>
            <a:xfrm>
              <a:off x="0" y="0"/>
              <a:ext cx="15910561" cy="768096"/>
            </a:xfrm>
            <a:custGeom>
              <a:avLst/>
              <a:gdLst/>
              <a:ahLst/>
              <a:cxnLst/>
              <a:rect l="l" t="t" r="r" b="b"/>
              <a:pathLst>
                <a:path w="15910561" h="768096">
                  <a:moveTo>
                    <a:pt x="0" y="0"/>
                  </a:moveTo>
                  <a:lnTo>
                    <a:pt x="15910561" y="0"/>
                  </a:lnTo>
                  <a:lnTo>
                    <a:pt x="15910561" y="768096"/>
                  </a:lnTo>
                  <a:lnTo>
                    <a:pt x="0" y="768096"/>
                  </a:lnTo>
                  <a:close/>
                </a:path>
              </a:pathLst>
            </a:custGeom>
            <a:blipFill>
              <a:blip r:embed="rId2">
                <a:alphaModFix amt="0"/>
              </a:blip>
              <a:stretch>
                <a:fillRect t="-353338" b="-353338"/>
              </a:stretch>
            </a:blipFill>
          </p:spPr>
        </p:sp>
      </p:grpSp>
      <p:grpSp>
        <p:nvGrpSpPr>
          <p:cNvPr id="9" name="Group 9"/>
          <p:cNvGrpSpPr/>
          <p:nvPr/>
        </p:nvGrpSpPr>
        <p:grpSpPr>
          <a:xfrm>
            <a:off x="3154680" y="1048417"/>
            <a:ext cx="11932920" cy="597503"/>
            <a:chOff x="0" y="0"/>
            <a:chExt cx="15910560" cy="796671"/>
          </a:xfrm>
        </p:grpSpPr>
        <p:sp>
          <p:nvSpPr>
            <p:cNvPr id="10" name="Freeform 10"/>
            <p:cNvSpPr/>
            <p:nvPr/>
          </p:nvSpPr>
          <p:spPr>
            <a:xfrm>
              <a:off x="0" y="0"/>
              <a:ext cx="15910561" cy="796671"/>
            </a:xfrm>
            <a:custGeom>
              <a:avLst/>
              <a:gdLst/>
              <a:ahLst/>
              <a:cxnLst/>
              <a:rect l="l" t="t" r="r" b="b"/>
              <a:pathLst>
                <a:path w="15910561" h="796671">
                  <a:moveTo>
                    <a:pt x="0" y="0"/>
                  </a:moveTo>
                  <a:lnTo>
                    <a:pt x="15910561" y="0"/>
                  </a:lnTo>
                  <a:lnTo>
                    <a:pt x="15910561" y="796671"/>
                  </a:lnTo>
                  <a:lnTo>
                    <a:pt x="0" y="796671"/>
                  </a:lnTo>
                  <a:close/>
                </a:path>
              </a:pathLst>
            </a:custGeom>
            <a:blipFill>
              <a:blip r:embed="rId3">
                <a:alphaModFix amt="0"/>
              </a:blip>
              <a:stretch>
                <a:fillRect t="-339141" b="-339141"/>
              </a:stretch>
            </a:blipFill>
          </p:spPr>
        </p:sp>
        <p:sp>
          <p:nvSpPr>
            <p:cNvPr id="11" name="TextBox 11"/>
            <p:cNvSpPr txBox="1"/>
            <p:nvPr/>
          </p:nvSpPr>
          <p:spPr>
            <a:xfrm>
              <a:off x="0" y="-28575"/>
              <a:ext cx="15910560" cy="825246"/>
            </a:xfrm>
            <a:prstGeom prst="rect">
              <a:avLst/>
            </a:prstGeom>
          </p:spPr>
          <p:txBody>
            <a:bodyPr lIns="0" tIns="0" rIns="0" bIns="0" rtlCol="0" anchor="ctr"/>
            <a:lstStyle/>
            <a:p>
              <a:pPr algn="ctr">
                <a:lnSpc>
                  <a:spcPts val="4140"/>
                </a:lnSpc>
              </a:pPr>
              <a:r>
                <a:rPr lang="en-US" sz="3450" b="1">
                  <a:solidFill>
                    <a:srgbClr val="0F172A"/>
                  </a:solidFill>
                  <a:latin typeface="Times New Roman Bold"/>
                  <a:ea typeface="Times New Roman Bold"/>
                  <a:cs typeface="Times New Roman Bold"/>
                  <a:sym typeface="Times New Roman Bold"/>
                </a:rPr>
                <a:t>Industrial Training Presentation</a:t>
              </a:r>
            </a:p>
          </p:txBody>
        </p:sp>
      </p:grpSp>
      <p:grpSp>
        <p:nvGrpSpPr>
          <p:cNvPr id="12" name="Group 12"/>
          <p:cNvGrpSpPr/>
          <p:nvPr/>
        </p:nvGrpSpPr>
        <p:grpSpPr>
          <a:xfrm>
            <a:off x="4114800" y="1645920"/>
            <a:ext cx="10012680" cy="480060"/>
            <a:chOff x="0" y="0"/>
            <a:chExt cx="13350240" cy="640080"/>
          </a:xfrm>
        </p:grpSpPr>
        <p:sp>
          <p:nvSpPr>
            <p:cNvPr id="13" name="Freeform 13"/>
            <p:cNvSpPr/>
            <p:nvPr/>
          </p:nvSpPr>
          <p:spPr>
            <a:xfrm>
              <a:off x="0" y="0"/>
              <a:ext cx="13350239" cy="640080"/>
            </a:xfrm>
            <a:custGeom>
              <a:avLst/>
              <a:gdLst/>
              <a:ahLst/>
              <a:cxnLst/>
              <a:rect l="l" t="t" r="r" b="b"/>
              <a:pathLst>
                <a:path w="13350239" h="640080">
                  <a:moveTo>
                    <a:pt x="0" y="0"/>
                  </a:moveTo>
                  <a:lnTo>
                    <a:pt x="13350239" y="0"/>
                  </a:lnTo>
                  <a:lnTo>
                    <a:pt x="13350239" y="640080"/>
                  </a:lnTo>
                  <a:lnTo>
                    <a:pt x="0" y="640080"/>
                  </a:lnTo>
                  <a:close/>
                </a:path>
              </a:pathLst>
            </a:custGeom>
            <a:blipFill>
              <a:blip r:embed="rId2">
                <a:alphaModFix amt="0"/>
              </a:blip>
              <a:stretch>
                <a:fillRect t="-356119" b="-356121"/>
              </a:stretch>
            </a:blipFill>
          </p:spPr>
        </p:sp>
      </p:grpSp>
      <p:grpSp>
        <p:nvGrpSpPr>
          <p:cNvPr id="14" name="Group 14"/>
          <p:cNvGrpSpPr/>
          <p:nvPr/>
        </p:nvGrpSpPr>
        <p:grpSpPr>
          <a:xfrm>
            <a:off x="4114800" y="1631633"/>
            <a:ext cx="10012680" cy="494347"/>
            <a:chOff x="0" y="0"/>
            <a:chExt cx="13350240" cy="659130"/>
          </a:xfrm>
        </p:grpSpPr>
        <p:sp>
          <p:nvSpPr>
            <p:cNvPr id="15" name="Freeform 15"/>
            <p:cNvSpPr/>
            <p:nvPr/>
          </p:nvSpPr>
          <p:spPr>
            <a:xfrm>
              <a:off x="0" y="0"/>
              <a:ext cx="13350239" cy="659130"/>
            </a:xfrm>
            <a:custGeom>
              <a:avLst/>
              <a:gdLst/>
              <a:ahLst/>
              <a:cxnLst/>
              <a:rect l="l" t="t" r="r" b="b"/>
              <a:pathLst>
                <a:path w="13350239" h="659130">
                  <a:moveTo>
                    <a:pt x="0" y="0"/>
                  </a:moveTo>
                  <a:lnTo>
                    <a:pt x="13350239" y="0"/>
                  </a:lnTo>
                  <a:lnTo>
                    <a:pt x="13350239" y="659130"/>
                  </a:lnTo>
                  <a:lnTo>
                    <a:pt x="0" y="659130"/>
                  </a:lnTo>
                  <a:close/>
                </a:path>
              </a:pathLst>
            </a:custGeom>
            <a:blipFill>
              <a:blip r:embed="rId3">
                <a:alphaModFix amt="0"/>
              </a:blip>
              <a:stretch>
                <a:fillRect t="-344656" b="-344656"/>
              </a:stretch>
            </a:blipFill>
          </p:spPr>
        </p:sp>
        <p:sp>
          <p:nvSpPr>
            <p:cNvPr id="16" name="TextBox 16"/>
            <p:cNvSpPr txBox="1"/>
            <p:nvPr/>
          </p:nvSpPr>
          <p:spPr>
            <a:xfrm>
              <a:off x="0" y="-19050"/>
              <a:ext cx="13350240" cy="678180"/>
            </a:xfrm>
            <a:prstGeom prst="rect">
              <a:avLst/>
            </a:prstGeom>
          </p:spPr>
          <p:txBody>
            <a:bodyPr lIns="0" tIns="0" rIns="0" bIns="0" rtlCol="0" anchor="ctr"/>
            <a:lstStyle/>
            <a:p>
              <a:pPr algn="ctr">
                <a:lnSpc>
                  <a:spcPts val="3419"/>
                </a:lnSpc>
              </a:pPr>
              <a:r>
                <a:rPr lang="en-US" sz="2850" b="1">
                  <a:solidFill>
                    <a:srgbClr val="0F172A"/>
                  </a:solidFill>
                  <a:latin typeface="Times New Roman Bold"/>
                  <a:ea typeface="Times New Roman Bold"/>
                  <a:cs typeface="Times New Roman Bold"/>
                  <a:sym typeface="Times New Roman Bold"/>
                </a:rPr>
                <a:t>on</a:t>
              </a:r>
            </a:p>
          </p:txBody>
        </p:sp>
      </p:grpSp>
      <p:grpSp>
        <p:nvGrpSpPr>
          <p:cNvPr id="17" name="Group 17"/>
          <p:cNvGrpSpPr/>
          <p:nvPr/>
        </p:nvGrpSpPr>
        <p:grpSpPr>
          <a:xfrm>
            <a:off x="3291840" y="2125980"/>
            <a:ext cx="11658600" cy="658368"/>
            <a:chOff x="0" y="0"/>
            <a:chExt cx="15544800" cy="877824"/>
          </a:xfrm>
        </p:grpSpPr>
        <p:sp>
          <p:nvSpPr>
            <p:cNvPr id="18" name="Freeform 18"/>
            <p:cNvSpPr/>
            <p:nvPr/>
          </p:nvSpPr>
          <p:spPr>
            <a:xfrm>
              <a:off x="0" y="0"/>
              <a:ext cx="15544800" cy="877824"/>
            </a:xfrm>
            <a:custGeom>
              <a:avLst/>
              <a:gdLst/>
              <a:ahLst/>
              <a:cxnLst/>
              <a:rect l="l" t="t" r="r" b="b"/>
              <a:pathLst>
                <a:path w="15544800" h="877824">
                  <a:moveTo>
                    <a:pt x="0" y="0"/>
                  </a:moveTo>
                  <a:lnTo>
                    <a:pt x="15544800" y="0"/>
                  </a:lnTo>
                  <a:lnTo>
                    <a:pt x="15544800" y="877824"/>
                  </a:lnTo>
                  <a:lnTo>
                    <a:pt x="0" y="877824"/>
                  </a:lnTo>
                  <a:close/>
                </a:path>
              </a:pathLst>
            </a:custGeom>
            <a:blipFill>
              <a:blip r:embed="rId2">
                <a:alphaModFix amt="0"/>
              </a:blip>
              <a:stretch>
                <a:fillRect t="-294807" b="-294807"/>
              </a:stretch>
            </a:blipFill>
          </p:spPr>
        </p:sp>
      </p:grpSp>
      <p:grpSp>
        <p:nvGrpSpPr>
          <p:cNvPr id="19" name="Group 19"/>
          <p:cNvGrpSpPr/>
          <p:nvPr/>
        </p:nvGrpSpPr>
        <p:grpSpPr>
          <a:xfrm>
            <a:off x="3291840" y="2111692"/>
            <a:ext cx="11658600" cy="672656"/>
            <a:chOff x="0" y="0"/>
            <a:chExt cx="15544800" cy="896874"/>
          </a:xfrm>
        </p:grpSpPr>
        <p:sp>
          <p:nvSpPr>
            <p:cNvPr id="20" name="Freeform 20"/>
            <p:cNvSpPr/>
            <p:nvPr/>
          </p:nvSpPr>
          <p:spPr>
            <a:xfrm>
              <a:off x="0" y="0"/>
              <a:ext cx="15544800" cy="896874"/>
            </a:xfrm>
            <a:custGeom>
              <a:avLst/>
              <a:gdLst/>
              <a:ahLst/>
              <a:cxnLst/>
              <a:rect l="l" t="t" r="r" b="b"/>
              <a:pathLst>
                <a:path w="15544800" h="896874">
                  <a:moveTo>
                    <a:pt x="0" y="0"/>
                  </a:moveTo>
                  <a:lnTo>
                    <a:pt x="15544800" y="0"/>
                  </a:lnTo>
                  <a:lnTo>
                    <a:pt x="15544800" y="896874"/>
                  </a:lnTo>
                  <a:lnTo>
                    <a:pt x="0" y="896874"/>
                  </a:lnTo>
                  <a:close/>
                </a:path>
              </a:pathLst>
            </a:custGeom>
            <a:blipFill>
              <a:blip r:embed="rId3">
                <a:alphaModFix amt="0"/>
              </a:blip>
              <a:stretch>
                <a:fillRect t="-287718" b="-287718"/>
              </a:stretch>
            </a:blipFill>
          </p:spPr>
        </p:sp>
        <p:sp>
          <p:nvSpPr>
            <p:cNvPr id="21" name="TextBox 21"/>
            <p:cNvSpPr txBox="1"/>
            <p:nvPr/>
          </p:nvSpPr>
          <p:spPr>
            <a:xfrm>
              <a:off x="0" y="-19050"/>
              <a:ext cx="15544800" cy="915924"/>
            </a:xfrm>
            <a:prstGeom prst="rect">
              <a:avLst/>
            </a:prstGeom>
          </p:spPr>
          <p:txBody>
            <a:bodyPr lIns="0" tIns="0" rIns="0" bIns="0" rtlCol="0" anchor="ctr"/>
            <a:lstStyle/>
            <a:p>
              <a:pPr algn="ctr">
                <a:lnSpc>
                  <a:spcPts val="3960"/>
                </a:lnSpc>
              </a:pPr>
              <a:r>
                <a:rPr lang="en-US" sz="3300" b="1">
                  <a:solidFill>
                    <a:srgbClr val="0F172A"/>
                  </a:solidFill>
                  <a:latin typeface="Times New Roman Bold"/>
                  <a:ea typeface="Times New Roman Bold"/>
                  <a:cs typeface="Times New Roman Bold"/>
                  <a:sym typeface="Times New Roman Bold"/>
                </a:rPr>
                <a:t>DATA SCIENCE WITH AI</a:t>
              </a:r>
            </a:p>
          </p:txBody>
        </p:sp>
      </p:grpSp>
      <p:grpSp>
        <p:nvGrpSpPr>
          <p:cNvPr id="22" name="Group 22"/>
          <p:cNvGrpSpPr/>
          <p:nvPr/>
        </p:nvGrpSpPr>
        <p:grpSpPr>
          <a:xfrm>
            <a:off x="1028700" y="4457700"/>
            <a:ext cx="4251960" cy="521208"/>
            <a:chOff x="0" y="0"/>
            <a:chExt cx="5669280" cy="694944"/>
          </a:xfrm>
        </p:grpSpPr>
        <p:sp>
          <p:nvSpPr>
            <p:cNvPr id="23" name="Freeform 23"/>
            <p:cNvSpPr/>
            <p:nvPr/>
          </p:nvSpPr>
          <p:spPr>
            <a:xfrm>
              <a:off x="0" y="0"/>
              <a:ext cx="5669280" cy="694944"/>
            </a:xfrm>
            <a:custGeom>
              <a:avLst/>
              <a:gdLst/>
              <a:ahLst/>
              <a:cxnLst/>
              <a:rect l="l" t="t" r="r" b="b"/>
              <a:pathLst>
                <a:path w="5669280" h="694944">
                  <a:moveTo>
                    <a:pt x="0" y="0"/>
                  </a:moveTo>
                  <a:lnTo>
                    <a:pt x="5669280" y="0"/>
                  </a:lnTo>
                  <a:lnTo>
                    <a:pt x="5669280" y="694944"/>
                  </a:lnTo>
                  <a:lnTo>
                    <a:pt x="0" y="694944"/>
                  </a:lnTo>
                  <a:close/>
                </a:path>
              </a:pathLst>
            </a:custGeom>
            <a:blipFill>
              <a:blip r:embed="rId2">
                <a:alphaModFix amt="0"/>
              </a:blip>
              <a:stretch>
                <a:fillRect t="-108846" b="-108845"/>
              </a:stretch>
            </a:blipFill>
          </p:spPr>
        </p:sp>
      </p:grpSp>
      <p:grpSp>
        <p:nvGrpSpPr>
          <p:cNvPr id="24" name="Group 24"/>
          <p:cNvGrpSpPr/>
          <p:nvPr/>
        </p:nvGrpSpPr>
        <p:grpSpPr>
          <a:xfrm>
            <a:off x="1028700" y="4436269"/>
            <a:ext cx="4251960" cy="542639"/>
            <a:chOff x="0" y="0"/>
            <a:chExt cx="5669280" cy="723519"/>
          </a:xfrm>
        </p:grpSpPr>
        <p:sp>
          <p:nvSpPr>
            <p:cNvPr id="25" name="Freeform 25"/>
            <p:cNvSpPr/>
            <p:nvPr/>
          </p:nvSpPr>
          <p:spPr>
            <a:xfrm>
              <a:off x="0" y="0"/>
              <a:ext cx="5669280" cy="723519"/>
            </a:xfrm>
            <a:custGeom>
              <a:avLst/>
              <a:gdLst/>
              <a:ahLst/>
              <a:cxnLst/>
              <a:rect l="l" t="t" r="r" b="b"/>
              <a:pathLst>
                <a:path w="5669280" h="723519">
                  <a:moveTo>
                    <a:pt x="0" y="0"/>
                  </a:moveTo>
                  <a:lnTo>
                    <a:pt x="5669280" y="0"/>
                  </a:lnTo>
                  <a:lnTo>
                    <a:pt x="5669280" y="723519"/>
                  </a:lnTo>
                  <a:lnTo>
                    <a:pt x="0" y="723519"/>
                  </a:lnTo>
                  <a:close/>
                </a:path>
              </a:pathLst>
            </a:custGeom>
            <a:blipFill>
              <a:blip r:embed="rId3">
                <a:alphaModFix amt="0"/>
              </a:blip>
              <a:stretch>
                <a:fillRect t="-102678" b="-102678"/>
              </a:stretch>
            </a:blipFill>
          </p:spPr>
        </p:sp>
        <p:sp>
          <p:nvSpPr>
            <p:cNvPr id="26" name="TextBox 26"/>
            <p:cNvSpPr txBox="1"/>
            <p:nvPr/>
          </p:nvSpPr>
          <p:spPr>
            <a:xfrm>
              <a:off x="0" y="-28575"/>
              <a:ext cx="5669280" cy="752094"/>
            </a:xfrm>
            <a:prstGeom prst="rect">
              <a:avLst/>
            </a:prstGeom>
          </p:spPr>
          <p:txBody>
            <a:bodyPr lIns="0" tIns="0" rIns="0" bIns="0" rtlCol="0" anchor="ctr"/>
            <a:lstStyle/>
            <a:p>
              <a:pPr algn="ctr">
                <a:lnSpc>
                  <a:spcPts val="3600"/>
                </a:lnSpc>
              </a:pPr>
              <a:r>
                <a:rPr lang="en-US" sz="3000" b="1">
                  <a:solidFill>
                    <a:srgbClr val="0F172A"/>
                  </a:solidFill>
                  <a:latin typeface="Times New Roman Bold"/>
                  <a:ea typeface="Times New Roman Bold"/>
                  <a:cs typeface="Times New Roman Bold"/>
                  <a:sym typeface="Times New Roman Bold"/>
                </a:rPr>
                <a:t>Submitted to:</a:t>
              </a:r>
            </a:p>
          </p:txBody>
        </p:sp>
      </p:grpSp>
      <p:grpSp>
        <p:nvGrpSpPr>
          <p:cNvPr id="27" name="Group 27"/>
          <p:cNvGrpSpPr/>
          <p:nvPr/>
        </p:nvGrpSpPr>
        <p:grpSpPr>
          <a:xfrm>
            <a:off x="911514" y="4666764"/>
            <a:ext cx="4526280" cy="1303020"/>
            <a:chOff x="0" y="0"/>
            <a:chExt cx="6035040" cy="1737360"/>
          </a:xfrm>
        </p:grpSpPr>
        <p:sp>
          <p:nvSpPr>
            <p:cNvPr id="28" name="Freeform 28"/>
            <p:cNvSpPr/>
            <p:nvPr/>
          </p:nvSpPr>
          <p:spPr>
            <a:xfrm>
              <a:off x="0" y="0"/>
              <a:ext cx="6035040" cy="1737360"/>
            </a:xfrm>
            <a:custGeom>
              <a:avLst/>
              <a:gdLst/>
              <a:ahLst/>
              <a:cxnLst/>
              <a:rect l="l" t="t" r="r" b="b"/>
              <a:pathLst>
                <a:path w="6035040" h="1737360">
                  <a:moveTo>
                    <a:pt x="0" y="0"/>
                  </a:moveTo>
                  <a:lnTo>
                    <a:pt x="6035040" y="0"/>
                  </a:lnTo>
                  <a:lnTo>
                    <a:pt x="6035040" y="1737360"/>
                  </a:lnTo>
                  <a:lnTo>
                    <a:pt x="0" y="1737360"/>
                  </a:lnTo>
                  <a:close/>
                </a:path>
              </a:pathLst>
            </a:custGeom>
            <a:blipFill>
              <a:blip r:embed="rId2">
                <a:alphaModFix amt="0"/>
              </a:blip>
              <a:stretch>
                <a:fillRect t="-17638" b="-17637"/>
              </a:stretch>
            </a:blipFill>
          </p:spPr>
        </p:sp>
      </p:grpSp>
      <p:grpSp>
        <p:nvGrpSpPr>
          <p:cNvPr id="29" name="Group 29"/>
          <p:cNvGrpSpPr/>
          <p:nvPr/>
        </p:nvGrpSpPr>
        <p:grpSpPr>
          <a:xfrm>
            <a:off x="911514" y="4652477"/>
            <a:ext cx="4526280" cy="1317308"/>
            <a:chOff x="0" y="0"/>
            <a:chExt cx="6035040" cy="1756410"/>
          </a:xfrm>
        </p:grpSpPr>
        <p:sp>
          <p:nvSpPr>
            <p:cNvPr id="30" name="Freeform 30"/>
            <p:cNvSpPr/>
            <p:nvPr/>
          </p:nvSpPr>
          <p:spPr>
            <a:xfrm>
              <a:off x="0" y="0"/>
              <a:ext cx="6035040" cy="1756410"/>
            </a:xfrm>
            <a:custGeom>
              <a:avLst/>
              <a:gdLst/>
              <a:ahLst/>
              <a:cxnLst/>
              <a:rect l="l" t="t" r="r" b="b"/>
              <a:pathLst>
                <a:path w="6035040" h="1756410">
                  <a:moveTo>
                    <a:pt x="0" y="0"/>
                  </a:moveTo>
                  <a:lnTo>
                    <a:pt x="6035040" y="0"/>
                  </a:lnTo>
                  <a:lnTo>
                    <a:pt x="6035040" y="1756410"/>
                  </a:lnTo>
                  <a:lnTo>
                    <a:pt x="0" y="1756410"/>
                  </a:lnTo>
                  <a:close/>
                </a:path>
              </a:pathLst>
            </a:custGeom>
            <a:blipFill>
              <a:blip r:embed="rId3">
                <a:alphaModFix amt="0"/>
              </a:blip>
              <a:stretch>
                <a:fillRect t="-16950" b="-16950"/>
              </a:stretch>
            </a:blipFill>
          </p:spPr>
        </p:sp>
        <p:sp>
          <p:nvSpPr>
            <p:cNvPr id="31" name="TextBox 31"/>
            <p:cNvSpPr txBox="1"/>
            <p:nvPr/>
          </p:nvSpPr>
          <p:spPr>
            <a:xfrm>
              <a:off x="0" y="-19050"/>
              <a:ext cx="6035040" cy="1775460"/>
            </a:xfrm>
            <a:prstGeom prst="rect">
              <a:avLst/>
            </a:prstGeom>
          </p:spPr>
          <p:txBody>
            <a:bodyPr lIns="0" tIns="0" rIns="0" bIns="0" rtlCol="0" anchor="ctr"/>
            <a:lstStyle/>
            <a:p>
              <a:pPr algn="ctr">
                <a:lnSpc>
                  <a:spcPts val="3419"/>
                </a:lnSpc>
              </a:pPr>
              <a:r>
                <a:rPr lang="en-US" sz="2850">
                  <a:solidFill>
                    <a:srgbClr val="0F172A"/>
                  </a:solidFill>
                  <a:latin typeface="Times New Roman"/>
                  <a:ea typeface="Times New Roman"/>
                  <a:cs typeface="Times New Roman"/>
                  <a:sym typeface="Times New Roman"/>
                </a:rPr>
                <a:t>Dr. Chirag Arora</a:t>
              </a:r>
            </a:p>
            <a:p>
              <a:pPr algn="ctr">
                <a:lnSpc>
                  <a:spcPts val="3419"/>
                </a:lnSpc>
              </a:pPr>
              <a:r>
                <a:rPr lang="en-US" sz="2850">
                  <a:solidFill>
                    <a:srgbClr val="0F172A"/>
                  </a:solidFill>
                  <a:latin typeface="Times New Roman"/>
                  <a:ea typeface="Times New Roman"/>
                  <a:cs typeface="Times New Roman"/>
                  <a:sym typeface="Times New Roman"/>
                </a:rPr>
                <a:t>HOD AI&amp;DS</a:t>
              </a:r>
            </a:p>
          </p:txBody>
        </p:sp>
      </p:grpSp>
      <p:grpSp>
        <p:nvGrpSpPr>
          <p:cNvPr id="32" name="Group 32"/>
          <p:cNvGrpSpPr/>
          <p:nvPr/>
        </p:nvGrpSpPr>
        <p:grpSpPr>
          <a:xfrm>
            <a:off x="12780521" y="4080843"/>
            <a:ext cx="4114800" cy="521208"/>
            <a:chOff x="0" y="0"/>
            <a:chExt cx="5486400" cy="694944"/>
          </a:xfrm>
        </p:grpSpPr>
        <p:sp>
          <p:nvSpPr>
            <p:cNvPr id="33" name="Freeform 33"/>
            <p:cNvSpPr/>
            <p:nvPr/>
          </p:nvSpPr>
          <p:spPr>
            <a:xfrm>
              <a:off x="0" y="0"/>
              <a:ext cx="5486400" cy="694944"/>
            </a:xfrm>
            <a:custGeom>
              <a:avLst/>
              <a:gdLst/>
              <a:ahLst/>
              <a:cxnLst/>
              <a:rect l="l" t="t" r="r" b="b"/>
              <a:pathLst>
                <a:path w="5486400" h="694944">
                  <a:moveTo>
                    <a:pt x="0" y="0"/>
                  </a:moveTo>
                  <a:lnTo>
                    <a:pt x="5486400" y="0"/>
                  </a:lnTo>
                  <a:lnTo>
                    <a:pt x="5486400" y="694944"/>
                  </a:lnTo>
                  <a:lnTo>
                    <a:pt x="0" y="694944"/>
                  </a:lnTo>
                  <a:close/>
                </a:path>
              </a:pathLst>
            </a:custGeom>
            <a:blipFill>
              <a:blip r:embed="rId2">
                <a:alphaModFix amt="0"/>
              </a:blip>
              <a:stretch>
                <a:fillRect t="-103722" b="-103722"/>
              </a:stretch>
            </a:blipFill>
          </p:spPr>
        </p:sp>
      </p:grpSp>
      <p:grpSp>
        <p:nvGrpSpPr>
          <p:cNvPr id="34" name="Group 34"/>
          <p:cNvGrpSpPr/>
          <p:nvPr/>
        </p:nvGrpSpPr>
        <p:grpSpPr>
          <a:xfrm>
            <a:off x="12780521" y="4059412"/>
            <a:ext cx="4114800" cy="542639"/>
            <a:chOff x="0" y="0"/>
            <a:chExt cx="5486400" cy="723519"/>
          </a:xfrm>
        </p:grpSpPr>
        <p:sp>
          <p:nvSpPr>
            <p:cNvPr id="35" name="Freeform 35"/>
            <p:cNvSpPr/>
            <p:nvPr/>
          </p:nvSpPr>
          <p:spPr>
            <a:xfrm>
              <a:off x="0" y="0"/>
              <a:ext cx="5486400" cy="723519"/>
            </a:xfrm>
            <a:custGeom>
              <a:avLst/>
              <a:gdLst/>
              <a:ahLst/>
              <a:cxnLst/>
              <a:rect l="l" t="t" r="r" b="b"/>
              <a:pathLst>
                <a:path w="5486400" h="723519">
                  <a:moveTo>
                    <a:pt x="0" y="0"/>
                  </a:moveTo>
                  <a:lnTo>
                    <a:pt x="5486400" y="0"/>
                  </a:lnTo>
                  <a:lnTo>
                    <a:pt x="5486400" y="723519"/>
                  </a:lnTo>
                  <a:lnTo>
                    <a:pt x="0" y="723519"/>
                  </a:lnTo>
                  <a:close/>
                </a:path>
              </a:pathLst>
            </a:custGeom>
            <a:blipFill>
              <a:blip r:embed="rId3">
                <a:alphaModFix amt="0"/>
              </a:blip>
              <a:stretch>
                <a:fillRect t="-97753" b="-97753"/>
              </a:stretch>
            </a:blipFill>
          </p:spPr>
        </p:sp>
        <p:sp>
          <p:nvSpPr>
            <p:cNvPr id="36" name="TextBox 36"/>
            <p:cNvSpPr txBox="1"/>
            <p:nvPr/>
          </p:nvSpPr>
          <p:spPr>
            <a:xfrm>
              <a:off x="0" y="-28575"/>
              <a:ext cx="5486400" cy="752094"/>
            </a:xfrm>
            <a:prstGeom prst="rect">
              <a:avLst/>
            </a:prstGeom>
          </p:spPr>
          <p:txBody>
            <a:bodyPr lIns="0" tIns="0" rIns="0" bIns="0" rtlCol="0" anchor="ctr"/>
            <a:lstStyle/>
            <a:p>
              <a:pPr algn="l">
                <a:lnSpc>
                  <a:spcPts val="3600"/>
                </a:lnSpc>
              </a:pPr>
              <a:r>
                <a:rPr lang="en-US" sz="3000" b="1">
                  <a:solidFill>
                    <a:srgbClr val="0F172A"/>
                  </a:solidFill>
                  <a:latin typeface="Times New Roman Bold"/>
                  <a:ea typeface="Times New Roman Bold"/>
                  <a:cs typeface="Times New Roman Bold"/>
                  <a:sym typeface="Times New Roman Bold"/>
                </a:rPr>
                <a:t>Submitted by:</a:t>
              </a:r>
            </a:p>
          </p:txBody>
        </p:sp>
      </p:grpSp>
      <p:grpSp>
        <p:nvGrpSpPr>
          <p:cNvPr id="37" name="Group 37"/>
          <p:cNvGrpSpPr/>
          <p:nvPr/>
        </p:nvGrpSpPr>
        <p:grpSpPr>
          <a:xfrm>
            <a:off x="12858750" y="4354830"/>
            <a:ext cx="4457700" cy="1577340"/>
            <a:chOff x="0" y="0"/>
            <a:chExt cx="5943600" cy="2103120"/>
          </a:xfrm>
        </p:grpSpPr>
        <p:sp>
          <p:nvSpPr>
            <p:cNvPr id="38" name="Freeform 38"/>
            <p:cNvSpPr/>
            <p:nvPr/>
          </p:nvSpPr>
          <p:spPr>
            <a:xfrm>
              <a:off x="0" y="0"/>
              <a:ext cx="5943600" cy="2103120"/>
            </a:xfrm>
            <a:custGeom>
              <a:avLst/>
              <a:gdLst/>
              <a:ahLst/>
              <a:cxnLst/>
              <a:rect l="l" t="t" r="r" b="b"/>
              <a:pathLst>
                <a:path w="5943600" h="2103120">
                  <a:moveTo>
                    <a:pt x="0" y="0"/>
                  </a:moveTo>
                  <a:lnTo>
                    <a:pt x="5943600" y="0"/>
                  </a:lnTo>
                  <a:lnTo>
                    <a:pt x="5943600" y="2103120"/>
                  </a:lnTo>
                  <a:lnTo>
                    <a:pt x="0" y="2103120"/>
                  </a:lnTo>
                  <a:close/>
                </a:path>
              </a:pathLst>
            </a:custGeom>
            <a:blipFill>
              <a:blip r:embed="rId2">
                <a:alphaModFix amt="0"/>
              </a:blip>
              <a:stretch>
                <a:fillRect t="-5028" b="-5027"/>
              </a:stretch>
            </a:blipFill>
          </p:spPr>
        </p:sp>
      </p:grpSp>
      <p:grpSp>
        <p:nvGrpSpPr>
          <p:cNvPr id="39" name="Group 39"/>
          <p:cNvGrpSpPr/>
          <p:nvPr/>
        </p:nvGrpSpPr>
        <p:grpSpPr>
          <a:xfrm>
            <a:off x="12858750" y="4340542"/>
            <a:ext cx="4457700" cy="1591628"/>
            <a:chOff x="0" y="0"/>
            <a:chExt cx="5943600" cy="2122170"/>
          </a:xfrm>
        </p:grpSpPr>
        <p:sp>
          <p:nvSpPr>
            <p:cNvPr id="40" name="Freeform 40"/>
            <p:cNvSpPr/>
            <p:nvPr/>
          </p:nvSpPr>
          <p:spPr>
            <a:xfrm>
              <a:off x="0" y="0"/>
              <a:ext cx="5943600" cy="2122170"/>
            </a:xfrm>
            <a:custGeom>
              <a:avLst/>
              <a:gdLst/>
              <a:ahLst/>
              <a:cxnLst/>
              <a:rect l="l" t="t" r="r" b="b"/>
              <a:pathLst>
                <a:path w="5943600" h="2122170">
                  <a:moveTo>
                    <a:pt x="0" y="0"/>
                  </a:moveTo>
                  <a:lnTo>
                    <a:pt x="5943600" y="0"/>
                  </a:lnTo>
                  <a:lnTo>
                    <a:pt x="5943600" y="2122170"/>
                  </a:lnTo>
                  <a:lnTo>
                    <a:pt x="0" y="2122170"/>
                  </a:lnTo>
                  <a:close/>
                </a:path>
              </a:pathLst>
            </a:custGeom>
            <a:blipFill>
              <a:blip r:embed="rId3">
                <a:alphaModFix amt="0"/>
              </a:blip>
              <a:stretch>
                <a:fillRect t="-4572" b="-4572"/>
              </a:stretch>
            </a:blipFill>
          </p:spPr>
        </p:sp>
        <p:sp>
          <p:nvSpPr>
            <p:cNvPr id="41" name="TextBox 41"/>
            <p:cNvSpPr txBox="1"/>
            <p:nvPr/>
          </p:nvSpPr>
          <p:spPr>
            <a:xfrm>
              <a:off x="0" y="-19050"/>
              <a:ext cx="5943600" cy="2141220"/>
            </a:xfrm>
            <a:prstGeom prst="rect">
              <a:avLst/>
            </a:prstGeom>
          </p:spPr>
          <p:txBody>
            <a:bodyPr lIns="0" tIns="0" rIns="0" bIns="0" rtlCol="0" anchor="ctr"/>
            <a:lstStyle/>
            <a:p>
              <a:pPr algn="l">
                <a:lnSpc>
                  <a:spcPts val="3240"/>
                </a:lnSpc>
              </a:pPr>
              <a:r>
                <a:rPr lang="en-US" sz="2700">
                  <a:solidFill>
                    <a:srgbClr val="0F172A"/>
                  </a:solidFill>
                  <a:latin typeface="Times New Roman"/>
                  <a:ea typeface="Times New Roman"/>
                  <a:cs typeface="Times New Roman"/>
                  <a:sym typeface="Times New Roman"/>
                </a:rPr>
                <a:t>Goura Saini</a:t>
              </a:r>
            </a:p>
            <a:p>
              <a:pPr algn="l">
                <a:lnSpc>
                  <a:spcPts val="3240"/>
                </a:lnSpc>
              </a:pPr>
              <a:r>
                <a:rPr lang="en-US" sz="2700">
                  <a:solidFill>
                    <a:srgbClr val="0F172A"/>
                  </a:solidFill>
                  <a:latin typeface="Times New Roman"/>
                  <a:ea typeface="Times New Roman"/>
                  <a:cs typeface="Times New Roman"/>
                  <a:sym typeface="Times New Roman"/>
                </a:rPr>
                <a:t>V Sem, AI &amp; DS</a:t>
              </a:r>
            </a:p>
            <a:p>
              <a:pPr algn="l">
                <a:lnSpc>
                  <a:spcPts val="3240"/>
                </a:lnSpc>
              </a:pPr>
              <a:r>
                <a:rPr lang="en-US" sz="2700">
                  <a:solidFill>
                    <a:srgbClr val="0F172A"/>
                  </a:solidFill>
                  <a:latin typeface="Times New Roman"/>
                  <a:ea typeface="Times New Roman"/>
                  <a:cs typeface="Times New Roman"/>
                  <a:sym typeface="Times New Roman"/>
                </a:rPr>
                <a:t>24EACAD030</a:t>
              </a:r>
            </a:p>
          </p:txBody>
        </p:sp>
      </p:grpSp>
      <p:grpSp>
        <p:nvGrpSpPr>
          <p:cNvPr id="42" name="Group 42"/>
          <p:cNvGrpSpPr/>
          <p:nvPr/>
        </p:nvGrpSpPr>
        <p:grpSpPr>
          <a:xfrm>
            <a:off x="2743200" y="7475220"/>
            <a:ext cx="12893040" cy="493776"/>
            <a:chOff x="0" y="0"/>
            <a:chExt cx="17190720" cy="658368"/>
          </a:xfrm>
        </p:grpSpPr>
        <p:sp>
          <p:nvSpPr>
            <p:cNvPr id="43" name="Freeform 43"/>
            <p:cNvSpPr/>
            <p:nvPr/>
          </p:nvSpPr>
          <p:spPr>
            <a:xfrm>
              <a:off x="0" y="0"/>
              <a:ext cx="17190720" cy="658368"/>
            </a:xfrm>
            <a:custGeom>
              <a:avLst/>
              <a:gdLst/>
              <a:ahLst/>
              <a:cxnLst/>
              <a:rect l="l" t="t" r="r" b="b"/>
              <a:pathLst>
                <a:path w="17190720" h="658368">
                  <a:moveTo>
                    <a:pt x="0" y="0"/>
                  </a:moveTo>
                  <a:lnTo>
                    <a:pt x="17190720" y="0"/>
                  </a:lnTo>
                  <a:lnTo>
                    <a:pt x="17190720" y="658368"/>
                  </a:lnTo>
                  <a:lnTo>
                    <a:pt x="0" y="658368"/>
                  </a:lnTo>
                  <a:close/>
                </a:path>
              </a:pathLst>
            </a:custGeom>
            <a:blipFill>
              <a:blip r:embed="rId2">
                <a:alphaModFix amt="0"/>
              </a:blip>
              <a:stretch>
                <a:fillRect t="-458422" b="-458422"/>
              </a:stretch>
            </a:blipFill>
          </p:spPr>
        </p:sp>
      </p:grpSp>
      <p:grpSp>
        <p:nvGrpSpPr>
          <p:cNvPr id="44" name="Group 44"/>
          <p:cNvGrpSpPr/>
          <p:nvPr/>
        </p:nvGrpSpPr>
        <p:grpSpPr>
          <a:xfrm>
            <a:off x="2743200" y="7460932"/>
            <a:ext cx="12893040" cy="508064"/>
            <a:chOff x="0" y="0"/>
            <a:chExt cx="17190720" cy="677418"/>
          </a:xfrm>
        </p:grpSpPr>
        <p:sp>
          <p:nvSpPr>
            <p:cNvPr id="45" name="Freeform 45"/>
            <p:cNvSpPr/>
            <p:nvPr/>
          </p:nvSpPr>
          <p:spPr>
            <a:xfrm>
              <a:off x="0" y="0"/>
              <a:ext cx="17190720" cy="677418"/>
            </a:xfrm>
            <a:custGeom>
              <a:avLst/>
              <a:gdLst/>
              <a:ahLst/>
              <a:cxnLst/>
              <a:rect l="l" t="t" r="r" b="b"/>
              <a:pathLst>
                <a:path w="17190720" h="677418">
                  <a:moveTo>
                    <a:pt x="0" y="0"/>
                  </a:moveTo>
                  <a:lnTo>
                    <a:pt x="17190720" y="0"/>
                  </a:lnTo>
                  <a:lnTo>
                    <a:pt x="17190720" y="677418"/>
                  </a:lnTo>
                  <a:lnTo>
                    <a:pt x="0" y="677418"/>
                  </a:lnTo>
                  <a:close/>
                </a:path>
              </a:pathLst>
            </a:custGeom>
            <a:blipFill>
              <a:blip r:embed="rId3">
                <a:alphaModFix amt="0"/>
              </a:blip>
              <a:stretch>
                <a:fillRect t="-444468" b="-444468"/>
              </a:stretch>
            </a:blipFill>
          </p:spPr>
        </p:sp>
        <p:sp>
          <p:nvSpPr>
            <p:cNvPr id="46" name="TextBox 46"/>
            <p:cNvSpPr txBox="1"/>
            <p:nvPr/>
          </p:nvSpPr>
          <p:spPr>
            <a:xfrm>
              <a:off x="0" y="-19050"/>
              <a:ext cx="17190720" cy="696468"/>
            </a:xfrm>
            <a:prstGeom prst="rect">
              <a:avLst/>
            </a:prstGeom>
          </p:spPr>
          <p:txBody>
            <a:bodyPr lIns="0" tIns="0" rIns="0" bIns="0" rtlCol="0" anchor="ctr"/>
            <a:lstStyle/>
            <a:p>
              <a:pPr algn="ctr">
                <a:lnSpc>
                  <a:spcPts val="3419"/>
                </a:lnSpc>
              </a:pPr>
              <a:r>
                <a:rPr lang="en-US" sz="2850">
                  <a:solidFill>
                    <a:srgbClr val="0F172A"/>
                  </a:solidFill>
                  <a:latin typeface="Times New Roman"/>
                  <a:ea typeface="Times New Roman"/>
                  <a:cs typeface="Times New Roman"/>
                  <a:sym typeface="Times New Roman"/>
                </a:rPr>
                <a:t>Training Organization: GRASS SOLUTION</a:t>
              </a:r>
            </a:p>
          </p:txBody>
        </p:sp>
      </p:grpSp>
      <p:grpSp>
        <p:nvGrpSpPr>
          <p:cNvPr id="47" name="Group 47"/>
          <p:cNvGrpSpPr/>
          <p:nvPr/>
        </p:nvGrpSpPr>
        <p:grpSpPr>
          <a:xfrm>
            <a:off x="2743200" y="8023860"/>
            <a:ext cx="12893040" cy="466344"/>
            <a:chOff x="0" y="0"/>
            <a:chExt cx="17190720" cy="621792"/>
          </a:xfrm>
        </p:grpSpPr>
        <p:sp>
          <p:nvSpPr>
            <p:cNvPr id="48" name="Freeform 48"/>
            <p:cNvSpPr/>
            <p:nvPr/>
          </p:nvSpPr>
          <p:spPr>
            <a:xfrm>
              <a:off x="0" y="0"/>
              <a:ext cx="17190720" cy="621792"/>
            </a:xfrm>
            <a:custGeom>
              <a:avLst/>
              <a:gdLst/>
              <a:ahLst/>
              <a:cxnLst/>
              <a:rect l="l" t="t" r="r" b="b"/>
              <a:pathLst>
                <a:path w="17190720" h="621792">
                  <a:moveTo>
                    <a:pt x="0" y="0"/>
                  </a:moveTo>
                  <a:lnTo>
                    <a:pt x="17190720" y="0"/>
                  </a:lnTo>
                  <a:lnTo>
                    <a:pt x="17190720" y="621792"/>
                  </a:lnTo>
                  <a:lnTo>
                    <a:pt x="0" y="621792"/>
                  </a:lnTo>
                  <a:close/>
                </a:path>
              </a:pathLst>
            </a:custGeom>
            <a:blipFill>
              <a:blip r:embed="rId2">
                <a:alphaModFix amt="0"/>
              </a:blip>
              <a:stretch>
                <a:fillRect t="-488329" b="-488329"/>
              </a:stretch>
            </a:blipFill>
          </p:spPr>
        </p:sp>
      </p:grpSp>
      <p:grpSp>
        <p:nvGrpSpPr>
          <p:cNvPr id="49" name="Group 49"/>
          <p:cNvGrpSpPr/>
          <p:nvPr/>
        </p:nvGrpSpPr>
        <p:grpSpPr>
          <a:xfrm>
            <a:off x="2743200" y="8009572"/>
            <a:ext cx="12893040" cy="480632"/>
            <a:chOff x="0" y="0"/>
            <a:chExt cx="17190720" cy="640842"/>
          </a:xfrm>
        </p:grpSpPr>
        <p:sp>
          <p:nvSpPr>
            <p:cNvPr id="50" name="Freeform 50"/>
            <p:cNvSpPr/>
            <p:nvPr/>
          </p:nvSpPr>
          <p:spPr>
            <a:xfrm>
              <a:off x="0" y="0"/>
              <a:ext cx="17190720" cy="640842"/>
            </a:xfrm>
            <a:custGeom>
              <a:avLst/>
              <a:gdLst/>
              <a:ahLst/>
              <a:cxnLst/>
              <a:rect l="l" t="t" r="r" b="b"/>
              <a:pathLst>
                <a:path w="17190720" h="640842">
                  <a:moveTo>
                    <a:pt x="0" y="0"/>
                  </a:moveTo>
                  <a:lnTo>
                    <a:pt x="17190720" y="0"/>
                  </a:lnTo>
                  <a:lnTo>
                    <a:pt x="17190720" y="640842"/>
                  </a:lnTo>
                  <a:lnTo>
                    <a:pt x="0" y="640842"/>
                  </a:lnTo>
                  <a:close/>
                </a:path>
              </a:pathLst>
            </a:custGeom>
            <a:blipFill>
              <a:blip r:embed="rId3">
                <a:alphaModFix amt="0"/>
              </a:blip>
              <a:stretch>
                <a:fillRect t="-472690" b="-472690"/>
              </a:stretch>
            </a:blipFill>
          </p:spPr>
        </p:sp>
        <p:sp>
          <p:nvSpPr>
            <p:cNvPr id="51" name="TextBox 51"/>
            <p:cNvSpPr txBox="1"/>
            <p:nvPr/>
          </p:nvSpPr>
          <p:spPr>
            <a:xfrm>
              <a:off x="0" y="-19050"/>
              <a:ext cx="17190720" cy="659892"/>
            </a:xfrm>
            <a:prstGeom prst="rect">
              <a:avLst/>
            </a:prstGeom>
          </p:spPr>
          <p:txBody>
            <a:bodyPr lIns="0" tIns="0" rIns="0" bIns="0" rtlCol="0" anchor="ctr"/>
            <a:lstStyle/>
            <a:p>
              <a:pPr algn="ctr">
                <a:lnSpc>
                  <a:spcPts val="3419"/>
                </a:lnSpc>
              </a:pPr>
              <a:r>
                <a:rPr lang="en-US" sz="2850">
                  <a:solidFill>
                    <a:srgbClr val="0F172A"/>
                  </a:solidFill>
                  <a:latin typeface="Times New Roman"/>
                  <a:ea typeface="Times New Roman"/>
                  <a:cs typeface="Times New Roman"/>
                  <a:sym typeface="Times New Roman"/>
                </a:rPr>
                <a:t>Training Duration: 45 Days</a:t>
              </a:r>
            </a:p>
          </p:txBody>
        </p:sp>
      </p:grpSp>
      <p:grpSp>
        <p:nvGrpSpPr>
          <p:cNvPr id="52" name="Group 52"/>
          <p:cNvGrpSpPr/>
          <p:nvPr/>
        </p:nvGrpSpPr>
        <p:grpSpPr>
          <a:xfrm>
            <a:off x="1645920" y="8476488"/>
            <a:ext cx="14950440" cy="480060"/>
            <a:chOff x="0" y="0"/>
            <a:chExt cx="19933920" cy="640080"/>
          </a:xfrm>
        </p:grpSpPr>
        <p:sp>
          <p:nvSpPr>
            <p:cNvPr id="53" name="Freeform 53"/>
            <p:cNvSpPr/>
            <p:nvPr/>
          </p:nvSpPr>
          <p:spPr>
            <a:xfrm>
              <a:off x="0" y="0"/>
              <a:ext cx="19933920" cy="640080"/>
            </a:xfrm>
            <a:custGeom>
              <a:avLst/>
              <a:gdLst/>
              <a:ahLst/>
              <a:cxnLst/>
              <a:rect l="l" t="t" r="r" b="b"/>
              <a:pathLst>
                <a:path w="19933920" h="640080">
                  <a:moveTo>
                    <a:pt x="0" y="0"/>
                  </a:moveTo>
                  <a:lnTo>
                    <a:pt x="19933920" y="0"/>
                  </a:lnTo>
                  <a:lnTo>
                    <a:pt x="19933920" y="640080"/>
                  </a:lnTo>
                  <a:lnTo>
                    <a:pt x="0" y="640080"/>
                  </a:lnTo>
                  <a:close/>
                </a:path>
              </a:pathLst>
            </a:custGeom>
            <a:blipFill>
              <a:blip r:embed="rId2">
                <a:alphaModFix amt="0"/>
              </a:blip>
              <a:stretch>
                <a:fillRect t="-556396" b="-556398"/>
              </a:stretch>
            </a:blipFill>
          </p:spPr>
        </p:sp>
      </p:grpSp>
      <p:grpSp>
        <p:nvGrpSpPr>
          <p:cNvPr id="54" name="Group 54"/>
          <p:cNvGrpSpPr/>
          <p:nvPr/>
        </p:nvGrpSpPr>
        <p:grpSpPr>
          <a:xfrm>
            <a:off x="1645920" y="8462200"/>
            <a:ext cx="14950440" cy="494347"/>
            <a:chOff x="0" y="0"/>
            <a:chExt cx="19933920" cy="659130"/>
          </a:xfrm>
        </p:grpSpPr>
        <p:sp>
          <p:nvSpPr>
            <p:cNvPr id="55" name="Freeform 55"/>
            <p:cNvSpPr/>
            <p:nvPr/>
          </p:nvSpPr>
          <p:spPr>
            <a:xfrm>
              <a:off x="0" y="0"/>
              <a:ext cx="19933920" cy="659130"/>
            </a:xfrm>
            <a:custGeom>
              <a:avLst/>
              <a:gdLst/>
              <a:ahLst/>
              <a:cxnLst/>
              <a:rect l="l" t="t" r="r" b="b"/>
              <a:pathLst>
                <a:path w="19933920" h="659130">
                  <a:moveTo>
                    <a:pt x="0" y="0"/>
                  </a:moveTo>
                  <a:lnTo>
                    <a:pt x="19933920" y="0"/>
                  </a:lnTo>
                  <a:lnTo>
                    <a:pt x="19933920" y="659130"/>
                  </a:lnTo>
                  <a:lnTo>
                    <a:pt x="0" y="659130"/>
                  </a:lnTo>
                  <a:close/>
                </a:path>
              </a:pathLst>
            </a:custGeom>
            <a:blipFill>
              <a:blip r:embed="rId3">
                <a:alphaModFix amt="0"/>
              </a:blip>
              <a:stretch>
                <a:fillRect t="-539281" b="-539281"/>
              </a:stretch>
            </a:blipFill>
          </p:spPr>
        </p:sp>
        <p:sp>
          <p:nvSpPr>
            <p:cNvPr id="56" name="TextBox 56"/>
            <p:cNvSpPr txBox="1"/>
            <p:nvPr/>
          </p:nvSpPr>
          <p:spPr>
            <a:xfrm>
              <a:off x="0" y="-19050"/>
              <a:ext cx="19933920" cy="678180"/>
            </a:xfrm>
            <a:prstGeom prst="rect">
              <a:avLst/>
            </a:prstGeom>
          </p:spPr>
          <p:txBody>
            <a:bodyPr lIns="0" tIns="0" rIns="0" bIns="0" rtlCol="0" anchor="ctr"/>
            <a:lstStyle/>
            <a:p>
              <a:pPr algn="ctr">
                <a:lnSpc>
                  <a:spcPts val="3240"/>
                </a:lnSpc>
              </a:pPr>
              <a:r>
                <a:rPr lang="en-US" sz="2700" b="1">
                  <a:solidFill>
                    <a:srgbClr val="0F172A"/>
                  </a:solidFill>
                  <a:latin typeface="Times New Roman Bold"/>
                  <a:ea typeface="Times New Roman Bold"/>
                  <a:cs typeface="Times New Roman Bold"/>
                  <a:sym typeface="Times New Roman Bold"/>
                </a:rPr>
                <a:t>Department of Artificial Intelligence and Data Science</a:t>
              </a:r>
            </a:p>
          </p:txBody>
        </p:sp>
      </p:grpSp>
      <p:grpSp>
        <p:nvGrpSpPr>
          <p:cNvPr id="57" name="Group 57"/>
          <p:cNvGrpSpPr/>
          <p:nvPr/>
        </p:nvGrpSpPr>
        <p:grpSpPr>
          <a:xfrm>
            <a:off x="2743200" y="8956548"/>
            <a:ext cx="12893040" cy="466344"/>
            <a:chOff x="0" y="0"/>
            <a:chExt cx="17190720" cy="621792"/>
          </a:xfrm>
        </p:grpSpPr>
        <p:sp>
          <p:nvSpPr>
            <p:cNvPr id="58" name="Freeform 58"/>
            <p:cNvSpPr/>
            <p:nvPr/>
          </p:nvSpPr>
          <p:spPr>
            <a:xfrm>
              <a:off x="0" y="0"/>
              <a:ext cx="17190720" cy="621792"/>
            </a:xfrm>
            <a:custGeom>
              <a:avLst/>
              <a:gdLst/>
              <a:ahLst/>
              <a:cxnLst/>
              <a:rect l="l" t="t" r="r" b="b"/>
              <a:pathLst>
                <a:path w="17190720" h="621792">
                  <a:moveTo>
                    <a:pt x="0" y="0"/>
                  </a:moveTo>
                  <a:lnTo>
                    <a:pt x="17190720" y="0"/>
                  </a:lnTo>
                  <a:lnTo>
                    <a:pt x="17190720" y="621792"/>
                  </a:lnTo>
                  <a:lnTo>
                    <a:pt x="0" y="621792"/>
                  </a:lnTo>
                  <a:close/>
                </a:path>
              </a:pathLst>
            </a:custGeom>
            <a:blipFill>
              <a:blip r:embed="rId2">
                <a:alphaModFix amt="0"/>
              </a:blip>
              <a:stretch>
                <a:fillRect t="-488329" b="-488329"/>
              </a:stretch>
            </a:blipFill>
          </p:spPr>
        </p:sp>
      </p:grpSp>
      <p:grpSp>
        <p:nvGrpSpPr>
          <p:cNvPr id="59" name="Group 59"/>
          <p:cNvGrpSpPr/>
          <p:nvPr/>
        </p:nvGrpSpPr>
        <p:grpSpPr>
          <a:xfrm>
            <a:off x="2743200" y="8942260"/>
            <a:ext cx="12893040" cy="480632"/>
            <a:chOff x="0" y="0"/>
            <a:chExt cx="17190720" cy="640842"/>
          </a:xfrm>
        </p:grpSpPr>
        <p:sp>
          <p:nvSpPr>
            <p:cNvPr id="60" name="Freeform 60"/>
            <p:cNvSpPr/>
            <p:nvPr/>
          </p:nvSpPr>
          <p:spPr>
            <a:xfrm>
              <a:off x="0" y="0"/>
              <a:ext cx="17190720" cy="640842"/>
            </a:xfrm>
            <a:custGeom>
              <a:avLst/>
              <a:gdLst/>
              <a:ahLst/>
              <a:cxnLst/>
              <a:rect l="l" t="t" r="r" b="b"/>
              <a:pathLst>
                <a:path w="17190720" h="640842">
                  <a:moveTo>
                    <a:pt x="0" y="0"/>
                  </a:moveTo>
                  <a:lnTo>
                    <a:pt x="17190720" y="0"/>
                  </a:lnTo>
                  <a:lnTo>
                    <a:pt x="17190720" y="640842"/>
                  </a:lnTo>
                  <a:lnTo>
                    <a:pt x="0" y="640842"/>
                  </a:lnTo>
                  <a:close/>
                </a:path>
              </a:pathLst>
            </a:custGeom>
            <a:blipFill>
              <a:blip r:embed="rId3">
                <a:alphaModFix amt="0"/>
              </a:blip>
              <a:stretch>
                <a:fillRect t="-472690" b="-472690"/>
              </a:stretch>
            </a:blipFill>
          </p:spPr>
        </p:sp>
        <p:sp>
          <p:nvSpPr>
            <p:cNvPr id="61" name="TextBox 61"/>
            <p:cNvSpPr txBox="1"/>
            <p:nvPr/>
          </p:nvSpPr>
          <p:spPr>
            <a:xfrm>
              <a:off x="0" y="-19050"/>
              <a:ext cx="17190720" cy="659892"/>
            </a:xfrm>
            <a:prstGeom prst="rect">
              <a:avLst/>
            </a:prstGeom>
          </p:spPr>
          <p:txBody>
            <a:bodyPr lIns="0" tIns="0" rIns="0" bIns="0" rtlCol="0" anchor="ctr"/>
            <a:lstStyle/>
            <a:p>
              <a:pPr algn="ctr">
                <a:lnSpc>
                  <a:spcPts val="3240"/>
                </a:lnSpc>
              </a:pPr>
              <a:r>
                <a:rPr lang="en-US" sz="2700" b="1">
                  <a:solidFill>
                    <a:srgbClr val="0F172A"/>
                  </a:solidFill>
                  <a:latin typeface="Times New Roman Bold"/>
                  <a:ea typeface="Times New Roman Bold"/>
                  <a:cs typeface="Times New Roman Bold"/>
                  <a:sym typeface="Times New Roman Bold"/>
                </a:rPr>
                <a:t>Arya College of Engineering, Jaipur</a:t>
              </a:r>
            </a:p>
          </p:txBody>
        </p:sp>
      </p:grpSp>
      <p:grpSp>
        <p:nvGrpSpPr>
          <p:cNvPr id="62" name="Group 62"/>
          <p:cNvGrpSpPr/>
          <p:nvPr/>
        </p:nvGrpSpPr>
        <p:grpSpPr>
          <a:xfrm>
            <a:off x="2194560" y="9409176"/>
            <a:ext cx="13990320" cy="466344"/>
            <a:chOff x="0" y="0"/>
            <a:chExt cx="18653760" cy="621792"/>
          </a:xfrm>
        </p:grpSpPr>
        <p:sp>
          <p:nvSpPr>
            <p:cNvPr id="63" name="Freeform 63"/>
            <p:cNvSpPr/>
            <p:nvPr/>
          </p:nvSpPr>
          <p:spPr>
            <a:xfrm>
              <a:off x="0" y="0"/>
              <a:ext cx="18653761" cy="621792"/>
            </a:xfrm>
            <a:custGeom>
              <a:avLst/>
              <a:gdLst/>
              <a:ahLst/>
              <a:cxnLst/>
              <a:rect l="l" t="t" r="r" b="b"/>
              <a:pathLst>
                <a:path w="18653761" h="621792">
                  <a:moveTo>
                    <a:pt x="0" y="0"/>
                  </a:moveTo>
                  <a:lnTo>
                    <a:pt x="18653761" y="0"/>
                  </a:lnTo>
                  <a:lnTo>
                    <a:pt x="18653761" y="621792"/>
                  </a:lnTo>
                  <a:lnTo>
                    <a:pt x="0" y="621792"/>
                  </a:lnTo>
                  <a:close/>
                </a:path>
              </a:pathLst>
            </a:custGeom>
            <a:blipFill>
              <a:blip r:embed="rId2">
                <a:alphaModFix amt="0"/>
              </a:blip>
              <a:stretch>
                <a:fillRect t="-534144" b="-534144"/>
              </a:stretch>
            </a:blipFill>
          </p:spPr>
        </p:sp>
      </p:grpSp>
      <p:grpSp>
        <p:nvGrpSpPr>
          <p:cNvPr id="64" name="Group 64"/>
          <p:cNvGrpSpPr/>
          <p:nvPr/>
        </p:nvGrpSpPr>
        <p:grpSpPr>
          <a:xfrm>
            <a:off x="2194560" y="9394888"/>
            <a:ext cx="13990320" cy="480632"/>
            <a:chOff x="0" y="0"/>
            <a:chExt cx="18653760" cy="640842"/>
          </a:xfrm>
        </p:grpSpPr>
        <p:sp>
          <p:nvSpPr>
            <p:cNvPr id="65" name="Freeform 65"/>
            <p:cNvSpPr/>
            <p:nvPr/>
          </p:nvSpPr>
          <p:spPr>
            <a:xfrm>
              <a:off x="0" y="0"/>
              <a:ext cx="18653761" cy="640842"/>
            </a:xfrm>
            <a:custGeom>
              <a:avLst/>
              <a:gdLst/>
              <a:ahLst/>
              <a:cxnLst/>
              <a:rect l="l" t="t" r="r" b="b"/>
              <a:pathLst>
                <a:path w="18653761" h="640842">
                  <a:moveTo>
                    <a:pt x="0" y="0"/>
                  </a:moveTo>
                  <a:lnTo>
                    <a:pt x="18653761" y="0"/>
                  </a:lnTo>
                  <a:lnTo>
                    <a:pt x="18653761" y="640842"/>
                  </a:lnTo>
                  <a:lnTo>
                    <a:pt x="0" y="640842"/>
                  </a:lnTo>
                  <a:close/>
                </a:path>
              </a:pathLst>
            </a:custGeom>
            <a:blipFill>
              <a:blip r:embed="rId3">
                <a:alphaModFix amt="0"/>
              </a:blip>
              <a:stretch>
                <a:fillRect t="-517174" b="-517174"/>
              </a:stretch>
            </a:blipFill>
          </p:spPr>
        </p:sp>
        <p:sp>
          <p:nvSpPr>
            <p:cNvPr id="66" name="TextBox 66"/>
            <p:cNvSpPr txBox="1"/>
            <p:nvPr/>
          </p:nvSpPr>
          <p:spPr>
            <a:xfrm>
              <a:off x="0" y="-19050"/>
              <a:ext cx="18653760" cy="659892"/>
            </a:xfrm>
            <a:prstGeom prst="rect">
              <a:avLst/>
            </a:prstGeom>
          </p:spPr>
          <p:txBody>
            <a:bodyPr lIns="0" tIns="0" rIns="0" bIns="0" rtlCol="0" anchor="ctr"/>
            <a:lstStyle/>
            <a:p>
              <a:pPr algn="ctr">
                <a:lnSpc>
                  <a:spcPts val="3060"/>
                </a:lnSpc>
              </a:pPr>
              <a:r>
                <a:rPr lang="en-US" sz="2550" b="1">
                  <a:solidFill>
                    <a:srgbClr val="0F172A"/>
                  </a:solidFill>
                  <a:latin typeface="Times New Roman Bold"/>
                  <a:ea typeface="Times New Roman Bold"/>
                  <a:cs typeface="Times New Roman Bold"/>
                  <a:sym typeface="Times New Roman Bold"/>
                </a:rPr>
                <a:t>Rajasthan Technical University, Kota (2026–27)</a:t>
              </a:r>
            </a:p>
          </p:txBody>
        </p:sp>
      </p:grpSp>
      <p:grpSp>
        <p:nvGrpSpPr>
          <p:cNvPr id="67" name="Group 67"/>
          <p:cNvGrpSpPr/>
          <p:nvPr/>
        </p:nvGrpSpPr>
        <p:grpSpPr>
          <a:xfrm>
            <a:off x="7990446" y="3700786"/>
            <a:ext cx="2386527" cy="2376745"/>
            <a:chOff x="0" y="0"/>
            <a:chExt cx="3182036" cy="3168993"/>
          </a:xfrm>
        </p:grpSpPr>
        <p:sp>
          <p:nvSpPr>
            <p:cNvPr id="68" name="Freeform 68"/>
            <p:cNvSpPr/>
            <p:nvPr/>
          </p:nvSpPr>
          <p:spPr>
            <a:xfrm>
              <a:off x="0" y="0"/>
              <a:ext cx="3181985" cy="3169031"/>
            </a:xfrm>
            <a:custGeom>
              <a:avLst/>
              <a:gdLst/>
              <a:ahLst/>
              <a:cxnLst/>
              <a:rect l="l" t="t" r="r" b="b"/>
              <a:pathLst>
                <a:path w="3181985" h="3169031">
                  <a:moveTo>
                    <a:pt x="0" y="0"/>
                  </a:moveTo>
                  <a:lnTo>
                    <a:pt x="3181985" y="0"/>
                  </a:lnTo>
                  <a:lnTo>
                    <a:pt x="3181985" y="3169031"/>
                  </a:lnTo>
                  <a:lnTo>
                    <a:pt x="0" y="3169031"/>
                  </a:lnTo>
                  <a:lnTo>
                    <a:pt x="0" y="0"/>
                  </a:lnTo>
                  <a:close/>
                </a:path>
              </a:pathLst>
            </a:custGeom>
            <a:blipFill>
              <a:blip r:embed="rId4"/>
              <a:stretch>
                <a:fillRect r="-1" b="1"/>
              </a:stretch>
            </a:blipFill>
          </p:spPr>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sp>
      </p:grpSp>
      <p:grpSp>
        <p:nvGrpSpPr>
          <p:cNvPr id="4" name="Group 4"/>
          <p:cNvGrpSpPr/>
          <p:nvPr/>
        </p:nvGrpSpPr>
        <p:grpSpPr>
          <a:xfrm>
            <a:off x="642938" y="2841422"/>
            <a:ext cx="8329612" cy="5632847"/>
            <a:chOff x="0" y="0"/>
            <a:chExt cx="11106150" cy="7510462"/>
          </a:xfrm>
        </p:grpSpPr>
        <p:sp>
          <p:nvSpPr>
            <p:cNvPr id="5" name="Freeform 5" descr="image.png"/>
            <p:cNvSpPr/>
            <p:nvPr/>
          </p:nvSpPr>
          <p:spPr>
            <a:xfrm>
              <a:off x="0" y="0"/>
              <a:ext cx="11106150" cy="7510399"/>
            </a:xfrm>
            <a:custGeom>
              <a:avLst/>
              <a:gdLst/>
              <a:ahLst/>
              <a:cxnLst/>
              <a:rect l="l" t="t" r="r" b="b"/>
              <a:pathLst>
                <a:path w="11106150" h="7510399">
                  <a:moveTo>
                    <a:pt x="0" y="0"/>
                  </a:moveTo>
                  <a:lnTo>
                    <a:pt x="11106150" y="0"/>
                  </a:lnTo>
                  <a:lnTo>
                    <a:pt x="11106150" y="7510399"/>
                  </a:lnTo>
                  <a:lnTo>
                    <a:pt x="0" y="7510399"/>
                  </a:lnTo>
                  <a:lnTo>
                    <a:pt x="0" y="0"/>
                  </a:lnTo>
                  <a:close/>
                </a:path>
              </a:pathLst>
            </a:custGeom>
            <a:blipFill>
              <a:blip r:embed="rId3"/>
              <a:stretch>
                <a:fillRect t="-135" b="-136"/>
              </a:stretch>
            </a:blipFill>
          </p:spPr>
        </p:sp>
      </p:grpSp>
      <p:grpSp>
        <p:nvGrpSpPr>
          <p:cNvPr id="6" name="Group 6"/>
          <p:cNvGrpSpPr/>
          <p:nvPr/>
        </p:nvGrpSpPr>
        <p:grpSpPr>
          <a:xfrm>
            <a:off x="971550" y="7434853"/>
            <a:ext cx="7672388" cy="739378"/>
            <a:chOff x="0" y="0"/>
            <a:chExt cx="10229850" cy="985838"/>
          </a:xfrm>
        </p:grpSpPr>
        <p:sp>
          <p:nvSpPr>
            <p:cNvPr id="7" name="Freeform 7" descr="image.png"/>
            <p:cNvSpPr/>
            <p:nvPr/>
          </p:nvSpPr>
          <p:spPr>
            <a:xfrm>
              <a:off x="0" y="0"/>
              <a:ext cx="10229850" cy="985774"/>
            </a:xfrm>
            <a:custGeom>
              <a:avLst/>
              <a:gdLst/>
              <a:ahLst/>
              <a:cxnLst/>
              <a:rect l="l" t="t" r="r" b="b"/>
              <a:pathLst>
                <a:path w="10229850" h="985774">
                  <a:moveTo>
                    <a:pt x="0" y="0"/>
                  </a:moveTo>
                  <a:lnTo>
                    <a:pt x="10229850" y="0"/>
                  </a:lnTo>
                  <a:lnTo>
                    <a:pt x="10229850" y="985774"/>
                  </a:lnTo>
                  <a:lnTo>
                    <a:pt x="0" y="985774"/>
                  </a:lnTo>
                  <a:lnTo>
                    <a:pt x="0" y="0"/>
                  </a:lnTo>
                  <a:close/>
                </a:path>
              </a:pathLst>
            </a:custGeom>
            <a:blipFill>
              <a:blip r:embed="rId4"/>
              <a:stretch>
                <a:fillRect t="-923" b="-928"/>
              </a:stretch>
            </a:blipFill>
          </p:spPr>
        </p:sp>
      </p:grpSp>
      <p:grpSp>
        <p:nvGrpSpPr>
          <p:cNvPr id="8" name="Group 8"/>
          <p:cNvGrpSpPr/>
          <p:nvPr/>
        </p:nvGrpSpPr>
        <p:grpSpPr>
          <a:xfrm>
            <a:off x="11572875" y="6986807"/>
            <a:ext cx="3814762" cy="557212"/>
            <a:chOff x="0" y="0"/>
            <a:chExt cx="5086350" cy="742950"/>
          </a:xfrm>
        </p:grpSpPr>
        <p:sp>
          <p:nvSpPr>
            <p:cNvPr id="9" name="Freeform 9" descr="image.png"/>
            <p:cNvSpPr/>
            <p:nvPr/>
          </p:nvSpPr>
          <p:spPr>
            <a:xfrm>
              <a:off x="0" y="0"/>
              <a:ext cx="5086350" cy="742950"/>
            </a:xfrm>
            <a:custGeom>
              <a:avLst/>
              <a:gdLst/>
              <a:ahLst/>
              <a:cxnLst/>
              <a:rect l="l" t="t" r="r" b="b"/>
              <a:pathLst>
                <a:path w="5086350" h="742950">
                  <a:moveTo>
                    <a:pt x="0" y="0"/>
                  </a:moveTo>
                  <a:lnTo>
                    <a:pt x="5086350" y="0"/>
                  </a:lnTo>
                  <a:lnTo>
                    <a:pt x="5086350" y="742950"/>
                  </a:lnTo>
                  <a:lnTo>
                    <a:pt x="0" y="742950"/>
                  </a:lnTo>
                  <a:lnTo>
                    <a:pt x="0" y="0"/>
                  </a:lnTo>
                  <a:close/>
                </a:path>
              </a:pathLst>
            </a:custGeom>
            <a:blipFill>
              <a:blip r:embed="rId5"/>
              <a:stretch>
                <a:fillRect t="-3485" b="-3485"/>
              </a:stretch>
            </a:blipFill>
          </p:spPr>
        </p:sp>
      </p:grpSp>
      <p:sp>
        <p:nvSpPr>
          <p:cNvPr id="10" name="TextBox 10"/>
          <p:cNvSpPr txBox="1"/>
          <p:nvPr/>
        </p:nvSpPr>
        <p:spPr>
          <a:xfrm>
            <a:off x="642938" y="490537"/>
            <a:ext cx="5029848" cy="566737"/>
          </a:xfrm>
          <a:prstGeom prst="rect">
            <a:avLst/>
          </a:prstGeom>
        </p:spPr>
        <p:txBody>
          <a:bodyPr lIns="0" tIns="0" rIns="0" bIns="0" rtlCol="0" anchor="t">
            <a:spAutoFit/>
          </a:bodyPr>
          <a:lstStyle/>
          <a:p>
            <a:pPr algn="l">
              <a:lnSpc>
                <a:spcPts val="4320"/>
              </a:lnSpc>
            </a:pPr>
            <a:r>
              <a:rPr lang="en-US" sz="3600" b="1">
                <a:solidFill>
                  <a:srgbClr val="064E3B"/>
                </a:solidFill>
                <a:latin typeface="Inter Bold"/>
                <a:ea typeface="Inter Bold"/>
                <a:cs typeface="Inter Bold"/>
                <a:sym typeface="Inter Bold"/>
              </a:rPr>
              <a:t>Internship Offer Letter</a:t>
            </a:r>
          </a:p>
        </p:txBody>
      </p:sp>
      <p:grpSp>
        <p:nvGrpSpPr>
          <p:cNvPr id="11" name="Group 11"/>
          <p:cNvGrpSpPr/>
          <p:nvPr/>
        </p:nvGrpSpPr>
        <p:grpSpPr>
          <a:xfrm>
            <a:off x="14721707" y="628650"/>
            <a:ext cx="2923356" cy="428625"/>
            <a:chOff x="0" y="0"/>
            <a:chExt cx="3897808" cy="571500"/>
          </a:xfrm>
        </p:grpSpPr>
        <p:sp>
          <p:nvSpPr>
            <p:cNvPr id="12" name="Freeform 12" descr="image.png"/>
            <p:cNvSpPr/>
            <p:nvPr/>
          </p:nvSpPr>
          <p:spPr>
            <a:xfrm>
              <a:off x="0" y="0"/>
              <a:ext cx="3897757" cy="571500"/>
            </a:xfrm>
            <a:custGeom>
              <a:avLst/>
              <a:gdLst/>
              <a:ahLst/>
              <a:cxnLst/>
              <a:rect l="l" t="t" r="r" b="b"/>
              <a:pathLst>
                <a:path w="3897757" h="571500">
                  <a:moveTo>
                    <a:pt x="0" y="0"/>
                  </a:moveTo>
                  <a:lnTo>
                    <a:pt x="3897757" y="0"/>
                  </a:lnTo>
                  <a:lnTo>
                    <a:pt x="3897757" y="571500"/>
                  </a:lnTo>
                  <a:lnTo>
                    <a:pt x="0" y="571500"/>
                  </a:lnTo>
                  <a:lnTo>
                    <a:pt x="0" y="0"/>
                  </a:lnTo>
                  <a:close/>
                </a:path>
              </a:pathLst>
            </a:custGeom>
            <a:blipFill>
              <a:blip r:embed="rId6"/>
              <a:stretch>
                <a:fillRect l="-95" r="-96"/>
              </a:stretch>
            </a:blipFill>
          </p:spPr>
        </p:sp>
      </p:grpSp>
      <p:grpSp>
        <p:nvGrpSpPr>
          <p:cNvPr id="13" name="Group 13"/>
          <p:cNvGrpSpPr/>
          <p:nvPr/>
        </p:nvGrpSpPr>
        <p:grpSpPr>
          <a:xfrm>
            <a:off x="12965906" y="3800027"/>
            <a:ext cx="1028700" cy="1028700"/>
            <a:chOff x="0" y="0"/>
            <a:chExt cx="1371600" cy="1371600"/>
          </a:xfrm>
        </p:grpSpPr>
        <p:sp>
          <p:nvSpPr>
            <p:cNvPr id="14" name="Freeform 14" descr="image.png"/>
            <p:cNvSpPr/>
            <p:nvPr/>
          </p:nvSpPr>
          <p:spPr>
            <a:xfrm>
              <a:off x="0" y="0"/>
              <a:ext cx="1371600" cy="1371600"/>
            </a:xfrm>
            <a:custGeom>
              <a:avLst/>
              <a:gdLst/>
              <a:ahLst/>
              <a:cxnLst/>
              <a:rect l="l" t="t" r="r" b="b"/>
              <a:pathLst>
                <a:path w="1371600" h="1371600">
                  <a:moveTo>
                    <a:pt x="0" y="0"/>
                  </a:moveTo>
                  <a:lnTo>
                    <a:pt x="1371600" y="0"/>
                  </a:lnTo>
                  <a:lnTo>
                    <a:pt x="1371600" y="1371600"/>
                  </a:lnTo>
                  <a:lnTo>
                    <a:pt x="0" y="1371600"/>
                  </a:lnTo>
                  <a:lnTo>
                    <a:pt x="0" y="0"/>
                  </a:lnTo>
                  <a:close/>
                </a:path>
              </a:pathLst>
            </a:custGeom>
            <a:blipFill>
              <a:blip r:embed="rId7"/>
              <a:stretch>
                <a:fillRect t="-694" b="-694"/>
              </a:stretch>
            </a:blipFill>
          </p:spPr>
        </p:sp>
      </p:grpSp>
      <p:grpSp>
        <p:nvGrpSpPr>
          <p:cNvPr id="15" name="Group 15"/>
          <p:cNvGrpSpPr/>
          <p:nvPr/>
        </p:nvGrpSpPr>
        <p:grpSpPr>
          <a:xfrm>
            <a:off x="11087452" y="5114477"/>
            <a:ext cx="4785598" cy="357188"/>
            <a:chOff x="0" y="0"/>
            <a:chExt cx="6380798" cy="476250"/>
          </a:xfrm>
        </p:grpSpPr>
        <p:sp>
          <p:nvSpPr>
            <p:cNvPr id="16" name="Freeform 16"/>
            <p:cNvSpPr/>
            <p:nvPr/>
          </p:nvSpPr>
          <p:spPr>
            <a:xfrm>
              <a:off x="0" y="0"/>
              <a:ext cx="6380796" cy="476250"/>
            </a:xfrm>
            <a:custGeom>
              <a:avLst/>
              <a:gdLst/>
              <a:ahLst/>
              <a:cxnLst/>
              <a:rect l="l" t="t" r="r" b="b"/>
              <a:pathLst>
                <a:path w="6380796" h="476250">
                  <a:moveTo>
                    <a:pt x="0" y="0"/>
                  </a:moveTo>
                  <a:lnTo>
                    <a:pt x="6380796" y="0"/>
                  </a:lnTo>
                  <a:lnTo>
                    <a:pt x="6380796" y="476250"/>
                  </a:lnTo>
                  <a:lnTo>
                    <a:pt x="0" y="476250"/>
                  </a:lnTo>
                  <a:close/>
                </a:path>
              </a:pathLst>
            </a:custGeom>
            <a:blipFill>
              <a:blip r:embed="rId8">
                <a:alphaModFix amt="0"/>
              </a:blip>
              <a:stretch>
                <a:fillRect t="-211060" b="-211060"/>
              </a:stretch>
            </a:blipFill>
          </p:spPr>
        </p:sp>
        <p:sp>
          <p:nvSpPr>
            <p:cNvPr id="17" name="TextBox 17"/>
            <p:cNvSpPr txBox="1"/>
            <p:nvPr/>
          </p:nvSpPr>
          <p:spPr>
            <a:xfrm>
              <a:off x="0" y="-9525"/>
              <a:ext cx="6380798" cy="485775"/>
            </a:xfrm>
            <a:prstGeom prst="rect">
              <a:avLst/>
            </a:prstGeom>
          </p:spPr>
          <p:txBody>
            <a:bodyPr lIns="0" tIns="0" rIns="0" bIns="0" rtlCol="0" anchor="ctr"/>
            <a:lstStyle/>
            <a:p>
              <a:pPr algn="ctr">
                <a:lnSpc>
                  <a:spcPts val="2835"/>
                </a:lnSpc>
              </a:pPr>
              <a:r>
                <a:rPr lang="en-US" sz="2362">
                  <a:solidFill>
                    <a:srgbClr val="064E3B"/>
                  </a:solidFill>
                  <a:latin typeface="Inter"/>
                  <a:ea typeface="Inter"/>
                  <a:cs typeface="Inter"/>
                  <a:sym typeface="Inter"/>
                </a:rPr>
                <a:t>Original Offer Letter Attachment</a:t>
              </a:r>
            </a:p>
          </p:txBody>
        </p:sp>
      </p:grpSp>
      <p:sp>
        <p:nvSpPr>
          <p:cNvPr id="18" name="TextBox 18"/>
          <p:cNvSpPr txBox="1"/>
          <p:nvPr/>
        </p:nvSpPr>
        <p:spPr>
          <a:xfrm>
            <a:off x="10479881" y="5576440"/>
            <a:ext cx="6000750" cy="1096042"/>
          </a:xfrm>
          <a:prstGeom prst="rect">
            <a:avLst/>
          </a:prstGeom>
        </p:spPr>
        <p:txBody>
          <a:bodyPr lIns="0" tIns="0" rIns="0" bIns="0" rtlCol="0" anchor="t">
            <a:spAutoFit/>
          </a:bodyPr>
          <a:lstStyle/>
          <a:p>
            <a:pPr algn="ctr">
              <a:lnSpc>
                <a:spcPts val="2701"/>
              </a:lnSpc>
            </a:pPr>
            <a:r>
              <a:rPr lang="en-US" sz="1743">
                <a:solidFill>
                  <a:srgbClr val="64748B"/>
                </a:solidFill>
                <a:latin typeface="Inter"/>
                <a:ea typeface="Inter"/>
                <a:cs typeface="Inter"/>
                <a:sym typeface="Inter"/>
              </a:rPr>
              <a:t>Authorized appointment instrument issued by the HR &amp; Technical Division at GRRAS Solutions Pvt. Ltd., certifying full-time hands-on participation.</a:t>
            </a:r>
          </a:p>
        </p:txBody>
      </p:sp>
      <p:grpSp>
        <p:nvGrpSpPr>
          <p:cNvPr id="19" name="Group 19"/>
          <p:cNvGrpSpPr/>
          <p:nvPr/>
        </p:nvGrpSpPr>
        <p:grpSpPr>
          <a:xfrm>
            <a:off x="971550" y="3170034"/>
            <a:ext cx="2257425" cy="371475"/>
            <a:chOff x="0" y="0"/>
            <a:chExt cx="3009900" cy="495300"/>
          </a:xfrm>
        </p:grpSpPr>
        <p:sp>
          <p:nvSpPr>
            <p:cNvPr id="20" name="Freeform 20" descr="image.png"/>
            <p:cNvSpPr/>
            <p:nvPr/>
          </p:nvSpPr>
          <p:spPr>
            <a:xfrm>
              <a:off x="0" y="0"/>
              <a:ext cx="3009900" cy="495300"/>
            </a:xfrm>
            <a:custGeom>
              <a:avLst/>
              <a:gdLst/>
              <a:ahLst/>
              <a:cxnLst/>
              <a:rect l="l" t="t" r="r" b="b"/>
              <a:pathLst>
                <a:path w="3009900" h="495300">
                  <a:moveTo>
                    <a:pt x="0" y="0"/>
                  </a:moveTo>
                  <a:lnTo>
                    <a:pt x="3009900" y="0"/>
                  </a:lnTo>
                  <a:lnTo>
                    <a:pt x="3009900" y="495300"/>
                  </a:lnTo>
                  <a:lnTo>
                    <a:pt x="0" y="495300"/>
                  </a:lnTo>
                  <a:lnTo>
                    <a:pt x="0" y="0"/>
                  </a:lnTo>
                  <a:close/>
                </a:path>
              </a:pathLst>
            </a:custGeom>
            <a:blipFill>
              <a:blip r:embed="rId9"/>
              <a:stretch>
                <a:fillRect t="-7369" b="-7369"/>
              </a:stretch>
            </a:blipFill>
          </p:spPr>
        </p:sp>
      </p:grpSp>
      <p:grpSp>
        <p:nvGrpSpPr>
          <p:cNvPr id="21" name="Group 21"/>
          <p:cNvGrpSpPr/>
          <p:nvPr/>
        </p:nvGrpSpPr>
        <p:grpSpPr>
          <a:xfrm>
            <a:off x="971550" y="3741534"/>
            <a:ext cx="8056007" cy="328612"/>
            <a:chOff x="0" y="0"/>
            <a:chExt cx="10741342" cy="438150"/>
          </a:xfrm>
        </p:grpSpPr>
        <p:sp>
          <p:nvSpPr>
            <p:cNvPr id="22" name="Freeform 22"/>
            <p:cNvSpPr/>
            <p:nvPr/>
          </p:nvSpPr>
          <p:spPr>
            <a:xfrm>
              <a:off x="0" y="0"/>
              <a:ext cx="10741342" cy="438150"/>
            </a:xfrm>
            <a:custGeom>
              <a:avLst/>
              <a:gdLst/>
              <a:ahLst/>
              <a:cxnLst/>
              <a:rect l="l" t="t" r="r" b="b"/>
              <a:pathLst>
                <a:path w="10741342" h="438150">
                  <a:moveTo>
                    <a:pt x="0" y="0"/>
                  </a:moveTo>
                  <a:lnTo>
                    <a:pt x="10741342" y="0"/>
                  </a:lnTo>
                  <a:lnTo>
                    <a:pt x="10741342" y="438150"/>
                  </a:lnTo>
                  <a:lnTo>
                    <a:pt x="0" y="438150"/>
                  </a:lnTo>
                  <a:close/>
                </a:path>
              </a:pathLst>
            </a:custGeom>
            <a:blipFill>
              <a:blip r:embed="rId8">
                <a:alphaModFix amt="0"/>
              </a:blip>
              <a:stretch>
                <a:fillRect t="-427679" b="-427679"/>
              </a:stretch>
            </a:blipFill>
          </p:spPr>
        </p:sp>
        <p:sp>
          <p:nvSpPr>
            <p:cNvPr id="23" name="TextBox 23"/>
            <p:cNvSpPr txBox="1"/>
            <p:nvPr/>
          </p:nvSpPr>
          <p:spPr>
            <a:xfrm>
              <a:off x="0" y="0"/>
              <a:ext cx="10741342" cy="438150"/>
            </a:xfrm>
            <a:prstGeom prst="rect">
              <a:avLst/>
            </a:prstGeom>
          </p:spPr>
          <p:txBody>
            <a:bodyPr lIns="0" tIns="0" rIns="0" bIns="0" rtlCol="0" anchor="ctr"/>
            <a:lstStyle/>
            <a:p>
              <a:pPr algn="l">
                <a:lnSpc>
                  <a:spcPts val="2565"/>
                </a:lnSpc>
              </a:pPr>
              <a:r>
                <a:rPr lang="en-US" sz="2137">
                  <a:solidFill>
                    <a:srgbClr val="064E3B"/>
                  </a:solidFill>
                  <a:latin typeface="Inter"/>
                  <a:ea typeface="Inter"/>
                  <a:cs typeface="Inter"/>
                  <a:sym typeface="Inter"/>
                </a:rPr>
                <a:t>Appointment Summary</a:t>
              </a:r>
            </a:p>
          </p:txBody>
        </p:sp>
      </p:grpSp>
      <p:sp>
        <p:nvSpPr>
          <p:cNvPr id="24" name="TextBox 24"/>
          <p:cNvSpPr txBox="1"/>
          <p:nvPr/>
        </p:nvSpPr>
        <p:spPr>
          <a:xfrm>
            <a:off x="1414462" y="7592016"/>
            <a:ext cx="6986588" cy="367903"/>
          </a:xfrm>
          <a:prstGeom prst="rect">
            <a:avLst/>
          </a:prstGeom>
        </p:spPr>
        <p:txBody>
          <a:bodyPr lIns="0" tIns="0" rIns="0" bIns="0" rtlCol="0" anchor="t">
            <a:spAutoFit/>
          </a:bodyPr>
          <a:lstStyle/>
          <a:p>
            <a:pPr algn="l">
              <a:lnSpc>
                <a:spcPts val="2446"/>
              </a:lnSpc>
            </a:pPr>
            <a:r>
              <a:rPr lang="en-US" sz="1630" b="1">
                <a:solidFill>
                  <a:srgbClr val="065F46"/>
                </a:solidFill>
                <a:latin typeface="Inter Medium"/>
                <a:ea typeface="Inter Medium"/>
                <a:cs typeface="Inter Medium"/>
                <a:sym typeface="Inter Medium"/>
              </a:rPr>
              <a:t>Formally validated toward 5th Semester RTU curriculum credits.</a:t>
            </a:r>
          </a:p>
        </p:txBody>
      </p:sp>
      <p:grpSp>
        <p:nvGrpSpPr>
          <p:cNvPr id="25" name="Group 25"/>
          <p:cNvGrpSpPr/>
          <p:nvPr/>
        </p:nvGrpSpPr>
        <p:grpSpPr>
          <a:xfrm>
            <a:off x="13315950" y="4100065"/>
            <a:ext cx="328612" cy="428625"/>
            <a:chOff x="0" y="0"/>
            <a:chExt cx="438150" cy="571500"/>
          </a:xfrm>
        </p:grpSpPr>
        <p:sp>
          <p:nvSpPr>
            <p:cNvPr id="26" name="Freeform 26" descr="image.png"/>
            <p:cNvSpPr/>
            <p:nvPr/>
          </p:nvSpPr>
          <p:spPr>
            <a:xfrm>
              <a:off x="0" y="0"/>
              <a:ext cx="438150" cy="571500"/>
            </a:xfrm>
            <a:custGeom>
              <a:avLst/>
              <a:gdLst/>
              <a:ahLst/>
              <a:cxnLst/>
              <a:rect l="l" t="t" r="r" b="b"/>
              <a:pathLst>
                <a:path w="438150" h="571500">
                  <a:moveTo>
                    <a:pt x="0" y="0"/>
                  </a:moveTo>
                  <a:lnTo>
                    <a:pt x="438150" y="0"/>
                  </a:lnTo>
                  <a:lnTo>
                    <a:pt x="438150" y="571500"/>
                  </a:lnTo>
                  <a:lnTo>
                    <a:pt x="0" y="571500"/>
                  </a:lnTo>
                  <a:lnTo>
                    <a:pt x="0" y="0"/>
                  </a:lnTo>
                  <a:close/>
                </a:path>
              </a:pathLst>
            </a:custGeom>
            <a:blipFill>
              <a:blip r:embed="rId10"/>
              <a:stretch>
                <a:fillRect l="-489" r="-492"/>
              </a:stretch>
            </a:blipFill>
          </p:spPr>
        </p:sp>
      </p:grpSp>
      <p:grpSp>
        <p:nvGrpSpPr>
          <p:cNvPr id="27" name="Group 27"/>
          <p:cNvGrpSpPr/>
          <p:nvPr/>
        </p:nvGrpSpPr>
        <p:grpSpPr>
          <a:xfrm>
            <a:off x="11887200" y="7172544"/>
            <a:ext cx="171450" cy="200025"/>
            <a:chOff x="0" y="0"/>
            <a:chExt cx="228600" cy="266700"/>
          </a:xfrm>
        </p:grpSpPr>
        <p:sp>
          <p:nvSpPr>
            <p:cNvPr id="28" name="Freeform 28" descr="image.png"/>
            <p:cNvSpPr/>
            <p:nvPr/>
          </p:nvSpPr>
          <p:spPr>
            <a:xfrm>
              <a:off x="0" y="0"/>
              <a:ext cx="228600" cy="266700"/>
            </a:xfrm>
            <a:custGeom>
              <a:avLst/>
              <a:gdLst/>
              <a:ahLst/>
              <a:cxnLst/>
              <a:rect l="l" t="t" r="r" b="b"/>
              <a:pathLst>
                <a:path w="228600" h="266700">
                  <a:moveTo>
                    <a:pt x="0" y="0"/>
                  </a:moveTo>
                  <a:lnTo>
                    <a:pt x="228600" y="0"/>
                  </a:lnTo>
                  <a:lnTo>
                    <a:pt x="228600" y="266700"/>
                  </a:lnTo>
                  <a:lnTo>
                    <a:pt x="0" y="266700"/>
                  </a:lnTo>
                  <a:lnTo>
                    <a:pt x="0" y="0"/>
                  </a:lnTo>
                  <a:close/>
                </a:path>
              </a:pathLst>
            </a:custGeom>
            <a:blipFill>
              <a:blip r:embed="rId11"/>
              <a:stretch>
                <a:fillRect l="-555" r="-555"/>
              </a:stretch>
            </a:blipFill>
          </p:spPr>
        </p:sp>
      </p:grpSp>
      <p:grpSp>
        <p:nvGrpSpPr>
          <p:cNvPr id="29" name="Group 29"/>
          <p:cNvGrpSpPr/>
          <p:nvPr/>
        </p:nvGrpSpPr>
        <p:grpSpPr>
          <a:xfrm>
            <a:off x="1143000" y="3270047"/>
            <a:ext cx="214312" cy="185738"/>
            <a:chOff x="0" y="0"/>
            <a:chExt cx="285750" cy="247650"/>
          </a:xfrm>
        </p:grpSpPr>
        <p:sp>
          <p:nvSpPr>
            <p:cNvPr id="30" name="Freeform 30" descr="image.png"/>
            <p:cNvSpPr/>
            <p:nvPr/>
          </p:nvSpPr>
          <p:spPr>
            <a:xfrm>
              <a:off x="0" y="0"/>
              <a:ext cx="285750" cy="247650"/>
            </a:xfrm>
            <a:custGeom>
              <a:avLst/>
              <a:gdLst/>
              <a:ahLst/>
              <a:cxnLst/>
              <a:rect l="l" t="t" r="r" b="b"/>
              <a:pathLst>
                <a:path w="285750" h="247650">
                  <a:moveTo>
                    <a:pt x="0" y="0"/>
                  </a:moveTo>
                  <a:lnTo>
                    <a:pt x="285750" y="0"/>
                  </a:lnTo>
                  <a:lnTo>
                    <a:pt x="285750" y="247650"/>
                  </a:lnTo>
                  <a:lnTo>
                    <a:pt x="0" y="247650"/>
                  </a:lnTo>
                  <a:lnTo>
                    <a:pt x="0" y="0"/>
                  </a:lnTo>
                  <a:close/>
                </a:path>
              </a:pathLst>
            </a:custGeom>
            <a:blipFill>
              <a:blip r:embed="rId12"/>
              <a:stretch>
                <a:fillRect t="-3846" b="-3846"/>
              </a:stretch>
            </a:blipFill>
          </p:spPr>
        </p:sp>
      </p:grpSp>
      <p:grpSp>
        <p:nvGrpSpPr>
          <p:cNvPr id="31" name="Group 31"/>
          <p:cNvGrpSpPr/>
          <p:nvPr/>
        </p:nvGrpSpPr>
        <p:grpSpPr>
          <a:xfrm>
            <a:off x="1214438" y="7706316"/>
            <a:ext cx="214312" cy="207169"/>
            <a:chOff x="0" y="0"/>
            <a:chExt cx="285750" cy="276225"/>
          </a:xfrm>
        </p:grpSpPr>
        <p:sp>
          <p:nvSpPr>
            <p:cNvPr id="32" name="Freeform 32" descr="image.png"/>
            <p:cNvSpPr/>
            <p:nvPr/>
          </p:nvSpPr>
          <p:spPr>
            <a:xfrm>
              <a:off x="0" y="0"/>
              <a:ext cx="285750" cy="276225"/>
            </a:xfrm>
            <a:custGeom>
              <a:avLst/>
              <a:gdLst/>
              <a:ahLst/>
              <a:cxnLst/>
              <a:rect l="l" t="t" r="r" b="b"/>
              <a:pathLst>
                <a:path w="285750" h="276225">
                  <a:moveTo>
                    <a:pt x="0" y="0"/>
                  </a:moveTo>
                  <a:lnTo>
                    <a:pt x="285750" y="0"/>
                  </a:lnTo>
                  <a:lnTo>
                    <a:pt x="285750" y="276225"/>
                  </a:lnTo>
                  <a:lnTo>
                    <a:pt x="0" y="276225"/>
                  </a:lnTo>
                  <a:lnTo>
                    <a:pt x="0" y="0"/>
                  </a:lnTo>
                  <a:close/>
                </a:path>
              </a:pathLst>
            </a:custGeom>
            <a:blipFill>
              <a:blip r:embed="rId13"/>
              <a:stretch>
                <a:fillRect t="-1724" b="-1724"/>
              </a:stretch>
            </a:blipFill>
          </p:spPr>
        </p:sp>
      </p:grpSp>
      <p:sp>
        <p:nvSpPr>
          <p:cNvPr id="33" name="TextBox 33"/>
          <p:cNvSpPr txBox="1"/>
          <p:nvPr/>
        </p:nvSpPr>
        <p:spPr>
          <a:xfrm>
            <a:off x="954344" y="4355897"/>
            <a:ext cx="1865056" cy="217945"/>
          </a:xfrm>
          <a:prstGeom prst="rect">
            <a:avLst/>
          </a:prstGeom>
        </p:spPr>
        <p:txBody>
          <a:bodyPr wrap="square" lIns="0" tIns="0" rIns="0" bIns="0" rtlCol="0" anchor="t">
            <a:spAutoFit/>
          </a:bodyPr>
          <a:lstStyle/>
          <a:p>
            <a:pPr algn="l">
              <a:lnSpc>
                <a:spcPts val="1755"/>
              </a:lnSpc>
            </a:pPr>
            <a:r>
              <a:rPr lang="en-US" sz="1462" dirty="0">
                <a:solidFill>
                  <a:srgbClr val="64748B"/>
                </a:solidFill>
                <a:latin typeface="Inter"/>
                <a:ea typeface="Inter"/>
                <a:cs typeface="Inter"/>
                <a:sym typeface="Inter"/>
              </a:rPr>
              <a:t>DESIGNATED ROLE</a:t>
            </a:r>
          </a:p>
        </p:txBody>
      </p:sp>
      <p:sp>
        <p:nvSpPr>
          <p:cNvPr id="34" name="TextBox 34"/>
          <p:cNvSpPr txBox="1"/>
          <p:nvPr/>
        </p:nvSpPr>
        <p:spPr>
          <a:xfrm>
            <a:off x="971550" y="4527347"/>
            <a:ext cx="7672388" cy="421481"/>
          </a:xfrm>
          <a:prstGeom prst="rect">
            <a:avLst/>
          </a:prstGeom>
        </p:spPr>
        <p:txBody>
          <a:bodyPr lIns="0" tIns="0" rIns="0" bIns="0" rtlCol="0" anchor="t">
            <a:spAutoFit/>
          </a:bodyPr>
          <a:lstStyle/>
          <a:p>
            <a:pPr algn="l">
              <a:lnSpc>
                <a:spcPts val="2868"/>
              </a:lnSpc>
            </a:pPr>
            <a:r>
              <a:rPr lang="en-US" sz="1912">
                <a:solidFill>
                  <a:srgbClr val="064E3B"/>
                </a:solidFill>
                <a:latin typeface="Inter"/>
                <a:ea typeface="Inter"/>
                <a:cs typeface="Inter"/>
                <a:sym typeface="Inter"/>
              </a:rPr>
              <a:t>Data Science Intern</a:t>
            </a:r>
          </a:p>
        </p:txBody>
      </p:sp>
      <p:sp>
        <p:nvSpPr>
          <p:cNvPr id="35" name="TextBox 35"/>
          <p:cNvSpPr txBox="1"/>
          <p:nvPr/>
        </p:nvSpPr>
        <p:spPr>
          <a:xfrm>
            <a:off x="971550" y="5191716"/>
            <a:ext cx="1185862" cy="228600"/>
          </a:xfrm>
          <a:prstGeom prst="rect">
            <a:avLst/>
          </a:prstGeom>
        </p:spPr>
        <p:txBody>
          <a:bodyPr lIns="0" tIns="0" rIns="0" bIns="0" rtlCol="0" anchor="t">
            <a:spAutoFit/>
          </a:bodyPr>
          <a:lstStyle/>
          <a:p>
            <a:pPr algn="l">
              <a:lnSpc>
                <a:spcPts val="1755"/>
              </a:lnSpc>
            </a:pPr>
            <a:r>
              <a:rPr lang="en-US" sz="1462">
                <a:solidFill>
                  <a:srgbClr val="64748B"/>
                </a:solidFill>
                <a:latin typeface="Inter"/>
                <a:ea typeface="Inter"/>
                <a:cs typeface="Inter"/>
                <a:sym typeface="Inter"/>
              </a:rPr>
              <a:t>CORE TRACK</a:t>
            </a:r>
          </a:p>
        </p:txBody>
      </p:sp>
      <p:sp>
        <p:nvSpPr>
          <p:cNvPr id="36" name="TextBox 36"/>
          <p:cNvSpPr txBox="1"/>
          <p:nvPr/>
        </p:nvSpPr>
        <p:spPr>
          <a:xfrm>
            <a:off x="971550" y="5377453"/>
            <a:ext cx="7672388" cy="400050"/>
          </a:xfrm>
          <a:prstGeom prst="rect">
            <a:avLst/>
          </a:prstGeom>
        </p:spPr>
        <p:txBody>
          <a:bodyPr lIns="0" tIns="0" rIns="0" bIns="0" rtlCol="0" anchor="t">
            <a:spAutoFit/>
          </a:bodyPr>
          <a:lstStyle/>
          <a:p>
            <a:pPr algn="l">
              <a:lnSpc>
                <a:spcPts val="2700"/>
              </a:lnSpc>
            </a:pPr>
            <a:r>
              <a:rPr lang="en-US" sz="1800" b="1">
                <a:solidFill>
                  <a:srgbClr val="1E293B"/>
                </a:solidFill>
                <a:latin typeface="Inter Medium"/>
                <a:ea typeface="Inter Medium"/>
                <a:cs typeface="Inter Medium"/>
                <a:sym typeface="Inter Medium"/>
              </a:rPr>
              <a:t>Data Science with AI/ML</a:t>
            </a:r>
          </a:p>
        </p:txBody>
      </p:sp>
      <p:sp>
        <p:nvSpPr>
          <p:cNvPr id="37" name="TextBox 37"/>
          <p:cNvSpPr txBox="1"/>
          <p:nvPr/>
        </p:nvSpPr>
        <p:spPr>
          <a:xfrm>
            <a:off x="971550" y="6020391"/>
            <a:ext cx="2000250" cy="228600"/>
          </a:xfrm>
          <a:prstGeom prst="rect">
            <a:avLst/>
          </a:prstGeom>
        </p:spPr>
        <p:txBody>
          <a:bodyPr lIns="0" tIns="0" rIns="0" bIns="0" rtlCol="0" anchor="t">
            <a:spAutoFit/>
          </a:bodyPr>
          <a:lstStyle/>
          <a:p>
            <a:pPr algn="l">
              <a:lnSpc>
                <a:spcPts val="1755"/>
              </a:lnSpc>
            </a:pPr>
            <a:r>
              <a:rPr lang="en-US" sz="1462">
                <a:solidFill>
                  <a:srgbClr val="64748B"/>
                </a:solidFill>
                <a:latin typeface="Inter"/>
                <a:ea typeface="Inter"/>
                <a:cs typeface="Inter"/>
                <a:sym typeface="Inter"/>
              </a:rPr>
              <a:t>HOST ORGANIZATION</a:t>
            </a:r>
          </a:p>
        </p:txBody>
      </p:sp>
      <p:sp>
        <p:nvSpPr>
          <p:cNvPr id="38" name="TextBox 38"/>
          <p:cNvSpPr txBox="1"/>
          <p:nvPr/>
        </p:nvSpPr>
        <p:spPr>
          <a:xfrm>
            <a:off x="971550" y="6206128"/>
            <a:ext cx="7672388" cy="400050"/>
          </a:xfrm>
          <a:prstGeom prst="rect">
            <a:avLst/>
          </a:prstGeom>
        </p:spPr>
        <p:txBody>
          <a:bodyPr lIns="0" tIns="0" rIns="0" bIns="0" rtlCol="0" anchor="t">
            <a:spAutoFit/>
          </a:bodyPr>
          <a:lstStyle/>
          <a:p>
            <a:pPr algn="l">
              <a:lnSpc>
                <a:spcPts val="2700"/>
              </a:lnSpc>
            </a:pPr>
            <a:r>
              <a:rPr lang="en-US" sz="1800" b="1">
                <a:solidFill>
                  <a:srgbClr val="1E293B"/>
                </a:solidFill>
                <a:latin typeface="Inter Medium"/>
                <a:ea typeface="Inter Medium"/>
                <a:cs typeface="Inter Medium"/>
                <a:sym typeface="Inter Medium"/>
              </a:rPr>
              <a:t>GRRAS Solutions Pvt. Ltd.</a:t>
            </a:r>
          </a:p>
        </p:txBody>
      </p:sp>
      <p:sp>
        <p:nvSpPr>
          <p:cNvPr id="39" name="TextBox 39"/>
          <p:cNvSpPr txBox="1"/>
          <p:nvPr/>
        </p:nvSpPr>
        <p:spPr>
          <a:xfrm>
            <a:off x="971550" y="6849066"/>
            <a:ext cx="2514600" cy="228600"/>
          </a:xfrm>
          <a:prstGeom prst="rect">
            <a:avLst/>
          </a:prstGeom>
        </p:spPr>
        <p:txBody>
          <a:bodyPr lIns="0" tIns="0" rIns="0" bIns="0" rtlCol="0" anchor="t">
            <a:spAutoFit/>
          </a:bodyPr>
          <a:lstStyle/>
          <a:p>
            <a:pPr algn="l">
              <a:lnSpc>
                <a:spcPts val="1755"/>
              </a:lnSpc>
            </a:pPr>
            <a:r>
              <a:rPr lang="en-US" sz="1462">
                <a:solidFill>
                  <a:srgbClr val="64748B"/>
                </a:solidFill>
                <a:latin typeface="Inter"/>
                <a:ea typeface="Inter"/>
                <a:cs typeface="Inter"/>
                <a:sym typeface="Inter"/>
              </a:rPr>
              <a:t>EFFECTIVE DATE &amp; TENURE</a:t>
            </a:r>
          </a:p>
        </p:txBody>
      </p:sp>
      <p:sp>
        <p:nvSpPr>
          <p:cNvPr id="40" name="TextBox 40"/>
          <p:cNvSpPr txBox="1"/>
          <p:nvPr/>
        </p:nvSpPr>
        <p:spPr>
          <a:xfrm>
            <a:off x="971550" y="7034803"/>
            <a:ext cx="7672388" cy="400050"/>
          </a:xfrm>
          <a:prstGeom prst="rect">
            <a:avLst/>
          </a:prstGeom>
        </p:spPr>
        <p:txBody>
          <a:bodyPr lIns="0" tIns="0" rIns="0" bIns="0" rtlCol="0" anchor="t">
            <a:spAutoFit/>
          </a:bodyPr>
          <a:lstStyle/>
          <a:p>
            <a:pPr algn="l">
              <a:lnSpc>
                <a:spcPts val="2700"/>
              </a:lnSpc>
            </a:pPr>
            <a:r>
              <a:rPr lang="en-US" sz="1800">
                <a:solidFill>
                  <a:srgbClr val="D97706"/>
                </a:solidFill>
                <a:latin typeface="Inter"/>
                <a:ea typeface="Inter"/>
                <a:cs typeface="Inter"/>
                <a:sym typeface="Inter"/>
              </a:rPr>
              <a:t>22 May 2026 • 45 Calendar Days</a:t>
            </a:r>
          </a:p>
        </p:txBody>
      </p:sp>
      <p:grpSp>
        <p:nvGrpSpPr>
          <p:cNvPr id="41" name="Group 41"/>
          <p:cNvGrpSpPr/>
          <p:nvPr/>
        </p:nvGrpSpPr>
        <p:grpSpPr>
          <a:xfrm>
            <a:off x="10479881" y="1248725"/>
            <a:ext cx="6390377" cy="9038275"/>
            <a:chOff x="0" y="0"/>
            <a:chExt cx="13445071" cy="19016129"/>
          </a:xfrm>
        </p:grpSpPr>
        <p:sp>
          <p:nvSpPr>
            <p:cNvPr id="42" name="Freeform 42"/>
            <p:cNvSpPr/>
            <p:nvPr/>
          </p:nvSpPr>
          <p:spPr>
            <a:xfrm>
              <a:off x="0" y="0"/>
              <a:ext cx="13445110" cy="19016090"/>
            </a:xfrm>
            <a:custGeom>
              <a:avLst/>
              <a:gdLst/>
              <a:ahLst/>
              <a:cxnLst/>
              <a:rect l="l" t="t" r="r" b="b"/>
              <a:pathLst>
                <a:path w="13445110" h="19016090">
                  <a:moveTo>
                    <a:pt x="0" y="0"/>
                  </a:moveTo>
                  <a:lnTo>
                    <a:pt x="13445110" y="0"/>
                  </a:lnTo>
                  <a:lnTo>
                    <a:pt x="13445110" y="19016090"/>
                  </a:lnTo>
                  <a:lnTo>
                    <a:pt x="0" y="19016090"/>
                  </a:lnTo>
                  <a:lnTo>
                    <a:pt x="0" y="0"/>
                  </a:lnTo>
                  <a:close/>
                </a:path>
              </a:pathLst>
            </a:custGeom>
            <a:blipFill>
              <a:blip r:embed="rId14"/>
              <a:stretch>
                <a:fillRect/>
              </a:stretch>
            </a:blipFill>
          </p:spPr>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sp>
      </p:grpSp>
      <p:grpSp>
        <p:nvGrpSpPr>
          <p:cNvPr id="4" name="Group 4"/>
          <p:cNvGrpSpPr/>
          <p:nvPr/>
        </p:nvGrpSpPr>
        <p:grpSpPr>
          <a:xfrm>
            <a:off x="642938" y="6939258"/>
            <a:ext cx="17002125" cy="1168003"/>
            <a:chOff x="0" y="0"/>
            <a:chExt cx="22669500" cy="1557338"/>
          </a:xfrm>
        </p:grpSpPr>
        <p:sp>
          <p:nvSpPr>
            <p:cNvPr id="5" name="Freeform 5" descr="image.png"/>
            <p:cNvSpPr/>
            <p:nvPr/>
          </p:nvSpPr>
          <p:spPr>
            <a:xfrm>
              <a:off x="0" y="0"/>
              <a:ext cx="22669500" cy="1557274"/>
            </a:xfrm>
            <a:custGeom>
              <a:avLst/>
              <a:gdLst/>
              <a:ahLst/>
              <a:cxnLst/>
              <a:rect l="l" t="t" r="r" b="b"/>
              <a:pathLst>
                <a:path w="22669500" h="1557274">
                  <a:moveTo>
                    <a:pt x="0" y="0"/>
                  </a:moveTo>
                  <a:lnTo>
                    <a:pt x="22669500" y="0"/>
                  </a:lnTo>
                  <a:lnTo>
                    <a:pt x="22669500" y="1557274"/>
                  </a:lnTo>
                  <a:lnTo>
                    <a:pt x="0" y="1557274"/>
                  </a:lnTo>
                  <a:lnTo>
                    <a:pt x="0" y="0"/>
                  </a:lnTo>
                  <a:close/>
                </a:path>
              </a:pathLst>
            </a:custGeom>
            <a:blipFill>
              <a:blip r:embed="rId3"/>
              <a:stretch>
                <a:fillRect t="-679" b="-683"/>
              </a:stretch>
            </a:blipFill>
          </p:spPr>
        </p:sp>
      </p:grpSp>
      <p:grpSp>
        <p:nvGrpSpPr>
          <p:cNvPr id="6" name="Group 6"/>
          <p:cNvGrpSpPr/>
          <p:nvPr/>
        </p:nvGrpSpPr>
        <p:grpSpPr>
          <a:xfrm>
            <a:off x="642938" y="4224633"/>
            <a:ext cx="5476799" cy="2428875"/>
            <a:chOff x="0" y="0"/>
            <a:chExt cx="7302398" cy="3238500"/>
          </a:xfrm>
        </p:grpSpPr>
        <p:sp>
          <p:nvSpPr>
            <p:cNvPr id="7" name="Freeform 7" descr="image.png"/>
            <p:cNvSpPr/>
            <p:nvPr/>
          </p:nvSpPr>
          <p:spPr>
            <a:xfrm>
              <a:off x="0" y="0"/>
              <a:ext cx="7302373" cy="3238500"/>
            </a:xfrm>
            <a:custGeom>
              <a:avLst/>
              <a:gdLst/>
              <a:ahLst/>
              <a:cxnLst/>
              <a:rect l="l" t="t" r="r" b="b"/>
              <a:pathLst>
                <a:path w="7302373" h="3238500">
                  <a:moveTo>
                    <a:pt x="0" y="0"/>
                  </a:moveTo>
                  <a:lnTo>
                    <a:pt x="7302373" y="0"/>
                  </a:lnTo>
                  <a:lnTo>
                    <a:pt x="7302373" y="3238500"/>
                  </a:lnTo>
                  <a:lnTo>
                    <a:pt x="0" y="3238500"/>
                  </a:lnTo>
                  <a:lnTo>
                    <a:pt x="0" y="0"/>
                  </a:lnTo>
                  <a:close/>
                </a:path>
              </a:pathLst>
            </a:custGeom>
            <a:blipFill>
              <a:blip r:embed="rId4"/>
              <a:stretch>
                <a:fillRect t="-206" b="-205"/>
              </a:stretch>
            </a:blipFill>
          </p:spPr>
        </p:sp>
      </p:grpSp>
      <p:grpSp>
        <p:nvGrpSpPr>
          <p:cNvPr id="8" name="Group 8"/>
          <p:cNvGrpSpPr/>
          <p:nvPr/>
        </p:nvGrpSpPr>
        <p:grpSpPr>
          <a:xfrm>
            <a:off x="6405486" y="4224633"/>
            <a:ext cx="5476799" cy="2428875"/>
            <a:chOff x="0" y="0"/>
            <a:chExt cx="7302398" cy="3238500"/>
          </a:xfrm>
        </p:grpSpPr>
        <p:sp>
          <p:nvSpPr>
            <p:cNvPr id="9" name="Freeform 9" descr="image.png"/>
            <p:cNvSpPr/>
            <p:nvPr/>
          </p:nvSpPr>
          <p:spPr>
            <a:xfrm>
              <a:off x="0" y="0"/>
              <a:ext cx="7302373" cy="3238500"/>
            </a:xfrm>
            <a:custGeom>
              <a:avLst/>
              <a:gdLst/>
              <a:ahLst/>
              <a:cxnLst/>
              <a:rect l="l" t="t" r="r" b="b"/>
              <a:pathLst>
                <a:path w="7302373" h="3238500">
                  <a:moveTo>
                    <a:pt x="0" y="0"/>
                  </a:moveTo>
                  <a:lnTo>
                    <a:pt x="7302373" y="0"/>
                  </a:lnTo>
                  <a:lnTo>
                    <a:pt x="7302373" y="3238500"/>
                  </a:lnTo>
                  <a:lnTo>
                    <a:pt x="0" y="3238500"/>
                  </a:lnTo>
                  <a:lnTo>
                    <a:pt x="0" y="0"/>
                  </a:lnTo>
                  <a:close/>
                </a:path>
              </a:pathLst>
            </a:custGeom>
            <a:blipFill>
              <a:blip r:embed="rId4"/>
              <a:stretch>
                <a:fillRect t="-206" b="-205"/>
              </a:stretch>
            </a:blipFill>
          </p:spPr>
        </p:sp>
      </p:grpSp>
      <p:grpSp>
        <p:nvGrpSpPr>
          <p:cNvPr id="10" name="Group 10"/>
          <p:cNvGrpSpPr/>
          <p:nvPr/>
        </p:nvGrpSpPr>
        <p:grpSpPr>
          <a:xfrm>
            <a:off x="12168035" y="4224633"/>
            <a:ext cx="5477027" cy="2428875"/>
            <a:chOff x="0" y="0"/>
            <a:chExt cx="7302703" cy="3238500"/>
          </a:xfrm>
        </p:grpSpPr>
        <p:sp>
          <p:nvSpPr>
            <p:cNvPr id="11" name="Freeform 11" descr="image.png"/>
            <p:cNvSpPr/>
            <p:nvPr/>
          </p:nvSpPr>
          <p:spPr>
            <a:xfrm>
              <a:off x="0" y="0"/>
              <a:ext cx="7302754" cy="3238500"/>
            </a:xfrm>
            <a:custGeom>
              <a:avLst/>
              <a:gdLst/>
              <a:ahLst/>
              <a:cxnLst/>
              <a:rect l="l" t="t" r="r" b="b"/>
              <a:pathLst>
                <a:path w="7302754" h="3238500">
                  <a:moveTo>
                    <a:pt x="0" y="0"/>
                  </a:moveTo>
                  <a:lnTo>
                    <a:pt x="7302754" y="0"/>
                  </a:lnTo>
                  <a:lnTo>
                    <a:pt x="7302754" y="3238500"/>
                  </a:lnTo>
                  <a:lnTo>
                    <a:pt x="0" y="3238500"/>
                  </a:lnTo>
                  <a:lnTo>
                    <a:pt x="0" y="0"/>
                  </a:lnTo>
                  <a:close/>
                </a:path>
              </a:pathLst>
            </a:custGeom>
            <a:blipFill>
              <a:blip r:embed="rId4"/>
              <a:stretch>
                <a:fillRect t="-208" b="-208"/>
              </a:stretch>
            </a:blipFill>
          </p:spPr>
        </p:sp>
      </p:grpSp>
      <p:sp>
        <p:nvSpPr>
          <p:cNvPr id="12" name="TextBox 12"/>
          <p:cNvSpPr txBox="1"/>
          <p:nvPr/>
        </p:nvSpPr>
        <p:spPr>
          <a:xfrm>
            <a:off x="642938" y="490537"/>
            <a:ext cx="7368502" cy="566737"/>
          </a:xfrm>
          <a:prstGeom prst="rect">
            <a:avLst/>
          </a:prstGeom>
        </p:spPr>
        <p:txBody>
          <a:bodyPr lIns="0" tIns="0" rIns="0" bIns="0" rtlCol="0" anchor="t">
            <a:spAutoFit/>
          </a:bodyPr>
          <a:lstStyle/>
          <a:p>
            <a:pPr algn="l">
              <a:lnSpc>
                <a:spcPts val="4320"/>
              </a:lnSpc>
            </a:pPr>
            <a:r>
              <a:rPr lang="en-US" sz="3600" b="1">
                <a:solidFill>
                  <a:srgbClr val="064E3B"/>
                </a:solidFill>
                <a:latin typeface="Inter Bold"/>
                <a:ea typeface="Inter Bold"/>
                <a:cs typeface="Inter Bold"/>
                <a:sym typeface="Inter Bold"/>
              </a:rPr>
              <a:t>About GRRAS Solutions Pvt. Ltd.</a:t>
            </a:r>
          </a:p>
        </p:txBody>
      </p:sp>
      <p:grpSp>
        <p:nvGrpSpPr>
          <p:cNvPr id="13" name="Group 13"/>
          <p:cNvGrpSpPr/>
          <p:nvPr/>
        </p:nvGrpSpPr>
        <p:grpSpPr>
          <a:xfrm>
            <a:off x="14596243" y="628650"/>
            <a:ext cx="3048819" cy="428625"/>
            <a:chOff x="0" y="0"/>
            <a:chExt cx="4065092" cy="571500"/>
          </a:xfrm>
        </p:grpSpPr>
        <p:sp>
          <p:nvSpPr>
            <p:cNvPr id="14" name="Freeform 14" descr="image.png"/>
            <p:cNvSpPr/>
            <p:nvPr/>
          </p:nvSpPr>
          <p:spPr>
            <a:xfrm>
              <a:off x="0" y="0"/>
              <a:ext cx="4065143" cy="571500"/>
            </a:xfrm>
            <a:custGeom>
              <a:avLst/>
              <a:gdLst/>
              <a:ahLst/>
              <a:cxnLst/>
              <a:rect l="l" t="t" r="r" b="b"/>
              <a:pathLst>
                <a:path w="4065143" h="571500">
                  <a:moveTo>
                    <a:pt x="0" y="0"/>
                  </a:moveTo>
                  <a:lnTo>
                    <a:pt x="4065143" y="0"/>
                  </a:lnTo>
                  <a:lnTo>
                    <a:pt x="4065143" y="571500"/>
                  </a:lnTo>
                  <a:lnTo>
                    <a:pt x="0" y="571500"/>
                  </a:lnTo>
                  <a:lnTo>
                    <a:pt x="0" y="0"/>
                  </a:lnTo>
                  <a:close/>
                </a:path>
              </a:pathLst>
            </a:custGeom>
            <a:blipFill>
              <a:blip r:embed="rId5"/>
              <a:stretch>
                <a:fillRect l="-142" r="-141"/>
              </a:stretch>
            </a:blipFill>
          </p:spPr>
        </p:sp>
      </p:grpSp>
      <p:sp>
        <p:nvSpPr>
          <p:cNvPr id="15" name="TextBox 15"/>
          <p:cNvSpPr txBox="1"/>
          <p:nvPr/>
        </p:nvSpPr>
        <p:spPr>
          <a:xfrm>
            <a:off x="642938" y="3141764"/>
            <a:ext cx="17002125" cy="797119"/>
          </a:xfrm>
          <a:prstGeom prst="rect">
            <a:avLst/>
          </a:prstGeom>
        </p:spPr>
        <p:txBody>
          <a:bodyPr lIns="0" tIns="0" rIns="0" bIns="0" rtlCol="0" anchor="t">
            <a:spAutoFit/>
          </a:bodyPr>
          <a:lstStyle/>
          <a:p>
            <a:pPr algn="l">
              <a:lnSpc>
                <a:spcPts val="2877"/>
              </a:lnSpc>
            </a:pPr>
            <a:r>
              <a:rPr lang="en-US" sz="1855">
                <a:solidFill>
                  <a:srgbClr val="475569"/>
                </a:solidFill>
                <a:latin typeface="Inter"/>
                <a:ea typeface="Inter"/>
                <a:cs typeface="Inter"/>
                <a:sym typeface="Inter"/>
              </a:rPr>
              <a:t>GRRAS Solutions Pvt. Ltd. provided a practical, industry-aligned environment focused on translating theoretical principles into robust software applications:</a:t>
            </a:r>
          </a:p>
        </p:txBody>
      </p:sp>
      <p:grpSp>
        <p:nvGrpSpPr>
          <p:cNvPr id="16" name="Group 16"/>
          <p:cNvGrpSpPr/>
          <p:nvPr/>
        </p:nvGrpSpPr>
        <p:grpSpPr>
          <a:xfrm>
            <a:off x="15059025" y="7337527"/>
            <a:ext cx="2257425" cy="371475"/>
            <a:chOff x="0" y="0"/>
            <a:chExt cx="3009900" cy="495300"/>
          </a:xfrm>
        </p:grpSpPr>
        <p:sp>
          <p:nvSpPr>
            <p:cNvPr id="17" name="Freeform 17" descr="image.png"/>
            <p:cNvSpPr/>
            <p:nvPr/>
          </p:nvSpPr>
          <p:spPr>
            <a:xfrm>
              <a:off x="0" y="0"/>
              <a:ext cx="3009900" cy="495300"/>
            </a:xfrm>
            <a:custGeom>
              <a:avLst/>
              <a:gdLst/>
              <a:ahLst/>
              <a:cxnLst/>
              <a:rect l="l" t="t" r="r" b="b"/>
              <a:pathLst>
                <a:path w="3009900" h="495300">
                  <a:moveTo>
                    <a:pt x="0" y="0"/>
                  </a:moveTo>
                  <a:lnTo>
                    <a:pt x="3009900" y="0"/>
                  </a:lnTo>
                  <a:lnTo>
                    <a:pt x="3009900" y="495300"/>
                  </a:lnTo>
                  <a:lnTo>
                    <a:pt x="0" y="495300"/>
                  </a:lnTo>
                  <a:lnTo>
                    <a:pt x="0" y="0"/>
                  </a:lnTo>
                  <a:close/>
                </a:path>
              </a:pathLst>
            </a:custGeom>
            <a:blipFill>
              <a:blip r:embed="rId6"/>
              <a:stretch>
                <a:fillRect t="-1923" b="-1923"/>
              </a:stretch>
            </a:blipFill>
          </p:spPr>
        </p:sp>
      </p:grpSp>
      <p:grpSp>
        <p:nvGrpSpPr>
          <p:cNvPr id="18" name="Group 18"/>
          <p:cNvGrpSpPr/>
          <p:nvPr/>
        </p:nvGrpSpPr>
        <p:grpSpPr>
          <a:xfrm>
            <a:off x="1328738" y="4553245"/>
            <a:ext cx="4685509" cy="328612"/>
            <a:chOff x="0" y="0"/>
            <a:chExt cx="6247346" cy="438150"/>
          </a:xfrm>
        </p:grpSpPr>
        <p:sp>
          <p:nvSpPr>
            <p:cNvPr id="19" name="Freeform 19"/>
            <p:cNvSpPr/>
            <p:nvPr/>
          </p:nvSpPr>
          <p:spPr>
            <a:xfrm>
              <a:off x="0" y="0"/>
              <a:ext cx="6247342" cy="438150"/>
            </a:xfrm>
            <a:custGeom>
              <a:avLst/>
              <a:gdLst/>
              <a:ahLst/>
              <a:cxnLst/>
              <a:rect l="l" t="t" r="r" b="b"/>
              <a:pathLst>
                <a:path w="6247342" h="438150">
                  <a:moveTo>
                    <a:pt x="0" y="0"/>
                  </a:moveTo>
                  <a:lnTo>
                    <a:pt x="6247342" y="0"/>
                  </a:lnTo>
                  <a:lnTo>
                    <a:pt x="6247342" y="438150"/>
                  </a:lnTo>
                  <a:lnTo>
                    <a:pt x="0" y="438150"/>
                  </a:lnTo>
                  <a:close/>
                </a:path>
              </a:pathLst>
            </a:custGeom>
            <a:blipFill>
              <a:blip r:embed="rId7">
                <a:alphaModFix amt="0"/>
              </a:blip>
              <a:stretch>
                <a:fillRect t="-227826" b="-227826"/>
              </a:stretch>
            </a:blipFill>
          </p:spPr>
        </p:sp>
        <p:sp>
          <p:nvSpPr>
            <p:cNvPr id="20" name="TextBox 20"/>
            <p:cNvSpPr txBox="1"/>
            <p:nvPr/>
          </p:nvSpPr>
          <p:spPr>
            <a:xfrm>
              <a:off x="0" y="0"/>
              <a:ext cx="6247346" cy="438150"/>
            </a:xfrm>
            <a:prstGeom prst="rect">
              <a:avLst/>
            </a:prstGeom>
          </p:spPr>
          <p:txBody>
            <a:bodyPr lIns="0" tIns="0" rIns="0" bIns="0" rtlCol="0" anchor="ctr"/>
            <a:lstStyle/>
            <a:p>
              <a:pPr algn="l">
                <a:lnSpc>
                  <a:spcPts val="2565"/>
                </a:lnSpc>
              </a:pPr>
              <a:r>
                <a:rPr lang="en-US" sz="2137">
                  <a:solidFill>
                    <a:srgbClr val="064E3B"/>
                  </a:solidFill>
                  <a:latin typeface="Inter"/>
                  <a:ea typeface="Inter"/>
                  <a:cs typeface="Inter"/>
                  <a:sym typeface="Inter"/>
                </a:rPr>
                <a:t> Modern Python</a:t>
              </a:r>
            </a:p>
          </p:txBody>
        </p:sp>
      </p:grpSp>
      <p:sp>
        <p:nvSpPr>
          <p:cNvPr id="21" name="TextBox 21"/>
          <p:cNvSpPr txBox="1"/>
          <p:nvPr/>
        </p:nvSpPr>
        <p:spPr>
          <a:xfrm>
            <a:off x="971550" y="4967583"/>
            <a:ext cx="4819574" cy="1053703"/>
          </a:xfrm>
          <a:prstGeom prst="rect">
            <a:avLst/>
          </a:prstGeom>
        </p:spPr>
        <p:txBody>
          <a:bodyPr lIns="0" tIns="0" rIns="0" bIns="0" rtlCol="0" anchor="t">
            <a:spAutoFit/>
          </a:bodyPr>
          <a:lstStyle/>
          <a:p>
            <a:pPr algn="l">
              <a:lnSpc>
                <a:spcPts val="2614"/>
              </a:lnSpc>
            </a:pPr>
            <a:r>
              <a:rPr lang="en-US" sz="1743">
                <a:solidFill>
                  <a:srgbClr val="475569"/>
                </a:solidFill>
                <a:latin typeface="Inter"/>
                <a:ea typeface="Inter"/>
                <a:cs typeface="Inter"/>
                <a:sym typeface="Inter"/>
              </a:rPr>
              <a:t>Developing clean, modular scripts, standard libraries, object-oriented design patterns, and computationally efficient workflows.</a:t>
            </a:r>
          </a:p>
        </p:txBody>
      </p:sp>
      <p:grpSp>
        <p:nvGrpSpPr>
          <p:cNvPr id="22" name="Group 22"/>
          <p:cNvGrpSpPr/>
          <p:nvPr/>
        </p:nvGrpSpPr>
        <p:grpSpPr>
          <a:xfrm>
            <a:off x="7119861" y="4553245"/>
            <a:ext cx="4655506" cy="328612"/>
            <a:chOff x="0" y="0"/>
            <a:chExt cx="6207341" cy="438150"/>
          </a:xfrm>
        </p:grpSpPr>
        <p:sp>
          <p:nvSpPr>
            <p:cNvPr id="23" name="Freeform 23"/>
            <p:cNvSpPr/>
            <p:nvPr/>
          </p:nvSpPr>
          <p:spPr>
            <a:xfrm>
              <a:off x="0" y="0"/>
              <a:ext cx="6207338" cy="438150"/>
            </a:xfrm>
            <a:custGeom>
              <a:avLst/>
              <a:gdLst/>
              <a:ahLst/>
              <a:cxnLst/>
              <a:rect l="l" t="t" r="r" b="b"/>
              <a:pathLst>
                <a:path w="6207338" h="438150">
                  <a:moveTo>
                    <a:pt x="0" y="0"/>
                  </a:moveTo>
                  <a:lnTo>
                    <a:pt x="6207338" y="0"/>
                  </a:lnTo>
                  <a:lnTo>
                    <a:pt x="6207338" y="438150"/>
                  </a:lnTo>
                  <a:lnTo>
                    <a:pt x="0" y="438150"/>
                  </a:lnTo>
                  <a:close/>
                </a:path>
              </a:pathLst>
            </a:custGeom>
            <a:blipFill>
              <a:blip r:embed="rId7">
                <a:alphaModFix amt="0"/>
              </a:blip>
              <a:stretch>
                <a:fillRect t="-226047" b="-226047"/>
              </a:stretch>
            </a:blipFill>
          </p:spPr>
        </p:sp>
        <p:sp>
          <p:nvSpPr>
            <p:cNvPr id="24" name="TextBox 24"/>
            <p:cNvSpPr txBox="1"/>
            <p:nvPr/>
          </p:nvSpPr>
          <p:spPr>
            <a:xfrm>
              <a:off x="0" y="0"/>
              <a:ext cx="6207341" cy="438150"/>
            </a:xfrm>
            <a:prstGeom prst="rect">
              <a:avLst/>
            </a:prstGeom>
          </p:spPr>
          <p:txBody>
            <a:bodyPr lIns="0" tIns="0" rIns="0" bIns="0" rtlCol="0" anchor="ctr"/>
            <a:lstStyle/>
            <a:p>
              <a:pPr algn="l">
                <a:lnSpc>
                  <a:spcPts val="2565"/>
                </a:lnSpc>
              </a:pPr>
              <a:r>
                <a:rPr lang="en-US" sz="2137">
                  <a:solidFill>
                    <a:srgbClr val="064E3B"/>
                  </a:solidFill>
                  <a:latin typeface="Inter"/>
                  <a:ea typeface="Inter"/>
                  <a:cs typeface="Inter"/>
                  <a:sym typeface="Inter"/>
                </a:rPr>
                <a:t>Data Science &amp; EDA</a:t>
              </a:r>
            </a:p>
          </p:txBody>
        </p:sp>
      </p:grpSp>
      <p:sp>
        <p:nvSpPr>
          <p:cNvPr id="25" name="TextBox 25"/>
          <p:cNvSpPr txBox="1"/>
          <p:nvPr/>
        </p:nvSpPr>
        <p:spPr>
          <a:xfrm>
            <a:off x="6734099" y="4967583"/>
            <a:ext cx="4819574" cy="1385888"/>
          </a:xfrm>
          <a:prstGeom prst="rect">
            <a:avLst/>
          </a:prstGeom>
        </p:spPr>
        <p:txBody>
          <a:bodyPr lIns="0" tIns="0" rIns="0" bIns="0" rtlCol="0" anchor="t">
            <a:spAutoFit/>
          </a:bodyPr>
          <a:lstStyle/>
          <a:p>
            <a:pPr algn="l">
              <a:lnSpc>
                <a:spcPts val="2614"/>
              </a:lnSpc>
            </a:pPr>
            <a:r>
              <a:rPr lang="en-US" sz="1743">
                <a:solidFill>
                  <a:srgbClr val="475569"/>
                </a:solidFill>
                <a:latin typeface="Inter"/>
                <a:ea typeface="Inter"/>
                <a:cs typeface="Inter"/>
                <a:sym typeface="Inter"/>
              </a:rPr>
              <a:t>Data preprocessing, handling missing/inconsistent values, exploratory statistical analysis, and interactive visual reporting.</a:t>
            </a:r>
          </a:p>
        </p:txBody>
      </p:sp>
      <p:grpSp>
        <p:nvGrpSpPr>
          <p:cNvPr id="26" name="Group 26"/>
          <p:cNvGrpSpPr/>
          <p:nvPr/>
        </p:nvGrpSpPr>
        <p:grpSpPr>
          <a:xfrm>
            <a:off x="12882410" y="4553245"/>
            <a:ext cx="4655734" cy="328612"/>
            <a:chOff x="0" y="0"/>
            <a:chExt cx="6207646" cy="438150"/>
          </a:xfrm>
        </p:grpSpPr>
        <p:sp>
          <p:nvSpPr>
            <p:cNvPr id="27" name="Freeform 27"/>
            <p:cNvSpPr/>
            <p:nvPr/>
          </p:nvSpPr>
          <p:spPr>
            <a:xfrm>
              <a:off x="0" y="0"/>
              <a:ext cx="6207650" cy="438150"/>
            </a:xfrm>
            <a:custGeom>
              <a:avLst/>
              <a:gdLst/>
              <a:ahLst/>
              <a:cxnLst/>
              <a:rect l="l" t="t" r="r" b="b"/>
              <a:pathLst>
                <a:path w="6207650" h="438150">
                  <a:moveTo>
                    <a:pt x="0" y="0"/>
                  </a:moveTo>
                  <a:lnTo>
                    <a:pt x="6207650" y="0"/>
                  </a:lnTo>
                  <a:lnTo>
                    <a:pt x="6207650" y="438150"/>
                  </a:lnTo>
                  <a:lnTo>
                    <a:pt x="0" y="438150"/>
                  </a:lnTo>
                  <a:close/>
                </a:path>
              </a:pathLst>
            </a:custGeom>
            <a:blipFill>
              <a:blip r:embed="rId7">
                <a:alphaModFix amt="0"/>
              </a:blip>
              <a:stretch>
                <a:fillRect t="-226061" b="-226061"/>
              </a:stretch>
            </a:blipFill>
          </p:spPr>
        </p:sp>
        <p:sp>
          <p:nvSpPr>
            <p:cNvPr id="28" name="TextBox 28"/>
            <p:cNvSpPr txBox="1"/>
            <p:nvPr/>
          </p:nvSpPr>
          <p:spPr>
            <a:xfrm>
              <a:off x="0" y="0"/>
              <a:ext cx="6207646" cy="438150"/>
            </a:xfrm>
            <a:prstGeom prst="rect">
              <a:avLst/>
            </a:prstGeom>
          </p:spPr>
          <p:txBody>
            <a:bodyPr lIns="0" tIns="0" rIns="0" bIns="0" rtlCol="0" anchor="ctr"/>
            <a:lstStyle/>
            <a:p>
              <a:pPr algn="l">
                <a:lnSpc>
                  <a:spcPts val="2565"/>
                </a:lnSpc>
              </a:pPr>
              <a:r>
                <a:rPr lang="en-US" sz="2137">
                  <a:solidFill>
                    <a:srgbClr val="064E3B"/>
                  </a:solidFill>
                  <a:latin typeface="Inter"/>
                  <a:ea typeface="Inter"/>
                  <a:cs typeface="Inter"/>
                  <a:sym typeface="Inter"/>
                </a:rPr>
                <a:t>Machine Learning &amp; AI</a:t>
              </a:r>
            </a:p>
          </p:txBody>
        </p:sp>
      </p:grpSp>
      <p:sp>
        <p:nvSpPr>
          <p:cNvPr id="29" name="TextBox 29"/>
          <p:cNvSpPr txBox="1"/>
          <p:nvPr/>
        </p:nvSpPr>
        <p:spPr>
          <a:xfrm>
            <a:off x="12496648" y="4967583"/>
            <a:ext cx="4819802" cy="1053703"/>
          </a:xfrm>
          <a:prstGeom prst="rect">
            <a:avLst/>
          </a:prstGeom>
        </p:spPr>
        <p:txBody>
          <a:bodyPr lIns="0" tIns="0" rIns="0" bIns="0" rtlCol="0" anchor="t">
            <a:spAutoFit/>
          </a:bodyPr>
          <a:lstStyle/>
          <a:p>
            <a:pPr algn="l">
              <a:lnSpc>
                <a:spcPts val="2614"/>
              </a:lnSpc>
            </a:pPr>
            <a:r>
              <a:rPr lang="en-US" sz="1743">
                <a:solidFill>
                  <a:srgbClr val="475569"/>
                </a:solidFill>
                <a:latin typeface="Inter"/>
                <a:ea typeface="Inter"/>
                <a:cs typeface="Inter"/>
                <a:sym typeface="Inter"/>
              </a:rPr>
              <a:t>Designing predictive models, supervised classification algorithms, unsupervised anomaly detection, and evaluation pipelines.</a:t>
            </a:r>
          </a:p>
        </p:txBody>
      </p:sp>
      <p:sp>
        <p:nvSpPr>
          <p:cNvPr id="30" name="TextBox 30"/>
          <p:cNvSpPr txBox="1"/>
          <p:nvPr/>
        </p:nvSpPr>
        <p:spPr>
          <a:xfrm>
            <a:off x="971550" y="7225008"/>
            <a:ext cx="2372392" cy="228600"/>
          </a:xfrm>
          <a:prstGeom prst="rect">
            <a:avLst/>
          </a:prstGeom>
        </p:spPr>
        <p:txBody>
          <a:bodyPr lIns="0" tIns="0" rIns="0" bIns="0" rtlCol="0" anchor="t">
            <a:spAutoFit/>
          </a:bodyPr>
          <a:lstStyle/>
          <a:p>
            <a:pPr algn="l">
              <a:lnSpc>
                <a:spcPts val="1755"/>
              </a:lnSpc>
            </a:pPr>
            <a:r>
              <a:rPr lang="en-US" sz="1462" b="1">
                <a:solidFill>
                  <a:srgbClr val="047857"/>
                </a:solidFill>
                <a:latin typeface="Inter Bold"/>
                <a:ea typeface="Inter Bold"/>
                <a:cs typeface="Inter Bold"/>
                <a:sym typeface="Inter Bold"/>
              </a:rPr>
              <a:t>PRACTICAL PEDAGOGY</a:t>
            </a:r>
          </a:p>
        </p:txBody>
      </p:sp>
      <p:sp>
        <p:nvSpPr>
          <p:cNvPr id="31" name="TextBox 31"/>
          <p:cNvSpPr txBox="1"/>
          <p:nvPr/>
        </p:nvSpPr>
        <p:spPr>
          <a:xfrm>
            <a:off x="971550" y="7453608"/>
            <a:ext cx="6843712" cy="410766"/>
          </a:xfrm>
          <a:prstGeom prst="rect">
            <a:avLst/>
          </a:prstGeom>
        </p:spPr>
        <p:txBody>
          <a:bodyPr lIns="0" tIns="0" rIns="0" bIns="0" rtlCol="0" anchor="t">
            <a:spAutoFit/>
          </a:bodyPr>
          <a:lstStyle/>
          <a:p>
            <a:pPr algn="l">
              <a:lnSpc>
                <a:spcPts val="2783"/>
              </a:lnSpc>
            </a:pPr>
            <a:r>
              <a:rPr lang="en-US" sz="1855">
                <a:solidFill>
                  <a:srgbClr val="064E3B"/>
                </a:solidFill>
                <a:latin typeface="Inter"/>
                <a:ea typeface="Inter"/>
                <a:cs typeface="Inter"/>
                <a:sym typeface="Inter"/>
              </a:rPr>
              <a:t>Learn Concepts  →  Practice with Code  →  Apply to Projects</a:t>
            </a:r>
          </a:p>
        </p:txBody>
      </p:sp>
      <p:grpSp>
        <p:nvGrpSpPr>
          <p:cNvPr id="32" name="Group 32"/>
          <p:cNvGrpSpPr/>
          <p:nvPr/>
        </p:nvGrpSpPr>
        <p:grpSpPr>
          <a:xfrm>
            <a:off x="971550" y="4581820"/>
            <a:ext cx="242888" cy="271462"/>
            <a:chOff x="0" y="0"/>
            <a:chExt cx="323850" cy="361950"/>
          </a:xfrm>
        </p:grpSpPr>
        <p:sp>
          <p:nvSpPr>
            <p:cNvPr id="33" name="Freeform 33" descr="image.png"/>
            <p:cNvSpPr/>
            <p:nvPr/>
          </p:nvSpPr>
          <p:spPr>
            <a:xfrm>
              <a:off x="0" y="0"/>
              <a:ext cx="323850" cy="361950"/>
            </a:xfrm>
            <a:custGeom>
              <a:avLst/>
              <a:gdLst/>
              <a:ahLst/>
              <a:cxnLst/>
              <a:rect l="l" t="t" r="r" b="b"/>
              <a:pathLst>
                <a:path w="323850" h="361950">
                  <a:moveTo>
                    <a:pt x="0" y="0"/>
                  </a:moveTo>
                  <a:lnTo>
                    <a:pt x="323850" y="0"/>
                  </a:lnTo>
                  <a:lnTo>
                    <a:pt x="323850" y="361950"/>
                  </a:lnTo>
                  <a:lnTo>
                    <a:pt x="0" y="361950"/>
                  </a:lnTo>
                  <a:lnTo>
                    <a:pt x="0" y="0"/>
                  </a:lnTo>
                  <a:close/>
                </a:path>
              </a:pathLst>
            </a:custGeom>
            <a:blipFill>
              <a:blip r:embed="rId8"/>
              <a:stretch>
                <a:fillRect t="-2631" b="-2631"/>
              </a:stretch>
            </a:blipFill>
          </p:spPr>
        </p:sp>
      </p:grpSp>
      <p:grpSp>
        <p:nvGrpSpPr>
          <p:cNvPr id="34" name="Group 34"/>
          <p:cNvGrpSpPr/>
          <p:nvPr/>
        </p:nvGrpSpPr>
        <p:grpSpPr>
          <a:xfrm>
            <a:off x="6734099" y="4581820"/>
            <a:ext cx="271462" cy="271462"/>
            <a:chOff x="0" y="0"/>
            <a:chExt cx="361950" cy="361950"/>
          </a:xfrm>
        </p:grpSpPr>
        <p:sp>
          <p:nvSpPr>
            <p:cNvPr id="35" name="Freeform 35" descr="image.png"/>
            <p:cNvSpPr/>
            <p:nvPr/>
          </p:nvSpPr>
          <p:spPr>
            <a:xfrm>
              <a:off x="0" y="0"/>
              <a:ext cx="361950" cy="361950"/>
            </a:xfrm>
            <a:custGeom>
              <a:avLst/>
              <a:gdLst/>
              <a:ahLst/>
              <a:cxnLst/>
              <a:rect l="l" t="t" r="r" b="b"/>
              <a:pathLst>
                <a:path w="361950" h="361950">
                  <a:moveTo>
                    <a:pt x="0" y="0"/>
                  </a:moveTo>
                  <a:lnTo>
                    <a:pt x="361950" y="0"/>
                  </a:lnTo>
                  <a:lnTo>
                    <a:pt x="361950" y="361950"/>
                  </a:lnTo>
                  <a:lnTo>
                    <a:pt x="0" y="361950"/>
                  </a:lnTo>
                  <a:lnTo>
                    <a:pt x="0" y="0"/>
                  </a:lnTo>
                  <a:close/>
                </a:path>
              </a:pathLst>
            </a:custGeom>
            <a:blipFill>
              <a:blip r:embed="rId9"/>
              <a:stretch>
                <a:fillRect t="-2631" b="-2631"/>
              </a:stretch>
            </a:blipFill>
          </p:spPr>
        </p:sp>
      </p:grpSp>
      <p:grpSp>
        <p:nvGrpSpPr>
          <p:cNvPr id="36" name="Group 36"/>
          <p:cNvGrpSpPr/>
          <p:nvPr/>
        </p:nvGrpSpPr>
        <p:grpSpPr>
          <a:xfrm>
            <a:off x="12496648" y="4581820"/>
            <a:ext cx="271462" cy="271462"/>
            <a:chOff x="0" y="0"/>
            <a:chExt cx="361950" cy="361950"/>
          </a:xfrm>
        </p:grpSpPr>
        <p:sp>
          <p:nvSpPr>
            <p:cNvPr id="37" name="Freeform 37" descr="image.png"/>
            <p:cNvSpPr/>
            <p:nvPr/>
          </p:nvSpPr>
          <p:spPr>
            <a:xfrm>
              <a:off x="0" y="0"/>
              <a:ext cx="361950" cy="361950"/>
            </a:xfrm>
            <a:custGeom>
              <a:avLst/>
              <a:gdLst/>
              <a:ahLst/>
              <a:cxnLst/>
              <a:rect l="l" t="t" r="r" b="b"/>
              <a:pathLst>
                <a:path w="361950" h="361950">
                  <a:moveTo>
                    <a:pt x="0" y="0"/>
                  </a:moveTo>
                  <a:lnTo>
                    <a:pt x="361950" y="0"/>
                  </a:lnTo>
                  <a:lnTo>
                    <a:pt x="361950" y="361950"/>
                  </a:lnTo>
                  <a:lnTo>
                    <a:pt x="0" y="361950"/>
                  </a:lnTo>
                  <a:lnTo>
                    <a:pt x="0" y="0"/>
                  </a:lnTo>
                  <a:close/>
                </a:path>
              </a:pathLst>
            </a:custGeom>
            <a:blipFill>
              <a:blip r:embed="rId10"/>
              <a:stretch>
                <a:fillRect t="-2631" b="-2631"/>
              </a:stretch>
            </a:blipFill>
          </p:spPr>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sp>
      </p:grpSp>
      <p:grpSp>
        <p:nvGrpSpPr>
          <p:cNvPr id="4" name="Group 4"/>
          <p:cNvGrpSpPr/>
          <p:nvPr/>
        </p:nvGrpSpPr>
        <p:grpSpPr>
          <a:xfrm>
            <a:off x="9315450" y="2719311"/>
            <a:ext cx="8329612" cy="5429250"/>
            <a:chOff x="0" y="0"/>
            <a:chExt cx="11106150" cy="7239000"/>
          </a:xfrm>
        </p:grpSpPr>
        <p:sp>
          <p:nvSpPr>
            <p:cNvPr id="5" name="Freeform 5" descr="image.png"/>
            <p:cNvSpPr/>
            <p:nvPr/>
          </p:nvSpPr>
          <p:spPr>
            <a:xfrm>
              <a:off x="0" y="0"/>
              <a:ext cx="11106150" cy="7239000"/>
            </a:xfrm>
            <a:custGeom>
              <a:avLst/>
              <a:gdLst/>
              <a:ahLst/>
              <a:cxnLst/>
              <a:rect l="l" t="t" r="r" b="b"/>
              <a:pathLst>
                <a:path w="11106150" h="7239000">
                  <a:moveTo>
                    <a:pt x="0" y="0"/>
                  </a:moveTo>
                  <a:lnTo>
                    <a:pt x="11106150" y="0"/>
                  </a:lnTo>
                  <a:lnTo>
                    <a:pt x="11106150" y="7239000"/>
                  </a:lnTo>
                  <a:lnTo>
                    <a:pt x="0" y="7239000"/>
                  </a:lnTo>
                  <a:lnTo>
                    <a:pt x="0" y="0"/>
                  </a:lnTo>
                  <a:close/>
                </a:path>
              </a:pathLst>
            </a:custGeom>
            <a:blipFill>
              <a:blip r:embed="rId3"/>
              <a:stretch>
                <a:fillRect t="-45" b="-45"/>
              </a:stretch>
            </a:blipFill>
          </p:spPr>
        </p:sp>
      </p:grpSp>
      <p:grpSp>
        <p:nvGrpSpPr>
          <p:cNvPr id="6" name="Group 6"/>
          <p:cNvGrpSpPr/>
          <p:nvPr/>
        </p:nvGrpSpPr>
        <p:grpSpPr>
          <a:xfrm>
            <a:off x="642938" y="2719311"/>
            <a:ext cx="8329612" cy="3133877"/>
            <a:chOff x="0" y="0"/>
            <a:chExt cx="11106150" cy="4178503"/>
          </a:xfrm>
        </p:grpSpPr>
        <p:sp>
          <p:nvSpPr>
            <p:cNvPr id="7" name="Freeform 7" descr="image.png"/>
            <p:cNvSpPr/>
            <p:nvPr/>
          </p:nvSpPr>
          <p:spPr>
            <a:xfrm>
              <a:off x="0" y="0"/>
              <a:ext cx="11106150" cy="4178554"/>
            </a:xfrm>
            <a:custGeom>
              <a:avLst/>
              <a:gdLst/>
              <a:ahLst/>
              <a:cxnLst/>
              <a:rect l="l" t="t" r="r" b="b"/>
              <a:pathLst>
                <a:path w="11106150" h="4178554">
                  <a:moveTo>
                    <a:pt x="0" y="0"/>
                  </a:moveTo>
                  <a:lnTo>
                    <a:pt x="11106150" y="0"/>
                  </a:lnTo>
                  <a:lnTo>
                    <a:pt x="11106150" y="4178554"/>
                  </a:lnTo>
                  <a:lnTo>
                    <a:pt x="0" y="4178554"/>
                  </a:lnTo>
                  <a:lnTo>
                    <a:pt x="0" y="0"/>
                  </a:lnTo>
                  <a:close/>
                </a:path>
              </a:pathLst>
            </a:custGeom>
            <a:blipFill>
              <a:blip r:embed="rId4"/>
              <a:stretch>
                <a:fillRect t="-63" b="-62"/>
              </a:stretch>
            </a:blipFill>
          </p:spPr>
        </p:sp>
      </p:grpSp>
      <p:grpSp>
        <p:nvGrpSpPr>
          <p:cNvPr id="8" name="Group 8"/>
          <p:cNvGrpSpPr/>
          <p:nvPr/>
        </p:nvGrpSpPr>
        <p:grpSpPr>
          <a:xfrm>
            <a:off x="642938" y="6081789"/>
            <a:ext cx="8329612" cy="2514600"/>
            <a:chOff x="0" y="0"/>
            <a:chExt cx="11106150" cy="3352800"/>
          </a:xfrm>
        </p:grpSpPr>
        <p:sp>
          <p:nvSpPr>
            <p:cNvPr id="9" name="Freeform 9" descr="image.png"/>
            <p:cNvSpPr/>
            <p:nvPr/>
          </p:nvSpPr>
          <p:spPr>
            <a:xfrm>
              <a:off x="0" y="0"/>
              <a:ext cx="11106150" cy="3352800"/>
            </a:xfrm>
            <a:custGeom>
              <a:avLst/>
              <a:gdLst/>
              <a:ahLst/>
              <a:cxnLst/>
              <a:rect l="l" t="t" r="r" b="b"/>
              <a:pathLst>
                <a:path w="11106150" h="3352800">
                  <a:moveTo>
                    <a:pt x="0" y="0"/>
                  </a:moveTo>
                  <a:lnTo>
                    <a:pt x="11106150" y="0"/>
                  </a:lnTo>
                  <a:lnTo>
                    <a:pt x="11106150" y="3352800"/>
                  </a:lnTo>
                  <a:lnTo>
                    <a:pt x="0" y="3352800"/>
                  </a:lnTo>
                  <a:lnTo>
                    <a:pt x="0" y="0"/>
                  </a:lnTo>
                  <a:close/>
                </a:path>
              </a:pathLst>
            </a:custGeom>
            <a:blipFill>
              <a:blip r:embed="rId5"/>
              <a:stretch>
                <a:fillRect t="-198" b="-197"/>
              </a:stretch>
            </a:blipFill>
          </p:spPr>
        </p:sp>
      </p:grpSp>
      <p:sp>
        <p:nvSpPr>
          <p:cNvPr id="10" name="TextBox 10"/>
          <p:cNvSpPr txBox="1"/>
          <p:nvPr/>
        </p:nvSpPr>
        <p:spPr>
          <a:xfrm>
            <a:off x="642938" y="490537"/>
            <a:ext cx="9021051" cy="566737"/>
          </a:xfrm>
          <a:prstGeom prst="rect">
            <a:avLst/>
          </a:prstGeom>
        </p:spPr>
        <p:txBody>
          <a:bodyPr lIns="0" tIns="0" rIns="0" bIns="0" rtlCol="0" anchor="t">
            <a:spAutoFit/>
          </a:bodyPr>
          <a:lstStyle/>
          <a:p>
            <a:pPr algn="l">
              <a:lnSpc>
                <a:spcPts val="4320"/>
              </a:lnSpc>
            </a:pPr>
            <a:r>
              <a:rPr lang="en-US" sz="3600" b="1">
                <a:solidFill>
                  <a:srgbClr val="064E3B"/>
                </a:solidFill>
                <a:latin typeface="Inter Bold"/>
                <a:ea typeface="Inter Bold"/>
                <a:cs typeface="Inter Bold"/>
                <a:sym typeface="Inter Bold"/>
              </a:rPr>
              <a:t>Training Overview &amp; Learning Approach</a:t>
            </a:r>
          </a:p>
        </p:txBody>
      </p:sp>
      <p:grpSp>
        <p:nvGrpSpPr>
          <p:cNvPr id="11" name="Group 11"/>
          <p:cNvGrpSpPr/>
          <p:nvPr/>
        </p:nvGrpSpPr>
        <p:grpSpPr>
          <a:xfrm>
            <a:off x="14998075" y="628650"/>
            <a:ext cx="2646978" cy="428625"/>
            <a:chOff x="0" y="0"/>
            <a:chExt cx="3529305" cy="571500"/>
          </a:xfrm>
        </p:grpSpPr>
        <p:sp>
          <p:nvSpPr>
            <p:cNvPr id="12" name="Freeform 12" descr="image.png"/>
            <p:cNvSpPr/>
            <p:nvPr/>
          </p:nvSpPr>
          <p:spPr>
            <a:xfrm>
              <a:off x="0" y="0"/>
              <a:ext cx="3529330" cy="571500"/>
            </a:xfrm>
            <a:custGeom>
              <a:avLst/>
              <a:gdLst/>
              <a:ahLst/>
              <a:cxnLst/>
              <a:rect l="l" t="t" r="r" b="b"/>
              <a:pathLst>
                <a:path w="3529330" h="571500">
                  <a:moveTo>
                    <a:pt x="0" y="0"/>
                  </a:moveTo>
                  <a:lnTo>
                    <a:pt x="3529330" y="0"/>
                  </a:lnTo>
                  <a:lnTo>
                    <a:pt x="3529330" y="571500"/>
                  </a:lnTo>
                  <a:lnTo>
                    <a:pt x="0" y="571500"/>
                  </a:lnTo>
                  <a:lnTo>
                    <a:pt x="0" y="0"/>
                  </a:lnTo>
                  <a:close/>
                </a:path>
              </a:pathLst>
            </a:custGeom>
            <a:blipFill>
              <a:blip r:embed="rId6"/>
              <a:stretch>
                <a:fillRect l="-198" r="-197"/>
              </a:stretch>
            </a:blipFill>
          </p:spPr>
        </p:sp>
      </p:grpSp>
      <p:grpSp>
        <p:nvGrpSpPr>
          <p:cNvPr id="13" name="Group 13"/>
          <p:cNvGrpSpPr/>
          <p:nvPr/>
        </p:nvGrpSpPr>
        <p:grpSpPr>
          <a:xfrm>
            <a:off x="9329738" y="2733599"/>
            <a:ext cx="8301038" cy="5400675"/>
            <a:chOff x="0" y="0"/>
            <a:chExt cx="11068050" cy="7200900"/>
          </a:xfrm>
        </p:grpSpPr>
        <p:sp>
          <p:nvSpPr>
            <p:cNvPr id="14" name="Freeform 14" descr="image.png"/>
            <p:cNvSpPr/>
            <p:nvPr/>
          </p:nvSpPr>
          <p:spPr>
            <a:xfrm>
              <a:off x="0" y="0"/>
              <a:ext cx="11068050" cy="7200900"/>
            </a:xfrm>
            <a:custGeom>
              <a:avLst/>
              <a:gdLst/>
              <a:ahLst/>
              <a:cxnLst/>
              <a:rect l="l" t="t" r="r" b="b"/>
              <a:pathLst>
                <a:path w="11068050" h="7200900">
                  <a:moveTo>
                    <a:pt x="0" y="0"/>
                  </a:moveTo>
                  <a:lnTo>
                    <a:pt x="11068050" y="0"/>
                  </a:lnTo>
                  <a:lnTo>
                    <a:pt x="11068050" y="7200900"/>
                  </a:lnTo>
                  <a:lnTo>
                    <a:pt x="0" y="7200900"/>
                  </a:lnTo>
                  <a:lnTo>
                    <a:pt x="0" y="0"/>
                  </a:lnTo>
                  <a:close/>
                </a:path>
              </a:pathLst>
            </a:custGeom>
            <a:blipFill>
              <a:blip r:embed="rId7"/>
              <a:stretch>
                <a:fillRect t="-137" b="-137"/>
              </a:stretch>
            </a:blipFill>
          </p:spPr>
        </p:sp>
      </p:grpSp>
      <p:grpSp>
        <p:nvGrpSpPr>
          <p:cNvPr id="15" name="Group 15"/>
          <p:cNvGrpSpPr/>
          <p:nvPr/>
        </p:nvGrpSpPr>
        <p:grpSpPr>
          <a:xfrm>
            <a:off x="1385888" y="3047924"/>
            <a:ext cx="7620953" cy="328612"/>
            <a:chOff x="0" y="0"/>
            <a:chExt cx="10161270" cy="438150"/>
          </a:xfrm>
        </p:grpSpPr>
        <p:sp>
          <p:nvSpPr>
            <p:cNvPr id="16" name="Freeform 16"/>
            <p:cNvSpPr/>
            <p:nvPr/>
          </p:nvSpPr>
          <p:spPr>
            <a:xfrm>
              <a:off x="0" y="0"/>
              <a:ext cx="10161270" cy="438150"/>
            </a:xfrm>
            <a:custGeom>
              <a:avLst/>
              <a:gdLst/>
              <a:ahLst/>
              <a:cxnLst/>
              <a:rect l="l" t="t" r="r" b="b"/>
              <a:pathLst>
                <a:path w="10161270" h="438150">
                  <a:moveTo>
                    <a:pt x="0" y="0"/>
                  </a:moveTo>
                  <a:lnTo>
                    <a:pt x="10161270" y="0"/>
                  </a:lnTo>
                  <a:lnTo>
                    <a:pt x="10161270" y="438150"/>
                  </a:lnTo>
                  <a:lnTo>
                    <a:pt x="0" y="438150"/>
                  </a:lnTo>
                  <a:close/>
                </a:path>
              </a:pathLst>
            </a:custGeom>
            <a:blipFill>
              <a:blip r:embed="rId8">
                <a:alphaModFix amt="0"/>
              </a:blip>
              <a:stretch>
                <a:fillRect t="-401883" b="-401883"/>
              </a:stretch>
            </a:blipFill>
          </p:spPr>
        </p:sp>
        <p:sp>
          <p:nvSpPr>
            <p:cNvPr id="17" name="TextBox 17"/>
            <p:cNvSpPr txBox="1"/>
            <p:nvPr/>
          </p:nvSpPr>
          <p:spPr>
            <a:xfrm>
              <a:off x="0" y="0"/>
              <a:ext cx="10161270" cy="438150"/>
            </a:xfrm>
            <a:prstGeom prst="rect">
              <a:avLst/>
            </a:prstGeom>
          </p:spPr>
          <p:txBody>
            <a:bodyPr lIns="0" tIns="0" rIns="0" bIns="0" rtlCol="0" anchor="ctr"/>
            <a:lstStyle/>
            <a:p>
              <a:pPr algn="l">
                <a:lnSpc>
                  <a:spcPts val="2565"/>
                </a:lnSpc>
              </a:pPr>
              <a:r>
                <a:rPr lang="en-US" sz="2137">
                  <a:solidFill>
                    <a:srgbClr val="064E3B"/>
                  </a:solidFill>
                  <a:latin typeface="Inter"/>
                  <a:ea typeface="Inter"/>
                  <a:cs typeface="Inter"/>
                  <a:sym typeface="Inter"/>
                </a:rPr>
                <a:t>Core Technology Modules</a:t>
              </a:r>
            </a:p>
          </p:txBody>
        </p:sp>
      </p:grpSp>
      <p:grpSp>
        <p:nvGrpSpPr>
          <p:cNvPr id="18" name="Group 18"/>
          <p:cNvGrpSpPr/>
          <p:nvPr/>
        </p:nvGrpSpPr>
        <p:grpSpPr>
          <a:xfrm>
            <a:off x="1385888" y="6410401"/>
            <a:ext cx="7620953" cy="328612"/>
            <a:chOff x="0" y="0"/>
            <a:chExt cx="10161270" cy="438150"/>
          </a:xfrm>
        </p:grpSpPr>
        <p:sp>
          <p:nvSpPr>
            <p:cNvPr id="19" name="Freeform 19"/>
            <p:cNvSpPr/>
            <p:nvPr/>
          </p:nvSpPr>
          <p:spPr>
            <a:xfrm>
              <a:off x="0" y="0"/>
              <a:ext cx="10161270" cy="438150"/>
            </a:xfrm>
            <a:custGeom>
              <a:avLst/>
              <a:gdLst/>
              <a:ahLst/>
              <a:cxnLst/>
              <a:rect l="l" t="t" r="r" b="b"/>
              <a:pathLst>
                <a:path w="10161270" h="438150">
                  <a:moveTo>
                    <a:pt x="0" y="0"/>
                  </a:moveTo>
                  <a:lnTo>
                    <a:pt x="10161270" y="0"/>
                  </a:lnTo>
                  <a:lnTo>
                    <a:pt x="10161270" y="438150"/>
                  </a:lnTo>
                  <a:lnTo>
                    <a:pt x="0" y="438150"/>
                  </a:lnTo>
                  <a:close/>
                </a:path>
              </a:pathLst>
            </a:custGeom>
            <a:blipFill>
              <a:blip r:embed="rId8">
                <a:alphaModFix amt="0"/>
              </a:blip>
              <a:stretch>
                <a:fillRect t="-401883" b="-401883"/>
              </a:stretch>
            </a:blipFill>
          </p:spPr>
        </p:sp>
        <p:sp>
          <p:nvSpPr>
            <p:cNvPr id="20" name="TextBox 20"/>
            <p:cNvSpPr txBox="1"/>
            <p:nvPr/>
          </p:nvSpPr>
          <p:spPr>
            <a:xfrm>
              <a:off x="0" y="0"/>
              <a:ext cx="10161270" cy="438150"/>
            </a:xfrm>
            <a:prstGeom prst="rect">
              <a:avLst/>
            </a:prstGeom>
          </p:spPr>
          <p:txBody>
            <a:bodyPr lIns="0" tIns="0" rIns="0" bIns="0" rtlCol="0" anchor="ctr"/>
            <a:lstStyle/>
            <a:p>
              <a:pPr algn="l">
                <a:lnSpc>
                  <a:spcPts val="2565"/>
                </a:lnSpc>
              </a:pPr>
              <a:r>
                <a:rPr lang="en-US" sz="2137">
                  <a:solidFill>
                    <a:srgbClr val="064E3B"/>
                  </a:solidFill>
                  <a:latin typeface="Inter"/>
                  <a:ea typeface="Inter"/>
                  <a:cs typeface="Inter"/>
                  <a:sym typeface="Inter"/>
                </a:rPr>
                <a:t>Learning Method &amp; Outcome</a:t>
              </a:r>
            </a:p>
          </p:txBody>
        </p:sp>
      </p:grpSp>
      <p:sp>
        <p:nvSpPr>
          <p:cNvPr id="21" name="TextBox 21"/>
          <p:cNvSpPr txBox="1"/>
          <p:nvPr/>
        </p:nvSpPr>
        <p:spPr>
          <a:xfrm>
            <a:off x="971550" y="6824739"/>
            <a:ext cx="7672388" cy="721519"/>
          </a:xfrm>
          <a:prstGeom prst="rect">
            <a:avLst/>
          </a:prstGeom>
        </p:spPr>
        <p:txBody>
          <a:bodyPr lIns="0" tIns="0" rIns="0" bIns="0" rtlCol="0" anchor="t">
            <a:spAutoFit/>
          </a:bodyPr>
          <a:lstStyle/>
          <a:p>
            <a:pPr algn="l">
              <a:lnSpc>
                <a:spcPts val="2614"/>
              </a:lnSpc>
            </a:pPr>
            <a:r>
              <a:rPr lang="en-US" sz="1743">
                <a:solidFill>
                  <a:srgbClr val="475569"/>
                </a:solidFill>
                <a:latin typeface="Inter"/>
                <a:ea typeface="Inter"/>
                <a:cs typeface="Inter"/>
                <a:sym typeface="Inter"/>
              </a:rPr>
              <a:t>Writing daily code, testing models on real datasets, and debugging runtime logic.</a:t>
            </a:r>
          </a:p>
        </p:txBody>
      </p:sp>
      <p:sp>
        <p:nvSpPr>
          <p:cNvPr id="22" name="TextBox 22"/>
          <p:cNvSpPr txBox="1"/>
          <p:nvPr/>
        </p:nvSpPr>
        <p:spPr>
          <a:xfrm>
            <a:off x="971550" y="7574832"/>
            <a:ext cx="7672388" cy="721519"/>
          </a:xfrm>
          <a:prstGeom prst="rect">
            <a:avLst/>
          </a:prstGeom>
        </p:spPr>
        <p:txBody>
          <a:bodyPr lIns="0" tIns="0" rIns="0" bIns="0" rtlCol="0" anchor="t">
            <a:spAutoFit/>
          </a:bodyPr>
          <a:lstStyle/>
          <a:p>
            <a:pPr algn="l">
              <a:lnSpc>
                <a:spcPts val="2614"/>
              </a:lnSpc>
            </a:pPr>
            <a:r>
              <a:rPr lang="en-US" sz="1743" b="1">
                <a:solidFill>
                  <a:srgbClr val="475569"/>
                </a:solidFill>
                <a:latin typeface="Inter Bold"/>
                <a:ea typeface="Inter Bold"/>
                <a:cs typeface="Inter Bold"/>
                <a:sym typeface="Inter Bold"/>
              </a:rPr>
              <a:t>Final Outcome:</a:t>
            </a:r>
            <a:r>
              <a:rPr lang="en-US" sz="1743">
                <a:solidFill>
                  <a:srgbClr val="475569"/>
                </a:solidFill>
                <a:latin typeface="Inter"/>
                <a:ea typeface="Inter"/>
                <a:cs typeface="Inter"/>
                <a:sym typeface="Inter"/>
              </a:rPr>
              <a:t> Applied core training techniques to construct the Smart Expense Pattern Analyzer.</a:t>
            </a:r>
          </a:p>
        </p:txBody>
      </p:sp>
      <p:grpSp>
        <p:nvGrpSpPr>
          <p:cNvPr id="23" name="Group 23"/>
          <p:cNvGrpSpPr/>
          <p:nvPr/>
        </p:nvGrpSpPr>
        <p:grpSpPr>
          <a:xfrm>
            <a:off x="971550" y="3076499"/>
            <a:ext cx="300038" cy="271462"/>
            <a:chOff x="0" y="0"/>
            <a:chExt cx="400050" cy="361950"/>
          </a:xfrm>
        </p:grpSpPr>
        <p:sp>
          <p:nvSpPr>
            <p:cNvPr id="24" name="Freeform 24" descr="image.png"/>
            <p:cNvSpPr/>
            <p:nvPr/>
          </p:nvSpPr>
          <p:spPr>
            <a:xfrm>
              <a:off x="0" y="0"/>
              <a:ext cx="400050" cy="361950"/>
            </a:xfrm>
            <a:custGeom>
              <a:avLst/>
              <a:gdLst/>
              <a:ahLst/>
              <a:cxnLst/>
              <a:rect l="l" t="t" r="r" b="b"/>
              <a:pathLst>
                <a:path w="400050" h="361950">
                  <a:moveTo>
                    <a:pt x="0" y="0"/>
                  </a:moveTo>
                  <a:lnTo>
                    <a:pt x="400050" y="0"/>
                  </a:lnTo>
                  <a:lnTo>
                    <a:pt x="400050" y="361950"/>
                  </a:lnTo>
                  <a:lnTo>
                    <a:pt x="0" y="361950"/>
                  </a:lnTo>
                  <a:lnTo>
                    <a:pt x="0" y="0"/>
                  </a:lnTo>
                  <a:close/>
                </a:path>
              </a:pathLst>
            </a:custGeom>
            <a:blipFill>
              <a:blip r:embed="rId9"/>
              <a:stretch>
                <a:fillRect t="-2631" b="-2631"/>
              </a:stretch>
            </a:blipFill>
          </p:spPr>
        </p:sp>
      </p:grpSp>
      <p:sp>
        <p:nvSpPr>
          <p:cNvPr id="25" name="TextBox 25"/>
          <p:cNvSpPr txBox="1"/>
          <p:nvPr/>
        </p:nvSpPr>
        <p:spPr>
          <a:xfrm>
            <a:off x="1314450" y="3471786"/>
            <a:ext cx="7329488" cy="368646"/>
          </a:xfrm>
          <a:prstGeom prst="rect">
            <a:avLst/>
          </a:prstGeom>
        </p:spPr>
        <p:txBody>
          <a:bodyPr lIns="0" tIns="0" rIns="0" bIns="0" rtlCol="0" anchor="t">
            <a:spAutoFit/>
          </a:bodyPr>
          <a:lstStyle/>
          <a:p>
            <a:pPr algn="l">
              <a:lnSpc>
                <a:spcPts val="2527"/>
              </a:lnSpc>
            </a:pPr>
            <a:r>
              <a:rPr lang="en-US" sz="1743">
                <a:solidFill>
                  <a:srgbClr val="0F172A"/>
                </a:solidFill>
                <a:latin typeface="Inter"/>
                <a:ea typeface="Inter"/>
                <a:cs typeface="Inter"/>
                <a:sym typeface="Inter"/>
              </a:rPr>
              <a:t>Python Programming:</a:t>
            </a:r>
            <a:r>
              <a:rPr lang="en-US" sz="1743">
                <a:solidFill>
                  <a:srgbClr val="334155"/>
                </a:solidFill>
                <a:latin typeface="Inter"/>
                <a:ea typeface="Inter"/>
                <a:cs typeface="Inter"/>
                <a:sym typeface="Inter"/>
              </a:rPr>
              <a:t> Advanced logic, modular scripting, and OOP.</a:t>
            </a:r>
          </a:p>
        </p:txBody>
      </p:sp>
      <p:sp>
        <p:nvSpPr>
          <p:cNvPr id="26" name="TextBox 26"/>
          <p:cNvSpPr txBox="1"/>
          <p:nvPr/>
        </p:nvSpPr>
        <p:spPr>
          <a:xfrm>
            <a:off x="1314450" y="3935682"/>
            <a:ext cx="7329488" cy="368646"/>
          </a:xfrm>
          <a:prstGeom prst="rect">
            <a:avLst/>
          </a:prstGeom>
        </p:spPr>
        <p:txBody>
          <a:bodyPr lIns="0" tIns="0" rIns="0" bIns="0" rtlCol="0" anchor="t">
            <a:spAutoFit/>
          </a:bodyPr>
          <a:lstStyle/>
          <a:p>
            <a:pPr algn="l">
              <a:lnSpc>
                <a:spcPts val="2527"/>
              </a:lnSpc>
            </a:pPr>
            <a:r>
              <a:rPr lang="en-US" sz="1743">
                <a:solidFill>
                  <a:srgbClr val="0F172A"/>
                </a:solidFill>
                <a:latin typeface="Inter"/>
                <a:ea typeface="Inter"/>
                <a:cs typeface="Inter"/>
                <a:sym typeface="Inter"/>
              </a:rPr>
              <a:t>Data Handling &amp; Analysis:</a:t>
            </a:r>
            <a:r>
              <a:rPr lang="en-US" sz="1743">
                <a:solidFill>
                  <a:srgbClr val="334155"/>
                </a:solidFill>
                <a:latin typeface="Inter"/>
                <a:ea typeface="Inter"/>
                <a:cs typeface="Inter"/>
                <a:sym typeface="Inter"/>
              </a:rPr>
              <a:t> Sanitizing tabular and financial records.</a:t>
            </a:r>
          </a:p>
        </p:txBody>
      </p:sp>
      <p:sp>
        <p:nvSpPr>
          <p:cNvPr id="27" name="TextBox 27"/>
          <p:cNvSpPr txBox="1"/>
          <p:nvPr/>
        </p:nvSpPr>
        <p:spPr>
          <a:xfrm>
            <a:off x="1314450" y="4399578"/>
            <a:ext cx="7329488" cy="368646"/>
          </a:xfrm>
          <a:prstGeom prst="rect">
            <a:avLst/>
          </a:prstGeom>
        </p:spPr>
        <p:txBody>
          <a:bodyPr lIns="0" tIns="0" rIns="0" bIns="0" rtlCol="0" anchor="t">
            <a:spAutoFit/>
          </a:bodyPr>
          <a:lstStyle/>
          <a:p>
            <a:pPr algn="l">
              <a:lnSpc>
                <a:spcPts val="2527"/>
              </a:lnSpc>
            </a:pPr>
            <a:r>
              <a:rPr lang="en-US" sz="1743">
                <a:solidFill>
                  <a:srgbClr val="0F172A"/>
                </a:solidFill>
                <a:latin typeface="Inter"/>
                <a:ea typeface="Inter"/>
                <a:cs typeface="Inter"/>
                <a:sym typeface="Inter"/>
              </a:rPr>
              <a:t>Data Visualization:</a:t>
            </a:r>
            <a:r>
              <a:rPr lang="en-US" sz="1743">
                <a:solidFill>
                  <a:srgbClr val="334155"/>
                </a:solidFill>
                <a:latin typeface="Inter"/>
                <a:ea typeface="Inter"/>
                <a:cs typeface="Inter"/>
                <a:sym typeface="Inter"/>
              </a:rPr>
              <a:t> Communicating metrics with Matplotlib &amp; Seaborn.</a:t>
            </a:r>
          </a:p>
        </p:txBody>
      </p:sp>
      <p:sp>
        <p:nvSpPr>
          <p:cNvPr id="28" name="TextBox 28"/>
          <p:cNvSpPr txBox="1"/>
          <p:nvPr/>
        </p:nvSpPr>
        <p:spPr>
          <a:xfrm>
            <a:off x="1314450" y="4863475"/>
            <a:ext cx="7329488" cy="689667"/>
          </a:xfrm>
          <a:prstGeom prst="rect">
            <a:avLst/>
          </a:prstGeom>
        </p:spPr>
        <p:txBody>
          <a:bodyPr lIns="0" tIns="0" rIns="0" bIns="0" rtlCol="0" anchor="t">
            <a:spAutoFit/>
          </a:bodyPr>
          <a:lstStyle/>
          <a:p>
            <a:pPr algn="l">
              <a:lnSpc>
                <a:spcPts val="2527"/>
              </a:lnSpc>
            </a:pPr>
            <a:r>
              <a:rPr lang="en-US" sz="1743">
                <a:solidFill>
                  <a:srgbClr val="0F172A"/>
                </a:solidFill>
                <a:latin typeface="Inter"/>
                <a:ea typeface="Inter"/>
                <a:cs typeface="Inter"/>
                <a:sym typeface="Inter"/>
              </a:rPr>
              <a:t>Machine Learning &amp; AI:</a:t>
            </a:r>
            <a:r>
              <a:rPr lang="en-US" sz="1743">
                <a:solidFill>
                  <a:srgbClr val="334155"/>
                </a:solidFill>
                <a:latin typeface="Inter"/>
                <a:ea typeface="Inter"/>
                <a:cs typeface="Inter"/>
                <a:sym typeface="Inter"/>
              </a:rPr>
              <a:t> Supervised, unsupervised, and predictive modeling.</a:t>
            </a:r>
          </a:p>
        </p:txBody>
      </p:sp>
      <p:grpSp>
        <p:nvGrpSpPr>
          <p:cNvPr id="29" name="Group 29"/>
          <p:cNvGrpSpPr/>
          <p:nvPr/>
        </p:nvGrpSpPr>
        <p:grpSpPr>
          <a:xfrm>
            <a:off x="971550" y="6438976"/>
            <a:ext cx="300038" cy="271462"/>
            <a:chOff x="0" y="0"/>
            <a:chExt cx="400050" cy="361950"/>
          </a:xfrm>
        </p:grpSpPr>
        <p:sp>
          <p:nvSpPr>
            <p:cNvPr id="30" name="Freeform 30" descr="image.png"/>
            <p:cNvSpPr/>
            <p:nvPr/>
          </p:nvSpPr>
          <p:spPr>
            <a:xfrm>
              <a:off x="0" y="0"/>
              <a:ext cx="400050" cy="361950"/>
            </a:xfrm>
            <a:custGeom>
              <a:avLst/>
              <a:gdLst/>
              <a:ahLst/>
              <a:cxnLst/>
              <a:rect l="l" t="t" r="r" b="b"/>
              <a:pathLst>
                <a:path w="400050" h="361950">
                  <a:moveTo>
                    <a:pt x="0" y="0"/>
                  </a:moveTo>
                  <a:lnTo>
                    <a:pt x="400050" y="0"/>
                  </a:lnTo>
                  <a:lnTo>
                    <a:pt x="400050" y="361950"/>
                  </a:lnTo>
                  <a:lnTo>
                    <a:pt x="0" y="361950"/>
                  </a:lnTo>
                  <a:lnTo>
                    <a:pt x="0" y="0"/>
                  </a:lnTo>
                  <a:close/>
                </a:path>
              </a:pathLst>
            </a:custGeom>
            <a:blipFill>
              <a:blip r:embed="rId10"/>
              <a:stretch>
                <a:fillRect t="-2631" b="-2631"/>
              </a:stretch>
            </a:blipFill>
          </p:spPr>
        </p:sp>
      </p:grpSp>
      <p:grpSp>
        <p:nvGrpSpPr>
          <p:cNvPr id="31" name="Group 31"/>
          <p:cNvGrpSpPr/>
          <p:nvPr/>
        </p:nvGrpSpPr>
        <p:grpSpPr>
          <a:xfrm>
            <a:off x="971550" y="3562274"/>
            <a:ext cx="171450" cy="214312"/>
            <a:chOff x="0" y="0"/>
            <a:chExt cx="228600" cy="285750"/>
          </a:xfrm>
        </p:grpSpPr>
        <p:sp>
          <p:nvSpPr>
            <p:cNvPr id="32" name="Freeform 32" descr="image.png"/>
            <p:cNvSpPr/>
            <p:nvPr/>
          </p:nvSpPr>
          <p:spPr>
            <a:xfrm>
              <a:off x="0" y="0"/>
              <a:ext cx="228600" cy="285750"/>
            </a:xfrm>
            <a:custGeom>
              <a:avLst/>
              <a:gdLst/>
              <a:ahLst/>
              <a:cxnLst/>
              <a:rect l="l" t="t" r="r" b="b"/>
              <a:pathLst>
                <a:path w="228600" h="285750">
                  <a:moveTo>
                    <a:pt x="0" y="0"/>
                  </a:moveTo>
                  <a:lnTo>
                    <a:pt x="228600" y="0"/>
                  </a:lnTo>
                  <a:lnTo>
                    <a:pt x="228600" y="285750"/>
                  </a:lnTo>
                  <a:lnTo>
                    <a:pt x="0" y="285750"/>
                  </a:lnTo>
                  <a:lnTo>
                    <a:pt x="0" y="0"/>
                  </a:lnTo>
                  <a:close/>
                </a:path>
              </a:pathLst>
            </a:custGeom>
            <a:blipFill>
              <a:blip r:embed="rId11"/>
              <a:stretch>
                <a:fillRect/>
              </a:stretch>
            </a:blipFill>
          </p:spPr>
        </p:sp>
      </p:grpSp>
      <p:grpSp>
        <p:nvGrpSpPr>
          <p:cNvPr id="33" name="Group 33"/>
          <p:cNvGrpSpPr/>
          <p:nvPr/>
        </p:nvGrpSpPr>
        <p:grpSpPr>
          <a:xfrm>
            <a:off x="971550" y="4026170"/>
            <a:ext cx="171450" cy="214312"/>
            <a:chOff x="0" y="0"/>
            <a:chExt cx="228600" cy="285750"/>
          </a:xfrm>
        </p:grpSpPr>
        <p:sp>
          <p:nvSpPr>
            <p:cNvPr id="34" name="Freeform 34" descr="image.png"/>
            <p:cNvSpPr/>
            <p:nvPr/>
          </p:nvSpPr>
          <p:spPr>
            <a:xfrm>
              <a:off x="0" y="0"/>
              <a:ext cx="228600" cy="285750"/>
            </a:xfrm>
            <a:custGeom>
              <a:avLst/>
              <a:gdLst/>
              <a:ahLst/>
              <a:cxnLst/>
              <a:rect l="l" t="t" r="r" b="b"/>
              <a:pathLst>
                <a:path w="228600" h="285750">
                  <a:moveTo>
                    <a:pt x="0" y="0"/>
                  </a:moveTo>
                  <a:lnTo>
                    <a:pt x="228600" y="0"/>
                  </a:lnTo>
                  <a:lnTo>
                    <a:pt x="228600" y="285750"/>
                  </a:lnTo>
                  <a:lnTo>
                    <a:pt x="0" y="285750"/>
                  </a:lnTo>
                  <a:lnTo>
                    <a:pt x="0" y="0"/>
                  </a:lnTo>
                  <a:close/>
                </a:path>
              </a:pathLst>
            </a:custGeom>
            <a:blipFill>
              <a:blip r:embed="rId11"/>
              <a:stretch>
                <a:fillRect/>
              </a:stretch>
            </a:blipFill>
          </p:spPr>
        </p:sp>
      </p:grpSp>
      <p:grpSp>
        <p:nvGrpSpPr>
          <p:cNvPr id="35" name="Group 35"/>
          <p:cNvGrpSpPr/>
          <p:nvPr/>
        </p:nvGrpSpPr>
        <p:grpSpPr>
          <a:xfrm>
            <a:off x="971550" y="4490066"/>
            <a:ext cx="171450" cy="214312"/>
            <a:chOff x="0" y="0"/>
            <a:chExt cx="228600" cy="285750"/>
          </a:xfrm>
        </p:grpSpPr>
        <p:sp>
          <p:nvSpPr>
            <p:cNvPr id="36" name="Freeform 36" descr="image.png"/>
            <p:cNvSpPr/>
            <p:nvPr/>
          </p:nvSpPr>
          <p:spPr>
            <a:xfrm>
              <a:off x="0" y="0"/>
              <a:ext cx="228600" cy="285750"/>
            </a:xfrm>
            <a:custGeom>
              <a:avLst/>
              <a:gdLst/>
              <a:ahLst/>
              <a:cxnLst/>
              <a:rect l="l" t="t" r="r" b="b"/>
              <a:pathLst>
                <a:path w="228600" h="285750">
                  <a:moveTo>
                    <a:pt x="0" y="0"/>
                  </a:moveTo>
                  <a:lnTo>
                    <a:pt x="228600" y="0"/>
                  </a:lnTo>
                  <a:lnTo>
                    <a:pt x="228600" y="285750"/>
                  </a:lnTo>
                  <a:lnTo>
                    <a:pt x="0" y="285750"/>
                  </a:lnTo>
                  <a:lnTo>
                    <a:pt x="0" y="0"/>
                  </a:lnTo>
                  <a:close/>
                </a:path>
              </a:pathLst>
            </a:custGeom>
            <a:blipFill>
              <a:blip r:embed="rId11"/>
              <a:stretch>
                <a:fillRect/>
              </a:stretch>
            </a:blipFill>
          </p:spPr>
        </p:sp>
      </p:grpSp>
      <p:grpSp>
        <p:nvGrpSpPr>
          <p:cNvPr id="37" name="Group 37"/>
          <p:cNvGrpSpPr/>
          <p:nvPr/>
        </p:nvGrpSpPr>
        <p:grpSpPr>
          <a:xfrm>
            <a:off x="971550" y="4953962"/>
            <a:ext cx="171450" cy="214312"/>
            <a:chOff x="0" y="0"/>
            <a:chExt cx="228600" cy="285750"/>
          </a:xfrm>
        </p:grpSpPr>
        <p:sp>
          <p:nvSpPr>
            <p:cNvPr id="38" name="Freeform 38" descr="image.png"/>
            <p:cNvSpPr/>
            <p:nvPr/>
          </p:nvSpPr>
          <p:spPr>
            <a:xfrm>
              <a:off x="0" y="0"/>
              <a:ext cx="228600" cy="285750"/>
            </a:xfrm>
            <a:custGeom>
              <a:avLst/>
              <a:gdLst/>
              <a:ahLst/>
              <a:cxnLst/>
              <a:rect l="l" t="t" r="r" b="b"/>
              <a:pathLst>
                <a:path w="228600" h="285750">
                  <a:moveTo>
                    <a:pt x="0" y="0"/>
                  </a:moveTo>
                  <a:lnTo>
                    <a:pt x="228600" y="0"/>
                  </a:lnTo>
                  <a:lnTo>
                    <a:pt x="228600" y="285750"/>
                  </a:lnTo>
                  <a:lnTo>
                    <a:pt x="0" y="285750"/>
                  </a:lnTo>
                  <a:lnTo>
                    <a:pt x="0" y="0"/>
                  </a:lnTo>
                  <a:close/>
                </a:path>
              </a:pathLst>
            </a:custGeom>
            <a:blipFill>
              <a:blip r:embed="rId11"/>
              <a:stretch>
                <a:fillRect/>
              </a:stretch>
            </a:blipFill>
          </p:spPr>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sp>
      </p:grpSp>
      <p:grpSp>
        <p:nvGrpSpPr>
          <p:cNvPr id="4" name="Group 4"/>
          <p:cNvGrpSpPr/>
          <p:nvPr/>
        </p:nvGrpSpPr>
        <p:grpSpPr>
          <a:xfrm>
            <a:off x="642938" y="6731422"/>
            <a:ext cx="17002125" cy="778669"/>
            <a:chOff x="0" y="0"/>
            <a:chExt cx="22669500" cy="1038225"/>
          </a:xfrm>
        </p:grpSpPr>
        <p:sp>
          <p:nvSpPr>
            <p:cNvPr id="5" name="Freeform 5" descr="image.png"/>
            <p:cNvSpPr/>
            <p:nvPr/>
          </p:nvSpPr>
          <p:spPr>
            <a:xfrm>
              <a:off x="0" y="0"/>
              <a:ext cx="22669500" cy="1038225"/>
            </a:xfrm>
            <a:custGeom>
              <a:avLst/>
              <a:gdLst/>
              <a:ahLst/>
              <a:cxnLst/>
              <a:rect l="l" t="t" r="r" b="b"/>
              <a:pathLst>
                <a:path w="22669500" h="1038225">
                  <a:moveTo>
                    <a:pt x="0" y="0"/>
                  </a:moveTo>
                  <a:lnTo>
                    <a:pt x="22669500" y="0"/>
                  </a:lnTo>
                  <a:lnTo>
                    <a:pt x="22669500" y="1038225"/>
                  </a:lnTo>
                  <a:lnTo>
                    <a:pt x="0" y="1038225"/>
                  </a:lnTo>
                  <a:lnTo>
                    <a:pt x="0" y="0"/>
                  </a:lnTo>
                  <a:close/>
                </a:path>
              </a:pathLst>
            </a:custGeom>
            <a:blipFill>
              <a:blip r:embed="rId3"/>
              <a:stretch>
                <a:fillRect t="-374" b="-374"/>
              </a:stretch>
            </a:blipFill>
          </p:spPr>
        </p:sp>
      </p:grpSp>
      <p:grpSp>
        <p:nvGrpSpPr>
          <p:cNvPr id="6" name="Group 6"/>
          <p:cNvGrpSpPr/>
          <p:nvPr/>
        </p:nvGrpSpPr>
        <p:grpSpPr>
          <a:xfrm>
            <a:off x="642938" y="4405684"/>
            <a:ext cx="2690736" cy="2011413"/>
            <a:chOff x="0" y="0"/>
            <a:chExt cx="3587648" cy="2681884"/>
          </a:xfrm>
        </p:grpSpPr>
        <p:sp>
          <p:nvSpPr>
            <p:cNvPr id="7" name="Freeform 7" descr="image.png"/>
            <p:cNvSpPr/>
            <p:nvPr/>
          </p:nvSpPr>
          <p:spPr>
            <a:xfrm>
              <a:off x="0" y="0"/>
              <a:ext cx="3587623" cy="2681859"/>
            </a:xfrm>
            <a:custGeom>
              <a:avLst/>
              <a:gdLst/>
              <a:ahLst/>
              <a:cxnLst/>
              <a:rect l="l" t="t" r="r" b="b"/>
              <a:pathLst>
                <a:path w="3587623" h="2681859">
                  <a:moveTo>
                    <a:pt x="0" y="0"/>
                  </a:moveTo>
                  <a:lnTo>
                    <a:pt x="3587623" y="0"/>
                  </a:lnTo>
                  <a:lnTo>
                    <a:pt x="3587623" y="2681859"/>
                  </a:lnTo>
                  <a:lnTo>
                    <a:pt x="0" y="2681859"/>
                  </a:lnTo>
                  <a:lnTo>
                    <a:pt x="0" y="0"/>
                  </a:lnTo>
                  <a:close/>
                </a:path>
              </a:pathLst>
            </a:custGeom>
            <a:blipFill>
              <a:blip r:embed="rId4"/>
              <a:stretch>
                <a:fillRect t="-253" b="-254"/>
              </a:stretch>
            </a:blipFill>
          </p:spPr>
        </p:sp>
      </p:grpSp>
      <p:grpSp>
        <p:nvGrpSpPr>
          <p:cNvPr id="8" name="Group 8"/>
          <p:cNvGrpSpPr/>
          <p:nvPr/>
        </p:nvGrpSpPr>
        <p:grpSpPr>
          <a:xfrm>
            <a:off x="3505124" y="4405684"/>
            <a:ext cx="2690736" cy="2011413"/>
            <a:chOff x="0" y="0"/>
            <a:chExt cx="3587648" cy="2681884"/>
          </a:xfrm>
        </p:grpSpPr>
        <p:sp>
          <p:nvSpPr>
            <p:cNvPr id="9" name="Freeform 9" descr="image.png"/>
            <p:cNvSpPr/>
            <p:nvPr/>
          </p:nvSpPr>
          <p:spPr>
            <a:xfrm>
              <a:off x="0" y="0"/>
              <a:ext cx="3587623" cy="2681859"/>
            </a:xfrm>
            <a:custGeom>
              <a:avLst/>
              <a:gdLst/>
              <a:ahLst/>
              <a:cxnLst/>
              <a:rect l="l" t="t" r="r" b="b"/>
              <a:pathLst>
                <a:path w="3587623" h="2681859">
                  <a:moveTo>
                    <a:pt x="0" y="0"/>
                  </a:moveTo>
                  <a:lnTo>
                    <a:pt x="3587623" y="0"/>
                  </a:lnTo>
                  <a:lnTo>
                    <a:pt x="3587623" y="2681859"/>
                  </a:lnTo>
                  <a:lnTo>
                    <a:pt x="0" y="2681859"/>
                  </a:lnTo>
                  <a:lnTo>
                    <a:pt x="0" y="0"/>
                  </a:lnTo>
                  <a:close/>
                </a:path>
              </a:pathLst>
            </a:custGeom>
            <a:blipFill>
              <a:blip r:embed="rId5"/>
              <a:stretch>
                <a:fillRect l="-10" r="-11"/>
              </a:stretch>
            </a:blipFill>
          </p:spPr>
        </p:sp>
      </p:grpSp>
      <p:grpSp>
        <p:nvGrpSpPr>
          <p:cNvPr id="10" name="Group 10"/>
          <p:cNvGrpSpPr/>
          <p:nvPr/>
        </p:nvGrpSpPr>
        <p:grpSpPr>
          <a:xfrm>
            <a:off x="6367310" y="4405684"/>
            <a:ext cx="2690736" cy="2011413"/>
            <a:chOff x="0" y="0"/>
            <a:chExt cx="3587648" cy="2681884"/>
          </a:xfrm>
        </p:grpSpPr>
        <p:sp>
          <p:nvSpPr>
            <p:cNvPr id="11" name="Freeform 11" descr="image.png"/>
            <p:cNvSpPr/>
            <p:nvPr/>
          </p:nvSpPr>
          <p:spPr>
            <a:xfrm>
              <a:off x="0" y="0"/>
              <a:ext cx="3587623" cy="2681859"/>
            </a:xfrm>
            <a:custGeom>
              <a:avLst/>
              <a:gdLst/>
              <a:ahLst/>
              <a:cxnLst/>
              <a:rect l="l" t="t" r="r" b="b"/>
              <a:pathLst>
                <a:path w="3587623" h="2681859">
                  <a:moveTo>
                    <a:pt x="0" y="0"/>
                  </a:moveTo>
                  <a:lnTo>
                    <a:pt x="3587623" y="0"/>
                  </a:lnTo>
                  <a:lnTo>
                    <a:pt x="3587623" y="2681859"/>
                  </a:lnTo>
                  <a:lnTo>
                    <a:pt x="0" y="2681859"/>
                  </a:lnTo>
                  <a:lnTo>
                    <a:pt x="0" y="0"/>
                  </a:lnTo>
                  <a:close/>
                </a:path>
              </a:pathLst>
            </a:custGeom>
            <a:blipFill>
              <a:blip r:embed="rId6"/>
              <a:stretch>
                <a:fillRect l="-10" r="-11"/>
              </a:stretch>
            </a:blipFill>
          </p:spPr>
        </p:sp>
      </p:grpSp>
      <p:grpSp>
        <p:nvGrpSpPr>
          <p:cNvPr id="12" name="Group 12"/>
          <p:cNvGrpSpPr/>
          <p:nvPr/>
        </p:nvGrpSpPr>
        <p:grpSpPr>
          <a:xfrm>
            <a:off x="9229506" y="4405684"/>
            <a:ext cx="2690736" cy="2011413"/>
            <a:chOff x="0" y="0"/>
            <a:chExt cx="3587648" cy="2681884"/>
          </a:xfrm>
        </p:grpSpPr>
        <p:sp>
          <p:nvSpPr>
            <p:cNvPr id="13" name="Freeform 13" descr="image.png"/>
            <p:cNvSpPr/>
            <p:nvPr/>
          </p:nvSpPr>
          <p:spPr>
            <a:xfrm>
              <a:off x="0" y="0"/>
              <a:ext cx="3587623" cy="2681859"/>
            </a:xfrm>
            <a:custGeom>
              <a:avLst/>
              <a:gdLst/>
              <a:ahLst/>
              <a:cxnLst/>
              <a:rect l="l" t="t" r="r" b="b"/>
              <a:pathLst>
                <a:path w="3587623" h="2681859">
                  <a:moveTo>
                    <a:pt x="0" y="0"/>
                  </a:moveTo>
                  <a:lnTo>
                    <a:pt x="3587623" y="0"/>
                  </a:lnTo>
                  <a:lnTo>
                    <a:pt x="3587623" y="2681859"/>
                  </a:lnTo>
                  <a:lnTo>
                    <a:pt x="0" y="2681859"/>
                  </a:lnTo>
                  <a:lnTo>
                    <a:pt x="0" y="0"/>
                  </a:lnTo>
                  <a:close/>
                </a:path>
              </a:pathLst>
            </a:custGeom>
            <a:blipFill>
              <a:blip r:embed="rId7"/>
              <a:stretch>
                <a:fillRect t="-253" b="-254"/>
              </a:stretch>
            </a:blipFill>
          </p:spPr>
        </p:sp>
      </p:grpSp>
      <p:grpSp>
        <p:nvGrpSpPr>
          <p:cNvPr id="14" name="Group 14"/>
          <p:cNvGrpSpPr/>
          <p:nvPr/>
        </p:nvGrpSpPr>
        <p:grpSpPr>
          <a:xfrm>
            <a:off x="12091692" y="4405684"/>
            <a:ext cx="2690736" cy="2011413"/>
            <a:chOff x="0" y="0"/>
            <a:chExt cx="3587648" cy="2681884"/>
          </a:xfrm>
        </p:grpSpPr>
        <p:sp>
          <p:nvSpPr>
            <p:cNvPr id="15" name="Freeform 15" descr="image.png"/>
            <p:cNvSpPr/>
            <p:nvPr/>
          </p:nvSpPr>
          <p:spPr>
            <a:xfrm>
              <a:off x="0" y="0"/>
              <a:ext cx="3587623" cy="2681859"/>
            </a:xfrm>
            <a:custGeom>
              <a:avLst/>
              <a:gdLst/>
              <a:ahLst/>
              <a:cxnLst/>
              <a:rect l="l" t="t" r="r" b="b"/>
              <a:pathLst>
                <a:path w="3587623" h="2681859">
                  <a:moveTo>
                    <a:pt x="0" y="0"/>
                  </a:moveTo>
                  <a:lnTo>
                    <a:pt x="3587623" y="0"/>
                  </a:lnTo>
                  <a:lnTo>
                    <a:pt x="3587623" y="2681859"/>
                  </a:lnTo>
                  <a:lnTo>
                    <a:pt x="0" y="2681859"/>
                  </a:lnTo>
                  <a:lnTo>
                    <a:pt x="0" y="0"/>
                  </a:lnTo>
                  <a:close/>
                </a:path>
              </a:pathLst>
            </a:custGeom>
            <a:blipFill>
              <a:blip r:embed="rId8"/>
              <a:stretch>
                <a:fillRect l="-10" r="-11"/>
              </a:stretch>
            </a:blipFill>
          </p:spPr>
        </p:sp>
      </p:grpSp>
      <p:grpSp>
        <p:nvGrpSpPr>
          <p:cNvPr id="16" name="Group 16"/>
          <p:cNvGrpSpPr/>
          <p:nvPr/>
        </p:nvGrpSpPr>
        <p:grpSpPr>
          <a:xfrm>
            <a:off x="14953879" y="4405684"/>
            <a:ext cx="2690736" cy="2011413"/>
            <a:chOff x="0" y="0"/>
            <a:chExt cx="3587648" cy="2681884"/>
          </a:xfrm>
        </p:grpSpPr>
        <p:sp>
          <p:nvSpPr>
            <p:cNvPr id="17" name="Freeform 17" descr="image.png"/>
            <p:cNvSpPr/>
            <p:nvPr/>
          </p:nvSpPr>
          <p:spPr>
            <a:xfrm>
              <a:off x="0" y="0"/>
              <a:ext cx="3587623" cy="2681859"/>
            </a:xfrm>
            <a:custGeom>
              <a:avLst/>
              <a:gdLst/>
              <a:ahLst/>
              <a:cxnLst/>
              <a:rect l="l" t="t" r="r" b="b"/>
              <a:pathLst>
                <a:path w="3587623" h="2681859">
                  <a:moveTo>
                    <a:pt x="0" y="0"/>
                  </a:moveTo>
                  <a:lnTo>
                    <a:pt x="3587623" y="0"/>
                  </a:lnTo>
                  <a:lnTo>
                    <a:pt x="3587623" y="2681859"/>
                  </a:lnTo>
                  <a:lnTo>
                    <a:pt x="0" y="2681859"/>
                  </a:lnTo>
                  <a:lnTo>
                    <a:pt x="0" y="0"/>
                  </a:lnTo>
                  <a:close/>
                </a:path>
              </a:pathLst>
            </a:custGeom>
            <a:blipFill>
              <a:blip r:embed="rId9"/>
              <a:stretch>
                <a:fillRect l="-10" r="-11"/>
              </a:stretch>
            </a:blipFill>
          </p:spPr>
        </p:sp>
      </p:grpSp>
      <p:sp>
        <p:nvSpPr>
          <p:cNvPr id="18" name="TextBox 18"/>
          <p:cNvSpPr txBox="1"/>
          <p:nvPr/>
        </p:nvSpPr>
        <p:spPr>
          <a:xfrm>
            <a:off x="642938" y="490537"/>
            <a:ext cx="6506823" cy="566737"/>
          </a:xfrm>
          <a:prstGeom prst="rect">
            <a:avLst/>
          </a:prstGeom>
        </p:spPr>
        <p:txBody>
          <a:bodyPr lIns="0" tIns="0" rIns="0" bIns="0" rtlCol="0" anchor="t">
            <a:spAutoFit/>
          </a:bodyPr>
          <a:lstStyle/>
          <a:p>
            <a:pPr algn="l">
              <a:lnSpc>
                <a:spcPts val="4320"/>
              </a:lnSpc>
            </a:pPr>
            <a:r>
              <a:rPr lang="en-US" sz="3600" b="1">
                <a:solidFill>
                  <a:srgbClr val="064E3B"/>
                </a:solidFill>
                <a:latin typeface="Inter Bold"/>
                <a:ea typeface="Inter Bold"/>
                <a:cs typeface="Inter Bold"/>
                <a:sym typeface="Inter Bold"/>
              </a:rPr>
              <a:t>My Structured Learning Path</a:t>
            </a:r>
          </a:p>
        </p:txBody>
      </p:sp>
      <p:grpSp>
        <p:nvGrpSpPr>
          <p:cNvPr id="19" name="Group 19"/>
          <p:cNvGrpSpPr/>
          <p:nvPr/>
        </p:nvGrpSpPr>
        <p:grpSpPr>
          <a:xfrm>
            <a:off x="15040937" y="628650"/>
            <a:ext cx="2604116" cy="428625"/>
            <a:chOff x="0" y="0"/>
            <a:chExt cx="3472155" cy="571500"/>
          </a:xfrm>
        </p:grpSpPr>
        <p:sp>
          <p:nvSpPr>
            <p:cNvPr id="20" name="Freeform 20" descr="image.png"/>
            <p:cNvSpPr/>
            <p:nvPr/>
          </p:nvSpPr>
          <p:spPr>
            <a:xfrm>
              <a:off x="0" y="0"/>
              <a:ext cx="3472180" cy="571500"/>
            </a:xfrm>
            <a:custGeom>
              <a:avLst/>
              <a:gdLst/>
              <a:ahLst/>
              <a:cxnLst/>
              <a:rect l="l" t="t" r="r" b="b"/>
              <a:pathLst>
                <a:path w="3472180" h="571500">
                  <a:moveTo>
                    <a:pt x="0" y="0"/>
                  </a:moveTo>
                  <a:lnTo>
                    <a:pt x="3472180" y="0"/>
                  </a:lnTo>
                  <a:lnTo>
                    <a:pt x="3472180" y="571500"/>
                  </a:lnTo>
                  <a:lnTo>
                    <a:pt x="0" y="571500"/>
                  </a:lnTo>
                  <a:lnTo>
                    <a:pt x="0" y="0"/>
                  </a:lnTo>
                  <a:close/>
                </a:path>
              </a:pathLst>
            </a:custGeom>
            <a:blipFill>
              <a:blip r:embed="rId10"/>
              <a:stretch>
                <a:fillRect l="-201" r="-200"/>
              </a:stretch>
            </a:blipFill>
          </p:spPr>
        </p:sp>
      </p:grpSp>
      <p:sp>
        <p:nvSpPr>
          <p:cNvPr id="21" name="TextBox 21"/>
          <p:cNvSpPr txBox="1"/>
          <p:nvPr/>
        </p:nvSpPr>
        <p:spPr>
          <a:xfrm>
            <a:off x="642938" y="3805609"/>
            <a:ext cx="17002125" cy="285750"/>
          </a:xfrm>
          <a:prstGeom prst="rect">
            <a:avLst/>
          </a:prstGeom>
        </p:spPr>
        <p:txBody>
          <a:bodyPr lIns="0" tIns="0" rIns="0" bIns="0" rtlCol="0" anchor="t">
            <a:spAutoFit/>
          </a:bodyPr>
          <a:lstStyle/>
          <a:p>
            <a:pPr algn="l">
              <a:lnSpc>
                <a:spcPts val="2160"/>
              </a:lnSpc>
            </a:pPr>
            <a:r>
              <a:rPr lang="en-US" sz="1800">
                <a:solidFill>
                  <a:srgbClr val="475569"/>
                </a:solidFill>
                <a:latin typeface="Inter"/>
                <a:ea typeface="Inter"/>
                <a:cs typeface="Inter"/>
                <a:sym typeface="Inter"/>
              </a:rPr>
              <a:t>The 45-day curriculum systematically transitioned from syntax mastery to building a fully functional data science application:</a:t>
            </a:r>
          </a:p>
        </p:txBody>
      </p:sp>
      <p:sp>
        <p:nvSpPr>
          <p:cNvPr id="22" name="TextBox 22"/>
          <p:cNvSpPr txBox="1"/>
          <p:nvPr/>
        </p:nvSpPr>
        <p:spPr>
          <a:xfrm>
            <a:off x="1181100" y="6912397"/>
            <a:ext cx="16163925" cy="369094"/>
          </a:xfrm>
          <a:prstGeom prst="rect">
            <a:avLst/>
          </a:prstGeom>
        </p:spPr>
        <p:txBody>
          <a:bodyPr lIns="0" tIns="0" rIns="0" bIns="0" rtlCol="0" anchor="t">
            <a:spAutoFit/>
          </a:bodyPr>
          <a:lstStyle/>
          <a:p>
            <a:pPr algn="l">
              <a:lnSpc>
                <a:spcPts val="2530"/>
              </a:lnSpc>
            </a:pPr>
            <a:r>
              <a:rPr lang="en-US" sz="1687">
                <a:solidFill>
                  <a:srgbClr val="334155"/>
                </a:solidFill>
                <a:latin typeface="Inter"/>
                <a:ea typeface="Inter"/>
                <a:cs typeface="Inter"/>
                <a:sym typeface="Inter"/>
              </a:rPr>
              <a:t>Progressive milestones ensured theoretical algorithms were substantiated with practical code before assembling the end-to-end analytics platform.</a:t>
            </a:r>
          </a:p>
        </p:txBody>
      </p:sp>
      <p:sp>
        <p:nvSpPr>
          <p:cNvPr id="23" name="TextBox 23"/>
          <p:cNvSpPr txBox="1"/>
          <p:nvPr/>
        </p:nvSpPr>
        <p:spPr>
          <a:xfrm>
            <a:off x="857250" y="4648571"/>
            <a:ext cx="2262111" cy="228600"/>
          </a:xfrm>
          <a:prstGeom prst="rect">
            <a:avLst/>
          </a:prstGeom>
        </p:spPr>
        <p:txBody>
          <a:bodyPr lIns="0" tIns="0" rIns="0" bIns="0" rtlCol="0" anchor="t">
            <a:spAutoFit/>
          </a:bodyPr>
          <a:lstStyle/>
          <a:p>
            <a:pPr algn="l">
              <a:lnSpc>
                <a:spcPts val="1755"/>
              </a:lnSpc>
            </a:pPr>
            <a:r>
              <a:rPr lang="en-US" sz="1462" b="1">
                <a:solidFill>
                  <a:srgbClr val="059669"/>
                </a:solidFill>
                <a:latin typeface="Inter Bold"/>
                <a:ea typeface="Inter Bold"/>
                <a:cs typeface="Inter Bold"/>
                <a:sym typeface="Inter Bold"/>
              </a:rPr>
              <a:t>STEP 01</a:t>
            </a:r>
          </a:p>
        </p:txBody>
      </p:sp>
      <p:sp>
        <p:nvSpPr>
          <p:cNvPr id="24" name="TextBox 24"/>
          <p:cNvSpPr txBox="1"/>
          <p:nvPr/>
        </p:nvSpPr>
        <p:spPr>
          <a:xfrm>
            <a:off x="857250" y="4953371"/>
            <a:ext cx="2375221" cy="295275"/>
          </a:xfrm>
          <a:prstGeom prst="rect">
            <a:avLst/>
          </a:prstGeom>
        </p:spPr>
        <p:txBody>
          <a:bodyPr lIns="0" tIns="0" rIns="0" bIns="0" rtlCol="0" anchor="t">
            <a:spAutoFit/>
          </a:bodyPr>
          <a:lstStyle/>
          <a:p>
            <a:pPr algn="l">
              <a:lnSpc>
                <a:spcPts val="2226"/>
              </a:lnSpc>
            </a:pPr>
            <a:r>
              <a:rPr lang="en-US" sz="1855">
                <a:solidFill>
                  <a:srgbClr val="064E3B"/>
                </a:solidFill>
                <a:latin typeface="Inter"/>
                <a:ea typeface="Inter"/>
                <a:cs typeface="Inter"/>
                <a:sym typeface="Inter"/>
              </a:rPr>
              <a:t>Python Basics</a:t>
            </a:r>
          </a:p>
        </p:txBody>
      </p:sp>
      <p:sp>
        <p:nvSpPr>
          <p:cNvPr id="25" name="TextBox 25"/>
          <p:cNvSpPr txBox="1"/>
          <p:nvPr/>
        </p:nvSpPr>
        <p:spPr>
          <a:xfrm>
            <a:off x="857250" y="5296271"/>
            <a:ext cx="2262111" cy="877938"/>
          </a:xfrm>
          <a:prstGeom prst="rect">
            <a:avLst/>
          </a:prstGeom>
        </p:spPr>
        <p:txBody>
          <a:bodyPr lIns="0" tIns="0" rIns="0" bIns="0" rtlCol="0" anchor="t">
            <a:spAutoFit/>
          </a:bodyPr>
          <a:lstStyle/>
          <a:p>
            <a:pPr algn="l">
              <a:lnSpc>
                <a:spcPts val="2204"/>
              </a:lnSpc>
            </a:pPr>
            <a:r>
              <a:rPr lang="en-US" sz="1575">
                <a:solidFill>
                  <a:srgbClr val="64748B"/>
                </a:solidFill>
                <a:latin typeface="Inter"/>
                <a:ea typeface="Inter"/>
                <a:cs typeface="Inter"/>
                <a:sym typeface="Inter"/>
              </a:rPr>
              <a:t>Core syntax, data types, control flow, functions &amp; OOP.</a:t>
            </a:r>
          </a:p>
        </p:txBody>
      </p:sp>
      <p:sp>
        <p:nvSpPr>
          <p:cNvPr id="26" name="TextBox 26"/>
          <p:cNvSpPr txBox="1"/>
          <p:nvPr/>
        </p:nvSpPr>
        <p:spPr>
          <a:xfrm>
            <a:off x="3719436" y="4648571"/>
            <a:ext cx="2262111" cy="228600"/>
          </a:xfrm>
          <a:prstGeom prst="rect">
            <a:avLst/>
          </a:prstGeom>
        </p:spPr>
        <p:txBody>
          <a:bodyPr lIns="0" tIns="0" rIns="0" bIns="0" rtlCol="0" anchor="t">
            <a:spAutoFit/>
          </a:bodyPr>
          <a:lstStyle/>
          <a:p>
            <a:pPr algn="l">
              <a:lnSpc>
                <a:spcPts val="1755"/>
              </a:lnSpc>
            </a:pPr>
            <a:r>
              <a:rPr lang="en-US" sz="1462" b="1">
                <a:solidFill>
                  <a:srgbClr val="059669"/>
                </a:solidFill>
                <a:latin typeface="Inter Bold"/>
                <a:ea typeface="Inter Bold"/>
                <a:cs typeface="Inter Bold"/>
                <a:sym typeface="Inter Bold"/>
              </a:rPr>
              <a:t>STEP 02</a:t>
            </a:r>
          </a:p>
        </p:txBody>
      </p:sp>
      <p:sp>
        <p:nvSpPr>
          <p:cNvPr id="27" name="TextBox 27"/>
          <p:cNvSpPr txBox="1"/>
          <p:nvPr/>
        </p:nvSpPr>
        <p:spPr>
          <a:xfrm>
            <a:off x="3719436" y="4953371"/>
            <a:ext cx="2375221" cy="295275"/>
          </a:xfrm>
          <a:prstGeom prst="rect">
            <a:avLst/>
          </a:prstGeom>
        </p:spPr>
        <p:txBody>
          <a:bodyPr lIns="0" tIns="0" rIns="0" bIns="0" rtlCol="0" anchor="t">
            <a:spAutoFit/>
          </a:bodyPr>
          <a:lstStyle/>
          <a:p>
            <a:pPr algn="l">
              <a:lnSpc>
                <a:spcPts val="2226"/>
              </a:lnSpc>
            </a:pPr>
            <a:r>
              <a:rPr lang="en-US" sz="1855">
                <a:solidFill>
                  <a:srgbClr val="064E3B"/>
                </a:solidFill>
                <a:latin typeface="Inter"/>
                <a:ea typeface="Inter"/>
                <a:cs typeface="Inter"/>
                <a:sym typeface="Inter"/>
              </a:rPr>
              <a:t>Working with Data</a:t>
            </a:r>
          </a:p>
        </p:txBody>
      </p:sp>
      <p:sp>
        <p:nvSpPr>
          <p:cNvPr id="28" name="TextBox 28"/>
          <p:cNvSpPr txBox="1"/>
          <p:nvPr/>
        </p:nvSpPr>
        <p:spPr>
          <a:xfrm>
            <a:off x="3719436" y="5296271"/>
            <a:ext cx="2262111" cy="877938"/>
          </a:xfrm>
          <a:prstGeom prst="rect">
            <a:avLst/>
          </a:prstGeom>
        </p:spPr>
        <p:txBody>
          <a:bodyPr lIns="0" tIns="0" rIns="0" bIns="0" rtlCol="0" anchor="t">
            <a:spAutoFit/>
          </a:bodyPr>
          <a:lstStyle/>
          <a:p>
            <a:pPr algn="l">
              <a:lnSpc>
                <a:spcPts val="2204"/>
              </a:lnSpc>
            </a:pPr>
            <a:r>
              <a:rPr lang="en-US" sz="1575">
                <a:solidFill>
                  <a:srgbClr val="64748B"/>
                </a:solidFill>
                <a:latin typeface="Inter"/>
                <a:ea typeface="Inter"/>
                <a:cs typeface="Inter"/>
                <a:sym typeface="Inter"/>
              </a:rPr>
              <a:t>Vector arrays in NumPy &amp; DataFrames in Pandas.</a:t>
            </a:r>
          </a:p>
        </p:txBody>
      </p:sp>
      <p:sp>
        <p:nvSpPr>
          <p:cNvPr id="29" name="TextBox 29"/>
          <p:cNvSpPr txBox="1"/>
          <p:nvPr/>
        </p:nvSpPr>
        <p:spPr>
          <a:xfrm>
            <a:off x="6581623" y="4648571"/>
            <a:ext cx="2262111" cy="228600"/>
          </a:xfrm>
          <a:prstGeom prst="rect">
            <a:avLst/>
          </a:prstGeom>
        </p:spPr>
        <p:txBody>
          <a:bodyPr lIns="0" tIns="0" rIns="0" bIns="0" rtlCol="0" anchor="t">
            <a:spAutoFit/>
          </a:bodyPr>
          <a:lstStyle/>
          <a:p>
            <a:pPr algn="l">
              <a:lnSpc>
                <a:spcPts val="1755"/>
              </a:lnSpc>
            </a:pPr>
            <a:r>
              <a:rPr lang="en-US" sz="1462" b="1">
                <a:solidFill>
                  <a:srgbClr val="059669"/>
                </a:solidFill>
                <a:latin typeface="Inter Bold"/>
                <a:ea typeface="Inter Bold"/>
                <a:cs typeface="Inter Bold"/>
                <a:sym typeface="Inter Bold"/>
              </a:rPr>
              <a:t>STEP 03</a:t>
            </a:r>
          </a:p>
        </p:txBody>
      </p:sp>
      <p:sp>
        <p:nvSpPr>
          <p:cNvPr id="30" name="TextBox 30"/>
          <p:cNvSpPr txBox="1"/>
          <p:nvPr/>
        </p:nvSpPr>
        <p:spPr>
          <a:xfrm>
            <a:off x="6581623" y="4953371"/>
            <a:ext cx="2375221" cy="295275"/>
          </a:xfrm>
          <a:prstGeom prst="rect">
            <a:avLst/>
          </a:prstGeom>
        </p:spPr>
        <p:txBody>
          <a:bodyPr lIns="0" tIns="0" rIns="0" bIns="0" rtlCol="0" anchor="t">
            <a:spAutoFit/>
          </a:bodyPr>
          <a:lstStyle/>
          <a:p>
            <a:pPr algn="l">
              <a:lnSpc>
                <a:spcPts val="2226"/>
              </a:lnSpc>
            </a:pPr>
            <a:r>
              <a:rPr lang="en-US" sz="1855">
                <a:solidFill>
                  <a:srgbClr val="064E3B"/>
                </a:solidFill>
                <a:latin typeface="Inter"/>
                <a:ea typeface="Inter"/>
                <a:cs typeface="Inter"/>
                <a:sym typeface="Inter"/>
              </a:rPr>
              <a:t>EDA &amp; Visuals</a:t>
            </a:r>
          </a:p>
        </p:txBody>
      </p:sp>
      <p:sp>
        <p:nvSpPr>
          <p:cNvPr id="31" name="TextBox 31"/>
          <p:cNvSpPr txBox="1"/>
          <p:nvPr/>
        </p:nvSpPr>
        <p:spPr>
          <a:xfrm>
            <a:off x="6581623" y="5296271"/>
            <a:ext cx="2262111" cy="877938"/>
          </a:xfrm>
          <a:prstGeom prst="rect">
            <a:avLst/>
          </a:prstGeom>
        </p:spPr>
        <p:txBody>
          <a:bodyPr lIns="0" tIns="0" rIns="0" bIns="0" rtlCol="0" anchor="t">
            <a:spAutoFit/>
          </a:bodyPr>
          <a:lstStyle/>
          <a:p>
            <a:pPr algn="l">
              <a:lnSpc>
                <a:spcPts val="2204"/>
              </a:lnSpc>
            </a:pPr>
            <a:r>
              <a:rPr lang="en-US" sz="1575">
                <a:solidFill>
                  <a:srgbClr val="64748B"/>
                </a:solidFill>
                <a:latin typeface="Inter"/>
                <a:ea typeface="Inter"/>
                <a:cs typeface="Inter"/>
                <a:sym typeface="Inter"/>
              </a:rPr>
              <a:t>Pattern recognition, statistical metrics &amp; plots.</a:t>
            </a:r>
          </a:p>
        </p:txBody>
      </p:sp>
      <p:sp>
        <p:nvSpPr>
          <p:cNvPr id="32" name="TextBox 32"/>
          <p:cNvSpPr txBox="1"/>
          <p:nvPr/>
        </p:nvSpPr>
        <p:spPr>
          <a:xfrm>
            <a:off x="9443818" y="4648571"/>
            <a:ext cx="2262111" cy="228600"/>
          </a:xfrm>
          <a:prstGeom prst="rect">
            <a:avLst/>
          </a:prstGeom>
        </p:spPr>
        <p:txBody>
          <a:bodyPr lIns="0" tIns="0" rIns="0" bIns="0" rtlCol="0" anchor="t">
            <a:spAutoFit/>
          </a:bodyPr>
          <a:lstStyle/>
          <a:p>
            <a:pPr algn="l">
              <a:lnSpc>
                <a:spcPts val="1755"/>
              </a:lnSpc>
            </a:pPr>
            <a:r>
              <a:rPr lang="en-US" sz="1462" b="1">
                <a:solidFill>
                  <a:srgbClr val="059669"/>
                </a:solidFill>
                <a:latin typeface="Inter Bold"/>
                <a:ea typeface="Inter Bold"/>
                <a:cs typeface="Inter Bold"/>
                <a:sym typeface="Inter Bold"/>
              </a:rPr>
              <a:t>STEP 04</a:t>
            </a:r>
          </a:p>
        </p:txBody>
      </p:sp>
      <p:sp>
        <p:nvSpPr>
          <p:cNvPr id="33" name="TextBox 33"/>
          <p:cNvSpPr txBox="1"/>
          <p:nvPr/>
        </p:nvSpPr>
        <p:spPr>
          <a:xfrm>
            <a:off x="9443818" y="4953371"/>
            <a:ext cx="2375221" cy="295275"/>
          </a:xfrm>
          <a:prstGeom prst="rect">
            <a:avLst/>
          </a:prstGeom>
        </p:spPr>
        <p:txBody>
          <a:bodyPr lIns="0" tIns="0" rIns="0" bIns="0" rtlCol="0" anchor="t">
            <a:spAutoFit/>
          </a:bodyPr>
          <a:lstStyle/>
          <a:p>
            <a:pPr algn="l">
              <a:lnSpc>
                <a:spcPts val="2226"/>
              </a:lnSpc>
            </a:pPr>
            <a:r>
              <a:rPr lang="en-US" sz="1855">
                <a:solidFill>
                  <a:srgbClr val="064E3B"/>
                </a:solidFill>
                <a:latin typeface="Inter"/>
                <a:ea typeface="Inter"/>
                <a:cs typeface="Inter"/>
                <a:sym typeface="Inter"/>
              </a:rPr>
              <a:t>Machine Learning</a:t>
            </a:r>
          </a:p>
        </p:txBody>
      </p:sp>
      <p:sp>
        <p:nvSpPr>
          <p:cNvPr id="34" name="TextBox 34"/>
          <p:cNvSpPr txBox="1"/>
          <p:nvPr/>
        </p:nvSpPr>
        <p:spPr>
          <a:xfrm>
            <a:off x="9443818" y="5296271"/>
            <a:ext cx="2262111" cy="877938"/>
          </a:xfrm>
          <a:prstGeom prst="rect">
            <a:avLst/>
          </a:prstGeom>
        </p:spPr>
        <p:txBody>
          <a:bodyPr lIns="0" tIns="0" rIns="0" bIns="0" rtlCol="0" anchor="t">
            <a:spAutoFit/>
          </a:bodyPr>
          <a:lstStyle/>
          <a:p>
            <a:pPr algn="l">
              <a:lnSpc>
                <a:spcPts val="2204"/>
              </a:lnSpc>
            </a:pPr>
            <a:r>
              <a:rPr lang="en-US" sz="1575">
                <a:solidFill>
                  <a:srgbClr val="64748B"/>
                </a:solidFill>
                <a:latin typeface="Inter"/>
                <a:ea typeface="Inter"/>
                <a:cs typeface="Inter"/>
                <a:sym typeface="Inter"/>
              </a:rPr>
              <a:t>Regression, classification, preprocessing &amp; tuning.</a:t>
            </a:r>
          </a:p>
        </p:txBody>
      </p:sp>
      <p:sp>
        <p:nvSpPr>
          <p:cNvPr id="35" name="TextBox 35"/>
          <p:cNvSpPr txBox="1"/>
          <p:nvPr/>
        </p:nvSpPr>
        <p:spPr>
          <a:xfrm>
            <a:off x="12306005" y="4648571"/>
            <a:ext cx="2262111" cy="228600"/>
          </a:xfrm>
          <a:prstGeom prst="rect">
            <a:avLst/>
          </a:prstGeom>
        </p:spPr>
        <p:txBody>
          <a:bodyPr lIns="0" tIns="0" rIns="0" bIns="0" rtlCol="0" anchor="t">
            <a:spAutoFit/>
          </a:bodyPr>
          <a:lstStyle/>
          <a:p>
            <a:pPr algn="l">
              <a:lnSpc>
                <a:spcPts val="1755"/>
              </a:lnSpc>
            </a:pPr>
            <a:r>
              <a:rPr lang="en-US" sz="1462" b="1">
                <a:solidFill>
                  <a:srgbClr val="059669"/>
                </a:solidFill>
                <a:latin typeface="Inter Bold"/>
                <a:ea typeface="Inter Bold"/>
                <a:cs typeface="Inter Bold"/>
                <a:sym typeface="Inter Bold"/>
              </a:rPr>
              <a:t>STEP 05</a:t>
            </a:r>
          </a:p>
        </p:txBody>
      </p:sp>
      <p:sp>
        <p:nvSpPr>
          <p:cNvPr id="36" name="TextBox 36"/>
          <p:cNvSpPr txBox="1"/>
          <p:nvPr/>
        </p:nvSpPr>
        <p:spPr>
          <a:xfrm>
            <a:off x="12306005" y="4953371"/>
            <a:ext cx="2375221" cy="295275"/>
          </a:xfrm>
          <a:prstGeom prst="rect">
            <a:avLst/>
          </a:prstGeom>
        </p:spPr>
        <p:txBody>
          <a:bodyPr lIns="0" tIns="0" rIns="0" bIns="0" rtlCol="0" anchor="t">
            <a:spAutoFit/>
          </a:bodyPr>
          <a:lstStyle/>
          <a:p>
            <a:pPr algn="l">
              <a:lnSpc>
                <a:spcPts val="2226"/>
              </a:lnSpc>
            </a:pPr>
            <a:r>
              <a:rPr lang="en-US" sz="1855">
                <a:solidFill>
                  <a:srgbClr val="064E3B"/>
                </a:solidFill>
                <a:latin typeface="Inter"/>
                <a:ea typeface="Inter"/>
                <a:cs typeface="Inter"/>
                <a:sym typeface="Inter"/>
              </a:rPr>
              <a:t>AI &amp; Deep Learning</a:t>
            </a:r>
          </a:p>
        </p:txBody>
      </p:sp>
      <p:sp>
        <p:nvSpPr>
          <p:cNvPr id="37" name="TextBox 37"/>
          <p:cNvSpPr txBox="1"/>
          <p:nvPr/>
        </p:nvSpPr>
        <p:spPr>
          <a:xfrm>
            <a:off x="12306005" y="5296271"/>
            <a:ext cx="2262111" cy="597989"/>
          </a:xfrm>
          <a:prstGeom prst="rect">
            <a:avLst/>
          </a:prstGeom>
        </p:spPr>
        <p:txBody>
          <a:bodyPr lIns="0" tIns="0" rIns="0" bIns="0" rtlCol="0" anchor="t">
            <a:spAutoFit/>
          </a:bodyPr>
          <a:lstStyle/>
          <a:p>
            <a:pPr algn="l">
              <a:lnSpc>
                <a:spcPts val="2204"/>
              </a:lnSpc>
            </a:pPr>
            <a:r>
              <a:rPr lang="en-US" sz="1575">
                <a:solidFill>
                  <a:srgbClr val="64748B"/>
                </a:solidFill>
                <a:latin typeface="Inter"/>
                <a:ea typeface="Inter"/>
                <a:cs typeface="Inter"/>
                <a:sym typeface="Inter"/>
              </a:rPr>
              <a:t>Neural networks, latent patterns &amp; evaluation.</a:t>
            </a:r>
          </a:p>
        </p:txBody>
      </p:sp>
      <p:sp>
        <p:nvSpPr>
          <p:cNvPr id="38" name="TextBox 38"/>
          <p:cNvSpPr txBox="1"/>
          <p:nvPr/>
        </p:nvSpPr>
        <p:spPr>
          <a:xfrm>
            <a:off x="15168191" y="4648571"/>
            <a:ext cx="2262111" cy="228600"/>
          </a:xfrm>
          <a:prstGeom prst="rect">
            <a:avLst/>
          </a:prstGeom>
        </p:spPr>
        <p:txBody>
          <a:bodyPr lIns="0" tIns="0" rIns="0" bIns="0" rtlCol="0" anchor="t">
            <a:spAutoFit/>
          </a:bodyPr>
          <a:lstStyle/>
          <a:p>
            <a:pPr algn="l">
              <a:lnSpc>
                <a:spcPts val="1755"/>
              </a:lnSpc>
            </a:pPr>
            <a:r>
              <a:rPr lang="en-US" sz="1462" b="1">
                <a:solidFill>
                  <a:srgbClr val="D97706"/>
                </a:solidFill>
                <a:latin typeface="Inter Bold"/>
                <a:ea typeface="Inter Bold"/>
                <a:cs typeface="Inter Bold"/>
                <a:sym typeface="Inter Bold"/>
              </a:rPr>
              <a:t>STEP 06</a:t>
            </a:r>
          </a:p>
        </p:txBody>
      </p:sp>
      <p:sp>
        <p:nvSpPr>
          <p:cNvPr id="39" name="TextBox 39"/>
          <p:cNvSpPr txBox="1"/>
          <p:nvPr/>
        </p:nvSpPr>
        <p:spPr>
          <a:xfrm>
            <a:off x="15168191" y="4953371"/>
            <a:ext cx="2375221" cy="295275"/>
          </a:xfrm>
          <a:prstGeom prst="rect">
            <a:avLst/>
          </a:prstGeom>
        </p:spPr>
        <p:txBody>
          <a:bodyPr lIns="0" tIns="0" rIns="0" bIns="0" rtlCol="0" anchor="t">
            <a:spAutoFit/>
          </a:bodyPr>
          <a:lstStyle/>
          <a:p>
            <a:pPr algn="l">
              <a:lnSpc>
                <a:spcPts val="2226"/>
              </a:lnSpc>
            </a:pPr>
            <a:r>
              <a:rPr lang="en-US" sz="1855">
                <a:solidFill>
                  <a:srgbClr val="064E3B"/>
                </a:solidFill>
                <a:latin typeface="Inter"/>
                <a:ea typeface="Inter"/>
                <a:cs typeface="Inter"/>
                <a:sym typeface="Inter"/>
              </a:rPr>
              <a:t>Practical Project</a:t>
            </a:r>
          </a:p>
        </p:txBody>
      </p:sp>
      <p:sp>
        <p:nvSpPr>
          <p:cNvPr id="40" name="TextBox 40"/>
          <p:cNvSpPr txBox="1"/>
          <p:nvPr/>
        </p:nvSpPr>
        <p:spPr>
          <a:xfrm>
            <a:off x="15168191" y="5296271"/>
            <a:ext cx="2262111" cy="597989"/>
          </a:xfrm>
          <a:prstGeom prst="rect">
            <a:avLst/>
          </a:prstGeom>
        </p:spPr>
        <p:txBody>
          <a:bodyPr lIns="0" tIns="0" rIns="0" bIns="0" rtlCol="0" anchor="t">
            <a:spAutoFit/>
          </a:bodyPr>
          <a:lstStyle/>
          <a:p>
            <a:pPr algn="l">
              <a:lnSpc>
                <a:spcPts val="2204"/>
              </a:lnSpc>
            </a:pPr>
            <a:r>
              <a:rPr lang="en-US" sz="1575">
                <a:solidFill>
                  <a:srgbClr val="64748B"/>
                </a:solidFill>
                <a:latin typeface="Inter"/>
                <a:ea typeface="Inter"/>
                <a:cs typeface="Inter"/>
                <a:sym typeface="Inter"/>
              </a:rPr>
              <a:t>Smart Expense Pattern Analyzer in Streamlit.</a:t>
            </a:r>
          </a:p>
        </p:txBody>
      </p:sp>
      <p:grpSp>
        <p:nvGrpSpPr>
          <p:cNvPr id="41" name="Group 41"/>
          <p:cNvGrpSpPr/>
          <p:nvPr/>
        </p:nvGrpSpPr>
        <p:grpSpPr>
          <a:xfrm>
            <a:off x="942975" y="7002885"/>
            <a:ext cx="242888" cy="214312"/>
            <a:chOff x="0" y="0"/>
            <a:chExt cx="323850" cy="285750"/>
          </a:xfrm>
        </p:grpSpPr>
        <p:sp>
          <p:nvSpPr>
            <p:cNvPr id="42" name="Freeform 42" descr="image.png"/>
            <p:cNvSpPr/>
            <p:nvPr/>
          </p:nvSpPr>
          <p:spPr>
            <a:xfrm>
              <a:off x="0" y="0"/>
              <a:ext cx="323850" cy="285750"/>
            </a:xfrm>
            <a:custGeom>
              <a:avLst/>
              <a:gdLst/>
              <a:ahLst/>
              <a:cxnLst/>
              <a:rect l="l" t="t" r="r" b="b"/>
              <a:pathLst>
                <a:path w="323850" h="285750">
                  <a:moveTo>
                    <a:pt x="0" y="0"/>
                  </a:moveTo>
                  <a:lnTo>
                    <a:pt x="323850" y="0"/>
                  </a:lnTo>
                  <a:lnTo>
                    <a:pt x="323850" y="285750"/>
                  </a:lnTo>
                  <a:lnTo>
                    <a:pt x="0" y="285750"/>
                  </a:lnTo>
                  <a:lnTo>
                    <a:pt x="0" y="0"/>
                  </a:lnTo>
                  <a:close/>
                </a:path>
              </a:pathLst>
            </a:custGeom>
            <a:blipFill>
              <a:blip r:embed="rId11"/>
              <a:stretch>
                <a:fillRect t="-3333" b="-3333"/>
              </a:stretch>
            </a:blipFill>
          </p:spPr>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sp>
      </p:grpSp>
      <p:grpSp>
        <p:nvGrpSpPr>
          <p:cNvPr id="4" name="Group 4"/>
          <p:cNvGrpSpPr/>
          <p:nvPr/>
        </p:nvGrpSpPr>
        <p:grpSpPr>
          <a:xfrm>
            <a:off x="642938" y="6817595"/>
            <a:ext cx="17002125" cy="1100138"/>
            <a:chOff x="0" y="0"/>
            <a:chExt cx="22669500" cy="1466850"/>
          </a:xfrm>
        </p:grpSpPr>
        <p:sp>
          <p:nvSpPr>
            <p:cNvPr id="5" name="Freeform 5" descr="image.png"/>
            <p:cNvSpPr/>
            <p:nvPr/>
          </p:nvSpPr>
          <p:spPr>
            <a:xfrm>
              <a:off x="0" y="0"/>
              <a:ext cx="22669500" cy="1466850"/>
            </a:xfrm>
            <a:custGeom>
              <a:avLst/>
              <a:gdLst/>
              <a:ahLst/>
              <a:cxnLst/>
              <a:rect l="l" t="t" r="r" b="b"/>
              <a:pathLst>
                <a:path w="22669500" h="1466850">
                  <a:moveTo>
                    <a:pt x="0" y="0"/>
                  </a:moveTo>
                  <a:lnTo>
                    <a:pt x="22669500" y="0"/>
                  </a:lnTo>
                  <a:lnTo>
                    <a:pt x="22669500" y="1466850"/>
                  </a:lnTo>
                  <a:lnTo>
                    <a:pt x="0" y="1466850"/>
                  </a:lnTo>
                  <a:lnTo>
                    <a:pt x="0" y="0"/>
                  </a:lnTo>
                  <a:close/>
                </a:path>
              </a:pathLst>
            </a:custGeom>
            <a:blipFill>
              <a:blip r:embed="rId3"/>
              <a:stretch>
                <a:fillRect t="-564" b="-564"/>
              </a:stretch>
            </a:blipFill>
          </p:spPr>
        </p:sp>
      </p:grpSp>
      <p:grpSp>
        <p:nvGrpSpPr>
          <p:cNvPr id="6" name="Group 6"/>
          <p:cNvGrpSpPr/>
          <p:nvPr/>
        </p:nvGrpSpPr>
        <p:grpSpPr>
          <a:xfrm>
            <a:off x="642938" y="3397968"/>
            <a:ext cx="4079081" cy="3133877"/>
            <a:chOff x="0" y="0"/>
            <a:chExt cx="5438775" cy="4178503"/>
          </a:xfrm>
        </p:grpSpPr>
        <p:sp>
          <p:nvSpPr>
            <p:cNvPr id="7" name="Freeform 7" descr="image.png"/>
            <p:cNvSpPr/>
            <p:nvPr/>
          </p:nvSpPr>
          <p:spPr>
            <a:xfrm>
              <a:off x="0" y="0"/>
              <a:ext cx="5438775" cy="4178554"/>
            </a:xfrm>
            <a:custGeom>
              <a:avLst/>
              <a:gdLst/>
              <a:ahLst/>
              <a:cxnLst/>
              <a:rect l="l" t="t" r="r" b="b"/>
              <a:pathLst>
                <a:path w="5438775" h="4178554">
                  <a:moveTo>
                    <a:pt x="0" y="0"/>
                  </a:moveTo>
                  <a:lnTo>
                    <a:pt x="5438775" y="0"/>
                  </a:lnTo>
                  <a:lnTo>
                    <a:pt x="5438775" y="4178554"/>
                  </a:lnTo>
                  <a:lnTo>
                    <a:pt x="0" y="4178554"/>
                  </a:lnTo>
                  <a:lnTo>
                    <a:pt x="0" y="0"/>
                  </a:lnTo>
                  <a:close/>
                </a:path>
              </a:pathLst>
            </a:custGeom>
            <a:blipFill>
              <a:blip r:embed="rId4"/>
              <a:stretch>
                <a:fillRect t="-289" b="-288"/>
              </a:stretch>
            </a:blipFill>
          </p:spPr>
        </p:sp>
      </p:grpSp>
      <p:grpSp>
        <p:nvGrpSpPr>
          <p:cNvPr id="8" name="Group 8"/>
          <p:cNvGrpSpPr/>
          <p:nvPr/>
        </p:nvGrpSpPr>
        <p:grpSpPr>
          <a:xfrm>
            <a:off x="4950619" y="3397968"/>
            <a:ext cx="4079081" cy="3133877"/>
            <a:chOff x="0" y="0"/>
            <a:chExt cx="5438775" cy="4178503"/>
          </a:xfrm>
        </p:grpSpPr>
        <p:sp>
          <p:nvSpPr>
            <p:cNvPr id="9" name="Freeform 9" descr="image.png"/>
            <p:cNvSpPr/>
            <p:nvPr/>
          </p:nvSpPr>
          <p:spPr>
            <a:xfrm>
              <a:off x="0" y="0"/>
              <a:ext cx="5438775" cy="4178554"/>
            </a:xfrm>
            <a:custGeom>
              <a:avLst/>
              <a:gdLst/>
              <a:ahLst/>
              <a:cxnLst/>
              <a:rect l="l" t="t" r="r" b="b"/>
              <a:pathLst>
                <a:path w="5438775" h="4178554">
                  <a:moveTo>
                    <a:pt x="0" y="0"/>
                  </a:moveTo>
                  <a:lnTo>
                    <a:pt x="5438775" y="0"/>
                  </a:lnTo>
                  <a:lnTo>
                    <a:pt x="5438775" y="4178554"/>
                  </a:lnTo>
                  <a:lnTo>
                    <a:pt x="0" y="4178554"/>
                  </a:lnTo>
                  <a:lnTo>
                    <a:pt x="0" y="0"/>
                  </a:lnTo>
                  <a:close/>
                </a:path>
              </a:pathLst>
            </a:custGeom>
            <a:blipFill>
              <a:blip r:embed="rId5"/>
              <a:stretch>
                <a:fillRect t="-289" b="-288"/>
              </a:stretch>
            </a:blipFill>
          </p:spPr>
        </p:sp>
      </p:grpSp>
      <p:grpSp>
        <p:nvGrpSpPr>
          <p:cNvPr id="10" name="Group 10"/>
          <p:cNvGrpSpPr/>
          <p:nvPr/>
        </p:nvGrpSpPr>
        <p:grpSpPr>
          <a:xfrm>
            <a:off x="9258300" y="3397968"/>
            <a:ext cx="4079081" cy="3133877"/>
            <a:chOff x="0" y="0"/>
            <a:chExt cx="5438775" cy="4178503"/>
          </a:xfrm>
        </p:grpSpPr>
        <p:sp>
          <p:nvSpPr>
            <p:cNvPr id="11" name="Freeform 11" descr="image.png"/>
            <p:cNvSpPr/>
            <p:nvPr/>
          </p:nvSpPr>
          <p:spPr>
            <a:xfrm>
              <a:off x="0" y="0"/>
              <a:ext cx="5438775" cy="4178554"/>
            </a:xfrm>
            <a:custGeom>
              <a:avLst/>
              <a:gdLst/>
              <a:ahLst/>
              <a:cxnLst/>
              <a:rect l="l" t="t" r="r" b="b"/>
              <a:pathLst>
                <a:path w="5438775" h="4178554">
                  <a:moveTo>
                    <a:pt x="0" y="0"/>
                  </a:moveTo>
                  <a:lnTo>
                    <a:pt x="5438775" y="0"/>
                  </a:lnTo>
                  <a:lnTo>
                    <a:pt x="5438775" y="4178554"/>
                  </a:lnTo>
                  <a:lnTo>
                    <a:pt x="0" y="4178554"/>
                  </a:lnTo>
                  <a:lnTo>
                    <a:pt x="0" y="0"/>
                  </a:lnTo>
                  <a:close/>
                </a:path>
              </a:pathLst>
            </a:custGeom>
            <a:blipFill>
              <a:blip r:embed="rId5"/>
              <a:stretch>
                <a:fillRect t="-289" b="-288"/>
              </a:stretch>
            </a:blipFill>
          </p:spPr>
        </p:sp>
      </p:grpSp>
      <p:grpSp>
        <p:nvGrpSpPr>
          <p:cNvPr id="12" name="Group 12"/>
          <p:cNvGrpSpPr/>
          <p:nvPr/>
        </p:nvGrpSpPr>
        <p:grpSpPr>
          <a:xfrm>
            <a:off x="13565981" y="3397968"/>
            <a:ext cx="4079081" cy="3133877"/>
            <a:chOff x="0" y="0"/>
            <a:chExt cx="5438775" cy="4178503"/>
          </a:xfrm>
        </p:grpSpPr>
        <p:sp>
          <p:nvSpPr>
            <p:cNvPr id="13" name="Freeform 13" descr="image.png"/>
            <p:cNvSpPr/>
            <p:nvPr/>
          </p:nvSpPr>
          <p:spPr>
            <a:xfrm>
              <a:off x="0" y="0"/>
              <a:ext cx="5438775" cy="4178554"/>
            </a:xfrm>
            <a:custGeom>
              <a:avLst/>
              <a:gdLst/>
              <a:ahLst/>
              <a:cxnLst/>
              <a:rect l="l" t="t" r="r" b="b"/>
              <a:pathLst>
                <a:path w="5438775" h="4178554">
                  <a:moveTo>
                    <a:pt x="0" y="0"/>
                  </a:moveTo>
                  <a:lnTo>
                    <a:pt x="5438775" y="0"/>
                  </a:lnTo>
                  <a:lnTo>
                    <a:pt x="5438775" y="4178554"/>
                  </a:lnTo>
                  <a:lnTo>
                    <a:pt x="0" y="4178554"/>
                  </a:lnTo>
                  <a:lnTo>
                    <a:pt x="0" y="0"/>
                  </a:lnTo>
                  <a:close/>
                </a:path>
              </a:pathLst>
            </a:custGeom>
            <a:blipFill>
              <a:blip r:embed="rId5"/>
              <a:stretch>
                <a:fillRect t="-289" b="-288"/>
              </a:stretch>
            </a:blipFill>
          </p:spPr>
        </p:sp>
      </p:grpSp>
      <p:sp>
        <p:nvSpPr>
          <p:cNvPr id="14" name="TextBox 14"/>
          <p:cNvSpPr txBox="1"/>
          <p:nvPr/>
        </p:nvSpPr>
        <p:spPr>
          <a:xfrm>
            <a:off x="642938" y="490537"/>
            <a:ext cx="8163601" cy="566737"/>
          </a:xfrm>
          <a:prstGeom prst="rect">
            <a:avLst/>
          </a:prstGeom>
        </p:spPr>
        <p:txBody>
          <a:bodyPr lIns="0" tIns="0" rIns="0" bIns="0" rtlCol="0" anchor="t">
            <a:spAutoFit/>
          </a:bodyPr>
          <a:lstStyle/>
          <a:p>
            <a:pPr algn="l">
              <a:lnSpc>
                <a:spcPts val="4320"/>
              </a:lnSpc>
            </a:pPr>
            <a:r>
              <a:rPr lang="en-US" sz="3600" b="1">
                <a:solidFill>
                  <a:srgbClr val="064E3B"/>
                </a:solidFill>
                <a:latin typeface="Inter Bold"/>
                <a:ea typeface="Inter Bold"/>
                <a:cs typeface="Inter Bold"/>
                <a:sym typeface="Inter Bold"/>
              </a:rPr>
              <a:t>Python Programming Fundamentals</a:t>
            </a:r>
          </a:p>
        </p:txBody>
      </p:sp>
      <p:grpSp>
        <p:nvGrpSpPr>
          <p:cNvPr id="15" name="Group 15"/>
          <p:cNvGrpSpPr/>
          <p:nvPr/>
        </p:nvGrpSpPr>
        <p:grpSpPr>
          <a:xfrm>
            <a:off x="15485640" y="628650"/>
            <a:ext cx="2159422" cy="428625"/>
            <a:chOff x="0" y="0"/>
            <a:chExt cx="2879230" cy="571500"/>
          </a:xfrm>
        </p:grpSpPr>
        <p:sp>
          <p:nvSpPr>
            <p:cNvPr id="16" name="Freeform 16" descr="image.png"/>
            <p:cNvSpPr/>
            <p:nvPr/>
          </p:nvSpPr>
          <p:spPr>
            <a:xfrm>
              <a:off x="0" y="0"/>
              <a:ext cx="2879217" cy="571500"/>
            </a:xfrm>
            <a:custGeom>
              <a:avLst/>
              <a:gdLst/>
              <a:ahLst/>
              <a:cxnLst/>
              <a:rect l="l" t="t" r="r" b="b"/>
              <a:pathLst>
                <a:path w="2879217" h="571500">
                  <a:moveTo>
                    <a:pt x="0" y="0"/>
                  </a:moveTo>
                  <a:lnTo>
                    <a:pt x="2879217" y="0"/>
                  </a:lnTo>
                  <a:lnTo>
                    <a:pt x="2879217" y="571500"/>
                  </a:lnTo>
                  <a:lnTo>
                    <a:pt x="0" y="571500"/>
                  </a:lnTo>
                  <a:lnTo>
                    <a:pt x="0" y="0"/>
                  </a:lnTo>
                  <a:close/>
                </a:path>
              </a:pathLst>
            </a:custGeom>
            <a:blipFill>
              <a:blip r:embed="rId6"/>
              <a:stretch>
                <a:fillRect l="-284" r="-284"/>
              </a:stretch>
            </a:blipFill>
          </p:spPr>
        </p:sp>
      </p:grpSp>
      <p:sp>
        <p:nvSpPr>
          <p:cNvPr id="17" name="TextBox 17"/>
          <p:cNvSpPr txBox="1"/>
          <p:nvPr/>
        </p:nvSpPr>
        <p:spPr>
          <a:xfrm>
            <a:off x="971550" y="6998570"/>
            <a:ext cx="16344900" cy="690563"/>
          </a:xfrm>
          <a:prstGeom prst="rect">
            <a:avLst/>
          </a:prstGeom>
        </p:spPr>
        <p:txBody>
          <a:bodyPr lIns="0" tIns="0" rIns="0" bIns="0" rtlCol="0" anchor="t">
            <a:spAutoFit/>
          </a:bodyPr>
          <a:lstStyle/>
          <a:p>
            <a:pPr algn="l">
              <a:lnSpc>
                <a:spcPts val="2530"/>
              </a:lnSpc>
            </a:pPr>
            <a:r>
              <a:rPr lang="en-US" sz="1687" b="1">
                <a:solidFill>
                  <a:srgbClr val="065F46"/>
                </a:solidFill>
                <a:latin typeface="Inter Bold"/>
                <a:ea typeface="Inter Bold"/>
                <a:cs typeface="Inter Bold"/>
                <a:sym typeface="Inter Bold"/>
              </a:rPr>
              <a:t>Key Takeaway:</a:t>
            </a:r>
            <a:r>
              <a:rPr lang="en-US" sz="1687">
                <a:solidFill>
                  <a:srgbClr val="065F46"/>
                </a:solidFill>
                <a:latin typeface="Inter"/>
                <a:ea typeface="Inter"/>
                <a:cs typeface="Inter"/>
                <a:sym typeface="Inter"/>
              </a:rPr>
              <a:t> Clean object-oriented Python provided the essential foundation for managing database interactions, feature engineering pipelines, and interactive UI logic in the final project.</a:t>
            </a:r>
          </a:p>
        </p:txBody>
      </p:sp>
      <p:grpSp>
        <p:nvGrpSpPr>
          <p:cNvPr id="18" name="Group 18"/>
          <p:cNvGrpSpPr/>
          <p:nvPr/>
        </p:nvGrpSpPr>
        <p:grpSpPr>
          <a:xfrm>
            <a:off x="1428750" y="3726580"/>
            <a:ext cx="3112884" cy="328612"/>
            <a:chOff x="0" y="0"/>
            <a:chExt cx="4150512" cy="438150"/>
          </a:xfrm>
        </p:grpSpPr>
        <p:sp>
          <p:nvSpPr>
            <p:cNvPr id="19" name="Freeform 19"/>
            <p:cNvSpPr/>
            <p:nvPr/>
          </p:nvSpPr>
          <p:spPr>
            <a:xfrm>
              <a:off x="0" y="0"/>
              <a:ext cx="4150518" cy="438150"/>
            </a:xfrm>
            <a:custGeom>
              <a:avLst/>
              <a:gdLst/>
              <a:ahLst/>
              <a:cxnLst/>
              <a:rect l="l" t="t" r="r" b="b"/>
              <a:pathLst>
                <a:path w="4150518" h="438150">
                  <a:moveTo>
                    <a:pt x="0" y="0"/>
                  </a:moveTo>
                  <a:lnTo>
                    <a:pt x="4150518" y="0"/>
                  </a:lnTo>
                  <a:lnTo>
                    <a:pt x="4150518" y="438150"/>
                  </a:lnTo>
                  <a:lnTo>
                    <a:pt x="0" y="438150"/>
                  </a:lnTo>
                  <a:close/>
                </a:path>
              </a:pathLst>
            </a:custGeom>
            <a:blipFill>
              <a:blip r:embed="rId7">
                <a:alphaModFix amt="0"/>
              </a:blip>
              <a:stretch>
                <a:fillRect t="-134578" b="-134578"/>
              </a:stretch>
            </a:blipFill>
          </p:spPr>
        </p:sp>
        <p:sp>
          <p:nvSpPr>
            <p:cNvPr id="20" name="TextBox 20"/>
            <p:cNvSpPr txBox="1"/>
            <p:nvPr/>
          </p:nvSpPr>
          <p:spPr>
            <a:xfrm>
              <a:off x="0" y="0"/>
              <a:ext cx="4150512" cy="438150"/>
            </a:xfrm>
            <a:prstGeom prst="rect">
              <a:avLst/>
            </a:prstGeom>
          </p:spPr>
          <p:txBody>
            <a:bodyPr lIns="0" tIns="0" rIns="0" bIns="0" rtlCol="0" anchor="ctr"/>
            <a:lstStyle/>
            <a:p>
              <a:pPr algn="l">
                <a:lnSpc>
                  <a:spcPts val="2565"/>
                </a:lnSpc>
              </a:pPr>
              <a:r>
                <a:rPr lang="en-US" sz="2137">
                  <a:solidFill>
                    <a:srgbClr val="064E3B"/>
                  </a:solidFill>
                  <a:latin typeface="Inter"/>
                  <a:ea typeface="Inter"/>
                  <a:cs typeface="Inter"/>
                  <a:sym typeface="Inter"/>
                </a:rPr>
                <a:t>Core Syntax</a:t>
              </a:r>
            </a:p>
          </p:txBody>
        </p:sp>
      </p:grpSp>
      <p:grpSp>
        <p:nvGrpSpPr>
          <p:cNvPr id="21" name="Group 21"/>
          <p:cNvGrpSpPr/>
          <p:nvPr/>
        </p:nvGrpSpPr>
        <p:grpSpPr>
          <a:xfrm>
            <a:off x="5693569" y="3726580"/>
            <a:ext cx="3157890" cy="328612"/>
            <a:chOff x="0" y="0"/>
            <a:chExt cx="4210520" cy="438150"/>
          </a:xfrm>
        </p:grpSpPr>
        <p:sp>
          <p:nvSpPr>
            <p:cNvPr id="22" name="Freeform 22"/>
            <p:cNvSpPr/>
            <p:nvPr/>
          </p:nvSpPr>
          <p:spPr>
            <a:xfrm>
              <a:off x="0" y="0"/>
              <a:ext cx="4210526" cy="438150"/>
            </a:xfrm>
            <a:custGeom>
              <a:avLst/>
              <a:gdLst/>
              <a:ahLst/>
              <a:cxnLst/>
              <a:rect l="l" t="t" r="r" b="b"/>
              <a:pathLst>
                <a:path w="4210526" h="438150">
                  <a:moveTo>
                    <a:pt x="0" y="0"/>
                  </a:moveTo>
                  <a:lnTo>
                    <a:pt x="4210526" y="0"/>
                  </a:lnTo>
                  <a:lnTo>
                    <a:pt x="4210526" y="438150"/>
                  </a:lnTo>
                  <a:lnTo>
                    <a:pt x="0" y="438150"/>
                  </a:lnTo>
                  <a:close/>
                </a:path>
              </a:pathLst>
            </a:custGeom>
            <a:blipFill>
              <a:blip r:embed="rId7">
                <a:alphaModFix amt="0"/>
              </a:blip>
              <a:stretch>
                <a:fillRect t="-137246" b="-137246"/>
              </a:stretch>
            </a:blipFill>
          </p:spPr>
        </p:sp>
        <p:sp>
          <p:nvSpPr>
            <p:cNvPr id="23" name="TextBox 23"/>
            <p:cNvSpPr txBox="1"/>
            <p:nvPr/>
          </p:nvSpPr>
          <p:spPr>
            <a:xfrm>
              <a:off x="0" y="0"/>
              <a:ext cx="4210520" cy="438150"/>
            </a:xfrm>
            <a:prstGeom prst="rect">
              <a:avLst/>
            </a:prstGeom>
          </p:spPr>
          <p:txBody>
            <a:bodyPr lIns="0" tIns="0" rIns="0" bIns="0" rtlCol="0" anchor="ctr"/>
            <a:lstStyle/>
            <a:p>
              <a:pPr algn="l">
                <a:lnSpc>
                  <a:spcPts val="2565"/>
                </a:lnSpc>
              </a:pPr>
              <a:r>
                <a:rPr lang="en-US" sz="2137">
                  <a:solidFill>
                    <a:srgbClr val="064E3B"/>
                  </a:solidFill>
                  <a:latin typeface="Inter"/>
                  <a:ea typeface="Inter"/>
                  <a:cs typeface="Inter"/>
                  <a:sym typeface="Inter"/>
                </a:rPr>
                <a:t>Modular OOP</a:t>
              </a:r>
            </a:p>
          </p:txBody>
        </p:sp>
      </p:grpSp>
      <p:grpSp>
        <p:nvGrpSpPr>
          <p:cNvPr id="24" name="Group 24"/>
          <p:cNvGrpSpPr/>
          <p:nvPr/>
        </p:nvGrpSpPr>
        <p:grpSpPr>
          <a:xfrm>
            <a:off x="9972675" y="3726580"/>
            <a:ext cx="3187894" cy="328612"/>
            <a:chOff x="0" y="0"/>
            <a:chExt cx="4250525" cy="438150"/>
          </a:xfrm>
        </p:grpSpPr>
        <p:sp>
          <p:nvSpPr>
            <p:cNvPr id="25" name="Freeform 25"/>
            <p:cNvSpPr/>
            <p:nvPr/>
          </p:nvSpPr>
          <p:spPr>
            <a:xfrm>
              <a:off x="0" y="0"/>
              <a:ext cx="4250530" cy="438150"/>
            </a:xfrm>
            <a:custGeom>
              <a:avLst/>
              <a:gdLst/>
              <a:ahLst/>
              <a:cxnLst/>
              <a:rect l="l" t="t" r="r" b="b"/>
              <a:pathLst>
                <a:path w="4250530" h="438150">
                  <a:moveTo>
                    <a:pt x="0" y="0"/>
                  </a:moveTo>
                  <a:lnTo>
                    <a:pt x="4250530" y="0"/>
                  </a:lnTo>
                  <a:lnTo>
                    <a:pt x="4250530" y="438150"/>
                  </a:lnTo>
                  <a:lnTo>
                    <a:pt x="0" y="438150"/>
                  </a:lnTo>
                  <a:close/>
                </a:path>
              </a:pathLst>
            </a:custGeom>
            <a:blipFill>
              <a:blip r:embed="rId7">
                <a:alphaModFix amt="0"/>
              </a:blip>
              <a:stretch>
                <a:fillRect t="-139025" b="-139025"/>
              </a:stretch>
            </a:blipFill>
          </p:spPr>
        </p:sp>
        <p:sp>
          <p:nvSpPr>
            <p:cNvPr id="26" name="TextBox 26"/>
            <p:cNvSpPr txBox="1"/>
            <p:nvPr/>
          </p:nvSpPr>
          <p:spPr>
            <a:xfrm>
              <a:off x="0" y="0"/>
              <a:ext cx="4250525" cy="438150"/>
            </a:xfrm>
            <a:prstGeom prst="rect">
              <a:avLst/>
            </a:prstGeom>
          </p:spPr>
          <p:txBody>
            <a:bodyPr lIns="0" tIns="0" rIns="0" bIns="0" rtlCol="0" anchor="ctr"/>
            <a:lstStyle/>
            <a:p>
              <a:pPr algn="l">
                <a:lnSpc>
                  <a:spcPts val="2565"/>
                </a:lnSpc>
              </a:pPr>
              <a:r>
                <a:rPr lang="en-US" sz="2137">
                  <a:solidFill>
                    <a:srgbClr val="064E3B"/>
                  </a:solidFill>
                  <a:latin typeface="Inter"/>
                  <a:ea typeface="Inter"/>
                  <a:cs typeface="Inter"/>
                  <a:sym typeface="Inter"/>
                </a:rPr>
                <a:t>Robust Execution</a:t>
              </a:r>
            </a:p>
          </p:txBody>
        </p:sp>
      </p:grpSp>
      <p:grpSp>
        <p:nvGrpSpPr>
          <p:cNvPr id="27" name="Group 27"/>
          <p:cNvGrpSpPr/>
          <p:nvPr/>
        </p:nvGrpSpPr>
        <p:grpSpPr>
          <a:xfrm>
            <a:off x="14251781" y="3726580"/>
            <a:ext cx="3217897" cy="328612"/>
            <a:chOff x="0" y="0"/>
            <a:chExt cx="4290530" cy="438150"/>
          </a:xfrm>
        </p:grpSpPr>
        <p:sp>
          <p:nvSpPr>
            <p:cNvPr id="28" name="Freeform 28"/>
            <p:cNvSpPr/>
            <p:nvPr/>
          </p:nvSpPr>
          <p:spPr>
            <a:xfrm>
              <a:off x="0" y="0"/>
              <a:ext cx="4290536" cy="438150"/>
            </a:xfrm>
            <a:custGeom>
              <a:avLst/>
              <a:gdLst/>
              <a:ahLst/>
              <a:cxnLst/>
              <a:rect l="l" t="t" r="r" b="b"/>
              <a:pathLst>
                <a:path w="4290536" h="438150">
                  <a:moveTo>
                    <a:pt x="0" y="0"/>
                  </a:moveTo>
                  <a:lnTo>
                    <a:pt x="4290536" y="0"/>
                  </a:lnTo>
                  <a:lnTo>
                    <a:pt x="4290536" y="438150"/>
                  </a:lnTo>
                  <a:lnTo>
                    <a:pt x="0" y="438150"/>
                  </a:lnTo>
                  <a:close/>
                </a:path>
              </a:pathLst>
            </a:custGeom>
            <a:blipFill>
              <a:blip r:embed="rId7">
                <a:alphaModFix amt="0"/>
              </a:blip>
              <a:stretch>
                <a:fillRect t="-140804" b="-140804"/>
              </a:stretch>
            </a:blipFill>
          </p:spPr>
        </p:sp>
        <p:sp>
          <p:nvSpPr>
            <p:cNvPr id="29" name="TextBox 29"/>
            <p:cNvSpPr txBox="1"/>
            <p:nvPr/>
          </p:nvSpPr>
          <p:spPr>
            <a:xfrm>
              <a:off x="0" y="0"/>
              <a:ext cx="4290530" cy="438150"/>
            </a:xfrm>
            <a:prstGeom prst="rect">
              <a:avLst/>
            </a:prstGeom>
          </p:spPr>
          <p:txBody>
            <a:bodyPr lIns="0" tIns="0" rIns="0" bIns="0" rtlCol="0" anchor="ctr"/>
            <a:lstStyle/>
            <a:p>
              <a:pPr algn="l">
                <a:lnSpc>
                  <a:spcPts val="2565"/>
                </a:lnSpc>
              </a:pPr>
              <a:r>
                <a:rPr lang="en-US" sz="2137">
                  <a:solidFill>
                    <a:srgbClr val="064E3B"/>
                  </a:solidFill>
                  <a:latin typeface="Inter"/>
                  <a:ea typeface="Inter"/>
                  <a:cs typeface="Inter"/>
                  <a:sym typeface="Inter"/>
                </a:rPr>
                <a:t>Modules &amp; Packages</a:t>
              </a:r>
            </a:p>
          </p:txBody>
        </p:sp>
      </p:grpSp>
      <p:grpSp>
        <p:nvGrpSpPr>
          <p:cNvPr id="30" name="Group 30"/>
          <p:cNvGrpSpPr/>
          <p:nvPr/>
        </p:nvGrpSpPr>
        <p:grpSpPr>
          <a:xfrm>
            <a:off x="971550" y="3755155"/>
            <a:ext cx="342900" cy="271462"/>
            <a:chOff x="0" y="0"/>
            <a:chExt cx="457200" cy="361950"/>
          </a:xfrm>
        </p:grpSpPr>
        <p:sp>
          <p:nvSpPr>
            <p:cNvPr id="31" name="Freeform 31" descr="image.png"/>
            <p:cNvSpPr/>
            <p:nvPr/>
          </p:nvSpPr>
          <p:spPr>
            <a:xfrm>
              <a:off x="0" y="0"/>
              <a:ext cx="457200" cy="361950"/>
            </a:xfrm>
            <a:custGeom>
              <a:avLst/>
              <a:gdLst/>
              <a:ahLst/>
              <a:cxnLst/>
              <a:rect l="l" t="t" r="r" b="b"/>
              <a:pathLst>
                <a:path w="457200" h="361950">
                  <a:moveTo>
                    <a:pt x="0" y="0"/>
                  </a:moveTo>
                  <a:lnTo>
                    <a:pt x="457200" y="0"/>
                  </a:lnTo>
                  <a:lnTo>
                    <a:pt x="457200" y="361950"/>
                  </a:lnTo>
                  <a:lnTo>
                    <a:pt x="0" y="361950"/>
                  </a:lnTo>
                  <a:lnTo>
                    <a:pt x="0" y="0"/>
                  </a:lnTo>
                  <a:close/>
                </a:path>
              </a:pathLst>
            </a:custGeom>
            <a:blipFill>
              <a:blip r:embed="rId8"/>
              <a:stretch>
                <a:fillRect t="-2631" b="-2631"/>
              </a:stretch>
            </a:blipFill>
          </p:spPr>
        </p:sp>
      </p:grpSp>
      <p:sp>
        <p:nvSpPr>
          <p:cNvPr id="32" name="TextBox 32"/>
          <p:cNvSpPr txBox="1"/>
          <p:nvPr/>
        </p:nvSpPr>
        <p:spPr>
          <a:xfrm>
            <a:off x="1314450" y="4150443"/>
            <a:ext cx="3078956" cy="368646"/>
          </a:xfrm>
          <a:prstGeom prst="rect">
            <a:avLst/>
          </a:prstGeom>
        </p:spPr>
        <p:txBody>
          <a:bodyPr lIns="0" tIns="0" rIns="0" bIns="0" rtlCol="0" anchor="t">
            <a:spAutoFit/>
          </a:bodyPr>
          <a:lstStyle/>
          <a:p>
            <a:pPr algn="l">
              <a:lnSpc>
                <a:spcPts val="2527"/>
              </a:lnSpc>
            </a:pPr>
            <a:r>
              <a:rPr lang="en-US" sz="1743">
                <a:solidFill>
                  <a:srgbClr val="334155"/>
                </a:solidFill>
                <a:latin typeface="Inter"/>
                <a:ea typeface="Inter"/>
                <a:cs typeface="Inter"/>
                <a:sym typeface="Inter"/>
              </a:rPr>
              <a:t>Dynamic variable typing</a:t>
            </a:r>
          </a:p>
        </p:txBody>
      </p:sp>
      <p:sp>
        <p:nvSpPr>
          <p:cNvPr id="33" name="TextBox 33"/>
          <p:cNvSpPr txBox="1"/>
          <p:nvPr/>
        </p:nvSpPr>
        <p:spPr>
          <a:xfrm>
            <a:off x="1314450" y="4614339"/>
            <a:ext cx="3078956" cy="368646"/>
          </a:xfrm>
          <a:prstGeom prst="rect">
            <a:avLst/>
          </a:prstGeom>
        </p:spPr>
        <p:txBody>
          <a:bodyPr lIns="0" tIns="0" rIns="0" bIns="0" rtlCol="0" anchor="t">
            <a:spAutoFit/>
          </a:bodyPr>
          <a:lstStyle/>
          <a:p>
            <a:pPr algn="l">
              <a:lnSpc>
                <a:spcPts val="2527"/>
              </a:lnSpc>
            </a:pPr>
            <a:r>
              <a:rPr lang="en-US" sz="1743">
                <a:solidFill>
                  <a:srgbClr val="334155"/>
                </a:solidFill>
                <a:latin typeface="Inter"/>
                <a:ea typeface="Inter"/>
                <a:cs typeface="Inter"/>
                <a:sym typeface="Inter"/>
              </a:rPr>
              <a:t>Primitive structures (dict, list)</a:t>
            </a:r>
          </a:p>
        </p:txBody>
      </p:sp>
      <p:sp>
        <p:nvSpPr>
          <p:cNvPr id="34" name="TextBox 34"/>
          <p:cNvSpPr txBox="1"/>
          <p:nvPr/>
        </p:nvSpPr>
        <p:spPr>
          <a:xfrm>
            <a:off x="1314450" y="5078235"/>
            <a:ext cx="3078956" cy="368646"/>
          </a:xfrm>
          <a:prstGeom prst="rect">
            <a:avLst/>
          </a:prstGeom>
        </p:spPr>
        <p:txBody>
          <a:bodyPr lIns="0" tIns="0" rIns="0" bIns="0" rtlCol="0" anchor="t">
            <a:spAutoFit/>
          </a:bodyPr>
          <a:lstStyle/>
          <a:p>
            <a:pPr algn="l">
              <a:lnSpc>
                <a:spcPts val="2527"/>
              </a:lnSpc>
            </a:pPr>
            <a:r>
              <a:rPr lang="en-US" sz="1743">
                <a:solidFill>
                  <a:srgbClr val="334155"/>
                </a:solidFill>
                <a:latin typeface="Inter"/>
                <a:ea typeface="Inter"/>
                <a:cs typeface="Inter"/>
                <a:sym typeface="Inter"/>
              </a:rPr>
              <a:t>Conditional logic (if-elif)</a:t>
            </a:r>
          </a:p>
        </p:txBody>
      </p:sp>
      <p:sp>
        <p:nvSpPr>
          <p:cNvPr id="35" name="TextBox 35"/>
          <p:cNvSpPr txBox="1"/>
          <p:nvPr/>
        </p:nvSpPr>
        <p:spPr>
          <a:xfrm>
            <a:off x="1314450" y="5542131"/>
            <a:ext cx="3078956" cy="368646"/>
          </a:xfrm>
          <a:prstGeom prst="rect">
            <a:avLst/>
          </a:prstGeom>
        </p:spPr>
        <p:txBody>
          <a:bodyPr lIns="0" tIns="0" rIns="0" bIns="0" rtlCol="0" anchor="t">
            <a:spAutoFit/>
          </a:bodyPr>
          <a:lstStyle/>
          <a:p>
            <a:pPr algn="l">
              <a:lnSpc>
                <a:spcPts val="2527"/>
              </a:lnSpc>
            </a:pPr>
            <a:r>
              <a:rPr lang="en-US" sz="1743">
                <a:solidFill>
                  <a:srgbClr val="334155"/>
                </a:solidFill>
                <a:latin typeface="Inter"/>
                <a:ea typeface="Inter"/>
                <a:cs typeface="Inter"/>
                <a:sym typeface="Inter"/>
              </a:rPr>
              <a:t>List &amp; dict comprehensions</a:t>
            </a:r>
          </a:p>
        </p:txBody>
      </p:sp>
      <p:grpSp>
        <p:nvGrpSpPr>
          <p:cNvPr id="36" name="Group 36"/>
          <p:cNvGrpSpPr/>
          <p:nvPr/>
        </p:nvGrpSpPr>
        <p:grpSpPr>
          <a:xfrm>
            <a:off x="5279231" y="3755155"/>
            <a:ext cx="300038" cy="271462"/>
            <a:chOff x="0" y="0"/>
            <a:chExt cx="400050" cy="361950"/>
          </a:xfrm>
        </p:grpSpPr>
        <p:sp>
          <p:nvSpPr>
            <p:cNvPr id="37" name="Freeform 37" descr="image.png"/>
            <p:cNvSpPr/>
            <p:nvPr/>
          </p:nvSpPr>
          <p:spPr>
            <a:xfrm>
              <a:off x="0" y="0"/>
              <a:ext cx="400050" cy="361950"/>
            </a:xfrm>
            <a:custGeom>
              <a:avLst/>
              <a:gdLst/>
              <a:ahLst/>
              <a:cxnLst/>
              <a:rect l="l" t="t" r="r" b="b"/>
              <a:pathLst>
                <a:path w="400050" h="361950">
                  <a:moveTo>
                    <a:pt x="0" y="0"/>
                  </a:moveTo>
                  <a:lnTo>
                    <a:pt x="400050" y="0"/>
                  </a:lnTo>
                  <a:lnTo>
                    <a:pt x="400050" y="361950"/>
                  </a:lnTo>
                  <a:lnTo>
                    <a:pt x="0" y="361950"/>
                  </a:lnTo>
                  <a:lnTo>
                    <a:pt x="0" y="0"/>
                  </a:lnTo>
                  <a:close/>
                </a:path>
              </a:pathLst>
            </a:custGeom>
            <a:blipFill>
              <a:blip r:embed="rId9"/>
              <a:stretch>
                <a:fillRect t="-2631" b="-2631"/>
              </a:stretch>
            </a:blipFill>
          </p:spPr>
        </p:sp>
      </p:grpSp>
      <p:sp>
        <p:nvSpPr>
          <p:cNvPr id="38" name="TextBox 38"/>
          <p:cNvSpPr txBox="1"/>
          <p:nvPr/>
        </p:nvSpPr>
        <p:spPr>
          <a:xfrm>
            <a:off x="5622131" y="4150443"/>
            <a:ext cx="3078956" cy="368646"/>
          </a:xfrm>
          <a:prstGeom prst="rect">
            <a:avLst/>
          </a:prstGeom>
        </p:spPr>
        <p:txBody>
          <a:bodyPr lIns="0" tIns="0" rIns="0" bIns="0" rtlCol="0" anchor="t">
            <a:spAutoFit/>
          </a:bodyPr>
          <a:lstStyle/>
          <a:p>
            <a:pPr algn="l">
              <a:lnSpc>
                <a:spcPts val="2527"/>
              </a:lnSpc>
            </a:pPr>
            <a:r>
              <a:rPr lang="en-US" sz="1743">
                <a:solidFill>
                  <a:srgbClr val="334155"/>
                </a:solidFill>
                <a:latin typeface="Inter"/>
                <a:ea typeface="Inter"/>
                <a:cs typeface="Inter"/>
                <a:sym typeface="Inter"/>
              </a:rPr>
              <a:t>Class declarations</a:t>
            </a:r>
          </a:p>
        </p:txBody>
      </p:sp>
      <p:sp>
        <p:nvSpPr>
          <p:cNvPr id="39" name="TextBox 39"/>
          <p:cNvSpPr txBox="1"/>
          <p:nvPr/>
        </p:nvSpPr>
        <p:spPr>
          <a:xfrm>
            <a:off x="5622131" y="4614339"/>
            <a:ext cx="3078956" cy="368646"/>
          </a:xfrm>
          <a:prstGeom prst="rect">
            <a:avLst/>
          </a:prstGeom>
        </p:spPr>
        <p:txBody>
          <a:bodyPr lIns="0" tIns="0" rIns="0" bIns="0" rtlCol="0" anchor="t">
            <a:spAutoFit/>
          </a:bodyPr>
          <a:lstStyle/>
          <a:p>
            <a:pPr algn="l">
              <a:lnSpc>
                <a:spcPts val="2527"/>
              </a:lnSpc>
            </a:pPr>
            <a:r>
              <a:rPr lang="en-US" sz="1743">
                <a:solidFill>
                  <a:srgbClr val="334155"/>
                </a:solidFill>
                <a:latin typeface="Inter"/>
                <a:ea typeface="Inter"/>
                <a:cs typeface="Inter"/>
                <a:sym typeface="Inter"/>
              </a:rPr>
              <a:t>Constructor __init__ methods</a:t>
            </a:r>
          </a:p>
        </p:txBody>
      </p:sp>
      <p:sp>
        <p:nvSpPr>
          <p:cNvPr id="40" name="TextBox 40"/>
          <p:cNvSpPr txBox="1"/>
          <p:nvPr/>
        </p:nvSpPr>
        <p:spPr>
          <a:xfrm>
            <a:off x="5622131" y="5078235"/>
            <a:ext cx="3078956" cy="368646"/>
          </a:xfrm>
          <a:prstGeom prst="rect">
            <a:avLst/>
          </a:prstGeom>
        </p:spPr>
        <p:txBody>
          <a:bodyPr lIns="0" tIns="0" rIns="0" bIns="0" rtlCol="0" anchor="t">
            <a:spAutoFit/>
          </a:bodyPr>
          <a:lstStyle/>
          <a:p>
            <a:pPr algn="l">
              <a:lnSpc>
                <a:spcPts val="2527"/>
              </a:lnSpc>
            </a:pPr>
            <a:r>
              <a:rPr lang="en-US" sz="1743">
                <a:solidFill>
                  <a:srgbClr val="334155"/>
                </a:solidFill>
                <a:latin typeface="Inter"/>
                <a:ea typeface="Inter"/>
                <a:cs typeface="Inter"/>
                <a:sym typeface="Inter"/>
              </a:rPr>
              <a:t>Inheritance &amp; encapsulation</a:t>
            </a:r>
          </a:p>
        </p:txBody>
      </p:sp>
      <p:sp>
        <p:nvSpPr>
          <p:cNvPr id="41" name="TextBox 41"/>
          <p:cNvSpPr txBox="1"/>
          <p:nvPr/>
        </p:nvSpPr>
        <p:spPr>
          <a:xfrm>
            <a:off x="5622131" y="5542131"/>
            <a:ext cx="3078956" cy="368646"/>
          </a:xfrm>
          <a:prstGeom prst="rect">
            <a:avLst/>
          </a:prstGeom>
        </p:spPr>
        <p:txBody>
          <a:bodyPr lIns="0" tIns="0" rIns="0" bIns="0" rtlCol="0" anchor="t">
            <a:spAutoFit/>
          </a:bodyPr>
          <a:lstStyle/>
          <a:p>
            <a:pPr algn="l">
              <a:lnSpc>
                <a:spcPts val="2527"/>
              </a:lnSpc>
            </a:pPr>
            <a:r>
              <a:rPr lang="en-US" sz="1743">
                <a:solidFill>
                  <a:srgbClr val="334155"/>
                </a:solidFill>
                <a:latin typeface="Inter"/>
                <a:ea typeface="Inter"/>
                <a:cs typeface="Inter"/>
                <a:sym typeface="Inter"/>
              </a:rPr>
              <a:t>Reusable domain modules</a:t>
            </a:r>
          </a:p>
        </p:txBody>
      </p:sp>
      <p:grpSp>
        <p:nvGrpSpPr>
          <p:cNvPr id="42" name="Group 42"/>
          <p:cNvGrpSpPr/>
          <p:nvPr/>
        </p:nvGrpSpPr>
        <p:grpSpPr>
          <a:xfrm>
            <a:off x="9586912" y="3755155"/>
            <a:ext cx="271462" cy="271462"/>
            <a:chOff x="0" y="0"/>
            <a:chExt cx="361950" cy="361950"/>
          </a:xfrm>
        </p:grpSpPr>
        <p:sp>
          <p:nvSpPr>
            <p:cNvPr id="43" name="Freeform 43" descr="image.png"/>
            <p:cNvSpPr/>
            <p:nvPr/>
          </p:nvSpPr>
          <p:spPr>
            <a:xfrm>
              <a:off x="0" y="0"/>
              <a:ext cx="361950" cy="361950"/>
            </a:xfrm>
            <a:custGeom>
              <a:avLst/>
              <a:gdLst/>
              <a:ahLst/>
              <a:cxnLst/>
              <a:rect l="l" t="t" r="r" b="b"/>
              <a:pathLst>
                <a:path w="361950" h="361950">
                  <a:moveTo>
                    <a:pt x="0" y="0"/>
                  </a:moveTo>
                  <a:lnTo>
                    <a:pt x="361950" y="0"/>
                  </a:lnTo>
                  <a:lnTo>
                    <a:pt x="361950" y="361950"/>
                  </a:lnTo>
                  <a:lnTo>
                    <a:pt x="0" y="361950"/>
                  </a:lnTo>
                  <a:lnTo>
                    <a:pt x="0" y="0"/>
                  </a:lnTo>
                  <a:close/>
                </a:path>
              </a:pathLst>
            </a:custGeom>
            <a:blipFill>
              <a:blip r:embed="rId10"/>
              <a:stretch>
                <a:fillRect t="-2631" b="-2631"/>
              </a:stretch>
            </a:blipFill>
          </p:spPr>
        </p:sp>
      </p:grpSp>
      <p:sp>
        <p:nvSpPr>
          <p:cNvPr id="44" name="TextBox 44"/>
          <p:cNvSpPr txBox="1"/>
          <p:nvPr/>
        </p:nvSpPr>
        <p:spPr>
          <a:xfrm>
            <a:off x="9929812" y="4150443"/>
            <a:ext cx="3078956" cy="689667"/>
          </a:xfrm>
          <a:prstGeom prst="rect">
            <a:avLst/>
          </a:prstGeom>
        </p:spPr>
        <p:txBody>
          <a:bodyPr lIns="0" tIns="0" rIns="0" bIns="0" rtlCol="0" anchor="t">
            <a:spAutoFit/>
          </a:bodyPr>
          <a:lstStyle/>
          <a:p>
            <a:pPr algn="l">
              <a:lnSpc>
                <a:spcPts val="2527"/>
              </a:lnSpc>
            </a:pPr>
            <a:r>
              <a:rPr lang="en-US" sz="1743">
                <a:solidFill>
                  <a:srgbClr val="334155"/>
                </a:solidFill>
                <a:latin typeface="Inter"/>
                <a:ea typeface="Inter"/>
                <a:cs typeface="Inter"/>
                <a:sym typeface="Inter"/>
              </a:rPr>
              <a:t>Exception handling (try-except)</a:t>
            </a:r>
          </a:p>
        </p:txBody>
      </p:sp>
      <p:sp>
        <p:nvSpPr>
          <p:cNvPr id="45" name="TextBox 45"/>
          <p:cNvSpPr txBox="1"/>
          <p:nvPr/>
        </p:nvSpPr>
        <p:spPr>
          <a:xfrm>
            <a:off x="9929812" y="4935360"/>
            <a:ext cx="3078956" cy="368646"/>
          </a:xfrm>
          <a:prstGeom prst="rect">
            <a:avLst/>
          </a:prstGeom>
        </p:spPr>
        <p:txBody>
          <a:bodyPr lIns="0" tIns="0" rIns="0" bIns="0" rtlCol="0" anchor="t">
            <a:spAutoFit/>
          </a:bodyPr>
          <a:lstStyle/>
          <a:p>
            <a:pPr algn="l">
              <a:lnSpc>
                <a:spcPts val="2527"/>
              </a:lnSpc>
            </a:pPr>
            <a:r>
              <a:rPr lang="en-US" sz="1743">
                <a:solidFill>
                  <a:srgbClr val="334155"/>
                </a:solidFill>
                <a:latin typeface="Inter"/>
                <a:ea typeface="Inter"/>
                <a:cs typeface="Inter"/>
                <a:sym typeface="Inter"/>
              </a:rPr>
              <a:t>File I/O &amp; CSV streaming</a:t>
            </a:r>
          </a:p>
        </p:txBody>
      </p:sp>
      <p:sp>
        <p:nvSpPr>
          <p:cNvPr id="46" name="TextBox 46"/>
          <p:cNvSpPr txBox="1"/>
          <p:nvPr/>
        </p:nvSpPr>
        <p:spPr>
          <a:xfrm>
            <a:off x="9929812" y="5399256"/>
            <a:ext cx="3078956" cy="368646"/>
          </a:xfrm>
          <a:prstGeom prst="rect">
            <a:avLst/>
          </a:prstGeom>
        </p:spPr>
        <p:txBody>
          <a:bodyPr lIns="0" tIns="0" rIns="0" bIns="0" rtlCol="0" anchor="t">
            <a:spAutoFit/>
          </a:bodyPr>
          <a:lstStyle/>
          <a:p>
            <a:pPr algn="l">
              <a:lnSpc>
                <a:spcPts val="2527"/>
              </a:lnSpc>
            </a:pPr>
            <a:r>
              <a:rPr lang="en-US" sz="1743">
                <a:solidFill>
                  <a:srgbClr val="334155"/>
                </a:solidFill>
                <a:latin typeface="Inter"/>
                <a:ea typeface="Inter"/>
                <a:cs typeface="Inter"/>
                <a:sym typeface="Inter"/>
              </a:rPr>
              <a:t>Structured data parsing</a:t>
            </a:r>
          </a:p>
        </p:txBody>
      </p:sp>
      <p:sp>
        <p:nvSpPr>
          <p:cNvPr id="47" name="TextBox 47"/>
          <p:cNvSpPr txBox="1"/>
          <p:nvPr/>
        </p:nvSpPr>
        <p:spPr>
          <a:xfrm>
            <a:off x="9929812" y="5863161"/>
            <a:ext cx="3078956" cy="368646"/>
          </a:xfrm>
          <a:prstGeom prst="rect">
            <a:avLst/>
          </a:prstGeom>
        </p:spPr>
        <p:txBody>
          <a:bodyPr lIns="0" tIns="0" rIns="0" bIns="0" rtlCol="0" anchor="t">
            <a:spAutoFit/>
          </a:bodyPr>
          <a:lstStyle/>
          <a:p>
            <a:pPr algn="l">
              <a:lnSpc>
                <a:spcPts val="2527"/>
              </a:lnSpc>
            </a:pPr>
            <a:r>
              <a:rPr lang="en-US" sz="1743">
                <a:solidFill>
                  <a:srgbClr val="334155"/>
                </a:solidFill>
                <a:latin typeface="Inter"/>
                <a:ea typeface="Inter"/>
                <a:cs typeface="Inter"/>
                <a:sym typeface="Inter"/>
              </a:rPr>
              <a:t>Defensive input assertions</a:t>
            </a:r>
          </a:p>
        </p:txBody>
      </p:sp>
      <p:grpSp>
        <p:nvGrpSpPr>
          <p:cNvPr id="48" name="Group 48"/>
          <p:cNvGrpSpPr/>
          <p:nvPr/>
        </p:nvGrpSpPr>
        <p:grpSpPr>
          <a:xfrm>
            <a:off x="13894594" y="3755155"/>
            <a:ext cx="242888" cy="271462"/>
            <a:chOff x="0" y="0"/>
            <a:chExt cx="323850" cy="361950"/>
          </a:xfrm>
        </p:grpSpPr>
        <p:sp>
          <p:nvSpPr>
            <p:cNvPr id="49" name="Freeform 49" descr="image.png"/>
            <p:cNvSpPr/>
            <p:nvPr/>
          </p:nvSpPr>
          <p:spPr>
            <a:xfrm>
              <a:off x="0" y="0"/>
              <a:ext cx="323850" cy="361950"/>
            </a:xfrm>
            <a:custGeom>
              <a:avLst/>
              <a:gdLst/>
              <a:ahLst/>
              <a:cxnLst/>
              <a:rect l="l" t="t" r="r" b="b"/>
              <a:pathLst>
                <a:path w="323850" h="361950">
                  <a:moveTo>
                    <a:pt x="0" y="0"/>
                  </a:moveTo>
                  <a:lnTo>
                    <a:pt x="323850" y="0"/>
                  </a:lnTo>
                  <a:lnTo>
                    <a:pt x="323850" y="361950"/>
                  </a:lnTo>
                  <a:lnTo>
                    <a:pt x="0" y="361950"/>
                  </a:lnTo>
                  <a:lnTo>
                    <a:pt x="0" y="0"/>
                  </a:lnTo>
                  <a:close/>
                </a:path>
              </a:pathLst>
            </a:custGeom>
            <a:blipFill>
              <a:blip r:embed="rId11"/>
              <a:stretch>
                <a:fillRect t="-2631" b="-2631"/>
              </a:stretch>
            </a:blipFill>
          </p:spPr>
        </p:sp>
      </p:grpSp>
      <p:sp>
        <p:nvSpPr>
          <p:cNvPr id="50" name="TextBox 50"/>
          <p:cNvSpPr txBox="1"/>
          <p:nvPr/>
        </p:nvSpPr>
        <p:spPr>
          <a:xfrm>
            <a:off x="14237494" y="4150443"/>
            <a:ext cx="3078956" cy="368646"/>
          </a:xfrm>
          <a:prstGeom prst="rect">
            <a:avLst/>
          </a:prstGeom>
        </p:spPr>
        <p:txBody>
          <a:bodyPr lIns="0" tIns="0" rIns="0" bIns="0" rtlCol="0" anchor="t">
            <a:spAutoFit/>
          </a:bodyPr>
          <a:lstStyle/>
          <a:p>
            <a:pPr algn="l">
              <a:lnSpc>
                <a:spcPts val="2527"/>
              </a:lnSpc>
            </a:pPr>
            <a:r>
              <a:rPr lang="en-US" sz="1743">
                <a:solidFill>
                  <a:srgbClr val="334155"/>
                </a:solidFill>
                <a:latin typeface="Inter"/>
                <a:ea typeface="Inter"/>
                <a:cs typeface="Inter"/>
                <a:sym typeface="Inter"/>
              </a:rPr>
              <a:t>Virtual environments</a:t>
            </a:r>
          </a:p>
        </p:txBody>
      </p:sp>
      <p:sp>
        <p:nvSpPr>
          <p:cNvPr id="51" name="TextBox 51"/>
          <p:cNvSpPr txBox="1"/>
          <p:nvPr/>
        </p:nvSpPr>
        <p:spPr>
          <a:xfrm>
            <a:off x="14237494" y="4614339"/>
            <a:ext cx="3078956" cy="368646"/>
          </a:xfrm>
          <a:prstGeom prst="rect">
            <a:avLst/>
          </a:prstGeom>
        </p:spPr>
        <p:txBody>
          <a:bodyPr lIns="0" tIns="0" rIns="0" bIns="0" rtlCol="0" anchor="t">
            <a:spAutoFit/>
          </a:bodyPr>
          <a:lstStyle/>
          <a:p>
            <a:pPr algn="l">
              <a:lnSpc>
                <a:spcPts val="2527"/>
              </a:lnSpc>
            </a:pPr>
            <a:r>
              <a:rPr lang="en-US" sz="1743">
                <a:solidFill>
                  <a:srgbClr val="334155"/>
                </a:solidFill>
                <a:latin typeface="Inter"/>
                <a:ea typeface="Inter"/>
                <a:cs typeface="Inter"/>
                <a:sym typeface="Inter"/>
              </a:rPr>
              <a:t>pip package management</a:t>
            </a:r>
          </a:p>
        </p:txBody>
      </p:sp>
      <p:sp>
        <p:nvSpPr>
          <p:cNvPr id="52" name="TextBox 52"/>
          <p:cNvSpPr txBox="1"/>
          <p:nvPr/>
        </p:nvSpPr>
        <p:spPr>
          <a:xfrm>
            <a:off x="14237494" y="5078235"/>
            <a:ext cx="3078956" cy="368646"/>
          </a:xfrm>
          <a:prstGeom prst="rect">
            <a:avLst/>
          </a:prstGeom>
        </p:spPr>
        <p:txBody>
          <a:bodyPr lIns="0" tIns="0" rIns="0" bIns="0" rtlCol="0" anchor="t">
            <a:spAutoFit/>
          </a:bodyPr>
          <a:lstStyle/>
          <a:p>
            <a:pPr algn="l">
              <a:lnSpc>
                <a:spcPts val="2527"/>
              </a:lnSpc>
            </a:pPr>
            <a:r>
              <a:rPr lang="en-US" sz="1743">
                <a:solidFill>
                  <a:srgbClr val="334155"/>
                </a:solidFill>
                <a:latin typeface="Inter"/>
                <a:ea typeface="Inter"/>
                <a:cs typeface="Inter"/>
                <a:sym typeface="Inter"/>
              </a:rPr>
              <a:t>Decoupled code architecture</a:t>
            </a:r>
          </a:p>
        </p:txBody>
      </p:sp>
      <p:sp>
        <p:nvSpPr>
          <p:cNvPr id="53" name="TextBox 53"/>
          <p:cNvSpPr txBox="1"/>
          <p:nvPr/>
        </p:nvSpPr>
        <p:spPr>
          <a:xfrm>
            <a:off x="14237494" y="5542131"/>
            <a:ext cx="3078956" cy="368646"/>
          </a:xfrm>
          <a:prstGeom prst="rect">
            <a:avLst/>
          </a:prstGeom>
        </p:spPr>
        <p:txBody>
          <a:bodyPr lIns="0" tIns="0" rIns="0" bIns="0" rtlCol="0" anchor="t">
            <a:spAutoFit/>
          </a:bodyPr>
          <a:lstStyle/>
          <a:p>
            <a:pPr algn="l">
              <a:lnSpc>
                <a:spcPts val="2527"/>
              </a:lnSpc>
            </a:pPr>
            <a:r>
              <a:rPr lang="en-US" sz="1743">
                <a:solidFill>
                  <a:srgbClr val="334155"/>
                </a:solidFill>
                <a:latin typeface="Inter"/>
                <a:ea typeface="Inter"/>
                <a:cs typeface="Inter"/>
                <a:sym typeface="Inter"/>
              </a:rPr>
              <a:t>SQLite driver integration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sp>
      </p:grpSp>
      <p:grpSp>
        <p:nvGrpSpPr>
          <p:cNvPr id="4" name="Group 4"/>
          <p:cNvGrpSpPr/>
          <p:nvPr/>
        </p:nvGrpSpPr>
        <p:grpSpPr>
          <a:xfrm>
            <a:off x="642938" y="3386138"/>
            <a:ext cx="17002125" cy="4543425"/>
            <a:chOff x="0" y="0"/>
            <a:chExt cx="22669500" cy="6057900"/>
          </a:xfrm>
        </p:grpSpPr>
        <p:sp>
          <p:nvSpPr>
            <p:cNvPr id="5" name="Freeform 5" descr="image.png"/>
            <p:cNvSpPr/>
            <p:nvPr/>
          </p:nvSpPr>
          <p:spPr>
            <a:xfrm>
              <a:off x="0" y="0"/>
              <a:ext cx="22669500" cy="6057900"/>
            </a:xfrm>
            <a:custGeom>
              <a:avLst/>
              <a:gdLst/>
              <a:ahLst/>
              <a:cxnLst/>
              <a:rect l="l" t="t" r="r" b="b"/>
              <a:pathLst>
                <a:path w="22669500" h="6057900">
                  <a:moveTo>
                    <a:pt x="0" y="0"/>
                  </a:moveTo>
                  <a:lnTo>
                    <a:pt x="22669500" y="0"/>
                  </a:lnTo>
                  <a:lnTo>
                    <a:pt x="22669500" y="6057900"/>
                  </a:lnTo>
                  <a:lnTo>
                    <a:pt x="0" y="6057900"/>
                  </a:lnTo>
                  <a:lnTo>
                    <a:pt x="0" y="0"/>
                  </a:lnTo>
                  <a:close/>
                </a:path>
              </a:pathLst>
            </a:custGeom>
            <a:blipFill>
              <a:blip r:embed="rId3"/>
              <a:stretch>
                <a:fillRect l="-84" r="-84"/>
              </a:stretch>
            </a:blipFill>
          </p:spPr>
        </p:sp>
      </p:grpSp>
      <p:sp>
        <p:nvSpPr>
          <p:cNvPr id="6" name="TextBox 6"/>
          <p:cNvSpPr txBox="1"/>
          <p:nvPr/>
        </p:nvSpPr>
        <p:spPr>
          <a:xfrm>
            <a:off x="642938" y="490537"/>
            <a:ext cx="6281804" cy="566737"/>
          </a:xfrm>
          <a:prstGeom prst="rect">
            <a:avLst/>
          </a:prstGeom>
        </p:spPr>
        <p:txBody>
          <a:bodyPr lIns="0" tIns="0" rIns="0" bIns="0" rtlCol="0" anchor="t">
            <a:spAutoFit/>
          </a:bodyPr>
          <a:lstStyle/>
          <a:p>
            <a:pPr algn="l">
              <a:lnSpc>
                <a:spcPts val="4320"/>
              </a:lnSpc>
            </a:pPr>
            <a:r>
              <a:rPr lang="en-US" sz="3600" b="1">
                <a:solidFill>
                  <a:srgbClr val="064E3B"/>
                </a:solidFill>
                <a:latin typeface="Inter Bold"/>
                <a:ea typeface="Inter Bold"/>
                <a:cs typeface="Inter Bold"/>
                <a:sym typeface="Inter Bold"/>
              </a:rPr>
              <a:t>Core Data Science Libraries</a:t>
            </a:r>
          </a:p>
        </p:txBody>
      </p:sp>
      <p:grpSp>
        <p:nvGrpSpPr>
          <p:cNvPr id="7" name="Group 7"/>
          <p:cNvGrpSpPr/>
          <p:nvPr/>
        </p:nvGrpSpPr>
        <p:grpSpPr>
          <a:xfrm>
            <a:off x="14955212" y="628650"/>
            <a:ext cx="2689841" cy="428625"/>
            <a:chOff x="0" y="0"/>
            <a:chExt cx="3586455" cy="571500"/>
          </a:xfrm>
        </p:grpSpPr>
        <p:sp>
          <p:nvSpPr>
            <p:cNvPr id="8" name="Freeform 8" descr="image.png"/>
            <p:cNvSpPr/>
            <p:nvPr/>
          </p:nvSpPr>
          <p:spPr>
            <a:xfrm>
              <a:off x="0" y="0"/>
              <a:ext cx="3586480" cy="571500"/>
            </a:xfrm>
            <a:custGeom>
              <a:avLst/>
              <a:gdLst/>
              <a:ahLst/>
              <a:cxnLst/>
              <a:rect l="l" t="t" r="r" b="b"/>
              <a:pathLst>
                <a:path w="3586480" h="571500">
                  <a:moveTo>
                    <a:pt x="0" y="0"/>
                  </a:moveTo>
                  <a:lnTo>
                    <a:pt x="3586480" y="0"/>
                  </a:lnTo>
                  <a:lnTo>
                    <a:pt x="3586480" y="571500"/>
                  </a:lnTo>
                  <a:lnTo>
                    <a:pt x="0" y="571500"/>
                  </a:lnTo>
                  <a:lnTo>
                    <a:pt x="0" y="0"/>
                  </a:lnTo>
                  <a:close/>
                </a:path>
              </a:pathLst>
            </a:custGeom>
            <a:blipFill>
              <a:blip r:embed="rId4"/>
              <a:stretch>
                <a:fillRect l="-195" r="-194"/>
              </a:stretch>
            </a:blipFill>
          </p:spPr>
        </p:sp>
      </p:grpSp>
      <p:graphicFrame>
        <p:nvGraphicFramePr>
          <p:cNvPr id="9" name="Table 9"/>
          <p:cNvGraphicFramePr>
            <a:graphicFrameLocks noGrp="1"/>
          </p:cNvGraphicFramePr>
          <p:nvPr/>
        </p:nvGraphicFramePr>
        <p:xfrm>
          <a:off x="657225" y="3400425"/>
          <a:ext cx="16935450" cy="4457700"/>
        </p:xfrm>
        <a:graphic>
          <a:graphicData uri="http://schemas.openxmlformats.org/drawingml/2006/table">
            <a:tbl>
              <a:tblPr/>
              <a:tblGrid>
                <a:gridCol w="3048211">
                  <a:extLst>
                    <a:ext uri="{9D8B030D-6E8A-4147-A177-3AD203B41FA5}">
                      <a16:colId xmlns:a16="http://schemas.microsoft.com/office/drawing/2014/main" val="20000"/>
                    </a:ext>
                  </a:extLst>
                </a:gridCol>
                <a:gridCol w="4233863">
                  <a:extLst>
                    <a:ext uri="{9D8B030D-6E8A-4147-A177-3AD203B41FA5}">
                      <a16:colId xmlns:a16="http://schemas.microsoft.com/office/drawing/2014/main" val="20001"/>
                    </a:ext>
                  </a:extLst>
                </a:gridCol>
                <a:gridCol w="5927364">
                  <a:extLst>
                    <a:ext uri="{9D8B030D-6E8A-4147-A177-3AD203B41FA5}">
                      <a16:colId xmlns:a16="http://schemas.microsoft.com/office/drawing/2014/main" val="20002"/>
                    </a:ext>
                  </a:extLst>
                </a:gridCol>
                <a:gridCol w="3726012">
                  <a:extLst>
                    <a:ext uri="{9D8B030D-6E8A-4147-A177-3AD203B41FA5}">
                      <a16:colId xmlns:a16="http://schemas.microsoft.com/office/drawing/2014/main" val="20003"/>
                    </a:ext>
                  </a:extLst>
                </a:gridCol>
              </a:tblGrid>
              <a:tr h="742950">
                <a:tc>
                  <a:txBody>
                    <a:bodyPr/>
                    <a:lstStyle/>
                    <a:p>
                      <a:pPr algn="l">
                        <a:lnSpc>
                          <a:spcPts val="2160"/>
                        </a:lnSpc>
                        <a:defRPr/>
                      </a:pPr>
                      <a:r>
                        <a:rPr lang="en-US" sz="1800">
                          <a:solidFill>
                            <a:srgbClr val="064E3B"/>
                          </a:solidFill>
                          <a:latin typeface="Inter"/>
                          <a:ea typeface="Inter"/>
                          <a:cs typeface="Inter"/>
                          <a:sym typeface="Inter"/>
                        </a:rPr>
                        <a:t>Library</a:t>
                      </a:r>
                      <a:endParaRPr lang="en-US" sz="1100"/>
                    </a:p>
                  </a:txBody>
                  <a:tcPr marL="90620" marR="90620" marT="90620" marB="90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8FAFC"/>
                    </a:solidFill>
                  </a:tcPr>
                </a:tc>
                <a:tc>
                  <a:txBody>
                    <a:bodyPr/>
                    <a:lstStyle/>
                    <a:p>
                      <a:pPr algn="l">
                        <a:lnSpc>
                          <a:spcPts val="2160"/>
                        </a:lnSpc>
                        <a:defRPr/>
                      </a:pPr>
                      <a:r>
                        <a:rPr lang="en-US" sz="1800">
                          <a:solidFill>
                            <a:srgbClr val="064E3B"/>
                          </a:solidFill>
                          <a:latin typeface="Inter"/>
                          <a:ea typeface="Inter"/>
                          <a:cs typeface="Inter"/>
                          <a:sym typeface="Inter"/>
                        </a:rPr>
                        <a:t>Primary Functional Domain</a:t>
                      </a:r>
                      <a:endParaRPr lang="en-US" sz="1100"/>
                    </a:p>
                  </a:txBody>
                  <a:tcPr marL="90620" marR="90620" marT="90620" marB="90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8FAFC"/>
                    </a:solidFill>
                  </a:tcPr>
                </a:tc>
                <a:tc>
                  <a:txBody>
                    <a:bodyPr/>
                    <a:lstStyle/>
                    <a:p>
                      <a:pPr algn="l">
                        <a:lnSpc>
                          <a:spcPts val="2160"/>
                        </a:lnSpc>
                        <a:defRPr/>
                      </a:pPr>
                      <a:r>
                        <a:rPr lang="en-US" sz="1800">
                          <a:solidFill>
                            <a:srgbClr val="064E3B"/>
                          </a:solidFill>
                          <a:latin typeface="Inter"/>
                          <a:ea typeface="Inter"/>
                          <a:cs typeface="Inter"/>
                          <a:sym typeface="Inter"/>
                        </a:rPr>
                        <a:t>Key Operations Mastered</a:t>
                      </a:r>
                      <a:endParaRPr lang="en-US" sz="1100"/>
                    </a:p>
                  </a:txBody>
                  <a:tcPr marL="90620" marR="90620" marT="90620" marB="90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8FAFC"/>
                    </a:solidFill>
                  </a:tcPr>
                </a:tc>
                <a:tc>
                  <a:txBody>
                    <a:bodyPr/>
                    <a:lstStyle/>
                    <a:p>
                      <a:pPr algn="l">
                        <a:lnSpc>
                          <a:spcPts val="2160"/>
                        </a:lnSpc>
                        <a:defRPr/>
                      </a:pPr>
                      <a:r>
                        <a:rPr lang="en-US" sz="1800">
                          <a:solidFill>
                            <a:srgbClr val="064E3B"/>
                          </a:solidFill>
                          <a:latin typeface="Inter"/>
                          <a:ea typeface="Inter"/>
                          <a:cs typeface="Inter"/>
                          <a:sym typeface="Inter"/>
                        </a:rPr>
                        <a:t>Practical Application</a:t>
                      </a:r>
                      <a:endParaRPr lang="en-US" sz="1100"/>
                    </a:p>
                  </a:txBody>
                  <a:tcPr marL="90620" marR="90620" marT="90620" marB="90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8FAFC"/>
                    </a:solidFill>
                  </a:tcPr>
                </a:tc>
                <a:extLst>
                  <a:ext uri="{0D108BD9-81ED-4DB2-BD59-A6C34878D82A}">
                    <a16:rowId xmlns:a16="http://schemas.microsoft.com/office/drawing/2014/main" val="10000"/>
                  </a:ext>
                </a:extLst>
              </a:tr>
              <a:tr h="742950">
                <a:tc>
                  <a:txBody>
                    <a:bodyPr/>
                    <a:lstStyle/>
                    <a:p>
                      <a:pPr algn="l">
                        <a:lnSpc>
                          <a:spcPts val="2091"/>
                        </a:lnSpc>
                        <a:defRPr/>
                      </a:pPr>
                      <a:r>
                        <a:rPr lang="en-US" sz="1743" b="1">
                          <a:solidFill>
                            <a:srgbClr val="334155"/>
                          </a:solidFill>
                          <a:latin typeface="Inter Bold"/>
                          <a:ea typeface="Inter Bold"/>
                          <a:cs typeface="Inter Bold"/>
                          <a:sym typeface="Inter Bold"/>
                        </a:rPr>
                        <a:t> NumPy</a:t>
                      </a:r>
                      <a:endParaRPr lang="en-US" sz="1100"/>
                    </a:p>
                  </a:txBody>
                  <a:tcPr marL="90620" marR="90620" marT="90620" marB="90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2091"/>
                        </a:lnSpc>
                        <a:defRPr/>
                      </a:pPr>
                      <a:r>
                        <a:rPr lang="en-US" sz="1743">
                          <a:solidFill>
                            <a:srgbClr val="334155"/>
                          </a:solidFill>
                          <a:latin typeface="Inter"/>
                          <a:ea typeface="Inter"/>
                          <a:cs typeface="Inter"/>
                          <a:sym typeface="Inter"/>
                        </a:rPr>
                        <a:t>Numerical Computing</a:t>
                      </a:r>
                      <a:endParaRPr lang="en-US" sz="1100"/>
                    </a:p>
                  </a:txBody>
                  <a:tcPr marL="90620" marR="90620" marT="90620" marB="90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2091"/>
                        </a:lnSpc>
                        <a:defRPr/>
                      </a:pPr>
                      <a:r>
                        <a:rPr lang="en-US" sz="1743">
                          <a:solidFill>
                            <a:srgbClr val="334155"/>
                          </a:solidFill>
                          <a:latin typeface="Inter"/>
                          <a:ea typeface="Inter"/>
                          <a:cs typeface="Inter"/>
                          <a:sym typeface="Inter"/>
                        </a:rPr>
                        <a:t>N-dimensional arrays, vectorized math, matrix slicing</a:t>
                      </a:r>
                      <a:endParaRPr lang="en-US" sz="1100"/>
                    </a:p>
                  </a:txBody>
                  <a:tcPr marL="90620" marR="90620" marT="90620" marB="90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2091"/>
                        </a:lnSpc>
                        <a:defRPr/>
                      </a:pPr>
                      <a:r>
                        <a:rPr lang="en-US" sz="1743">
                          <a:solidFill>
                            <a:srgbClr val="334155"/>
                          </a:solidFill>
                          <a:latin typeface="Inter"/>
                          <a:ea typeface="Inter"/>
                          <a:cs typeface="Inter"/>
                          <a:sym typeface="Inter"/>
                        </a:rPr>
                        <a:t>Feature matrix calculations</a:t>
                      </a:r>
                      <a:endParaRPr lang="en-US" sz="1100"/>
                    </a:p>
                  </a:txBody>
                  <a:tcPr marL="90620" marR="90620" marT="90620" marB="90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42950">
                <a:tc>
                  <a:txBody>
                    <a:bodyPr/>
                    <a:lstStyle/>
                    <a:p>
                      <a:pPr algn="l">
                        <a:lnSpc>
                          <a:spcPts val="2091"/>
                        </a:lnSpc>
                        <a:defRPr/>
                      </a:pPr>
                      <a:r>
                        <a:rPr lang="en-US" sz="1743" b="1">
                          <a:solidFill>
                            <a:srgbClr val="334155"/>
                          </a:solidFill>
                          <a:latin typeface="Inter Bold"/>
                          <a:ea typeface="Inter Bold"/>
                          <a:cs typeface="Inter Bold"/>
                          <a:sym typeface="Inter Bold"/>
                        </a:rPr>
                        <a:t> Pandas</a:t>
                      </a:r>
                      <a:endParaRPr lang="en-US" sz="1100"/>
                    </a:p>
                  </a:txBody>
                  <a:tcPr marL="90620" marR="90620" marT="90620" marB="90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AFCFB"/>
                    </a:solidFill>
                  </a:tcPr>
                </a:tc>
                <a:tc>
                  <a:txBody>
                    <a:bodyPr/>
                    <a:lstStyle/>
                    <a:p>
                      <a:pPr algn="l">
                        <a:lnSpc>
                          <a:spcPts val="2091"/>
                        </a:lnSpc>
                        <a:defRPr/>
                      </a:pPr>
                      <a:r>
                        <a:rPr lang="en-US" sz="1743">
                          <a:solidFill>
                            <a:srgbClr val="334155"/>
                          </a:solidFill>
                          <a:latin typeface="Inter"/>
                          <a:ea typeface="Inter"/>
                          <a:cs typeface="Inter"/>
                          <a:sym typeface="Inter"/>
                        </a:rPr>
                        <a:t>Tabular Data Manipulation</a:t>
                      </a:r>
                      <a:endParaRPr lang="en-US" sz="1100"/>
                    </a:p>
                  </a:txBody>
                  <a:tcPr marL="90620" marR="90620" marT="90620" marB="90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AFCFB"/>
                    </a:solidFill>
                  </a:tcPr>
                </a:tc>
                <a:tc>
                  <a:txBody>
                    <a:bodyPr/>
                    <a:lstStyle/>
                    <a:p>
                      <a:pPr algn="l">
                        <a:lnSpc>
                          <a:spcPts val="2091"/>
                        </a:lnSpc>
                        <a:defRPr/>
                      </a:pPr>
                      <a:r>
                        <a:rPr lang="en-US" sz="1743">
                          <a:solidFill>
                            <a:srgbClr val="334155"/>
                          </a:solidFill>
                          <a:latin typeface="Inter"/>
                          <a:ea typeface="Inter"/>
                          <a:cs typeface="Inter"/>
                          <a:sym typeface="Inter"/>
                        </a:rPr>
                        <a:t>DataFrames, groupby, null imputation, date parsing</a:t>
                      </a:r>
                      <a:endParaRPr lang="en-US" sz="1100"/>
                    </a:p>
                  </a:txBody>
                  <a:tcPr marL="90620" marR="90620" marT="90620" marB="90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AFCFB"/>
                    </a:solidFill>
                  </a:tcPr>
                </a:tc>
                <a:tc>
                  <a:txBody>
                    <a:bodyPr/>
                    <a:lstStyle/>
                    <a:p>
                      <a:pPr algn="l">
                        <a:lnSpc>
                          <a:spcPts val="2091"/>
                        </a:lnSpc>
                        <a:defRPr/>
                      </a:pPr>
                      <a:r>
                        <a:rPr lang="en-US" sz="1743">
                          <a:solidFill>
                            <a:srgbClr val="334155"/>
                          </a:solidFill>
                          <a:latin typeface="Inter"/>
                          <a:ea typeface="Inter"/>
                          <a:cs typeface="Inter"/>
                          <a:sym typeface="Inter"/>
                        </a:rPr>
                        <a:t>Expense ledger preprocessing</a:t>
                      </a:r>
                      <a:endParaRPr lang="en-US" sz="1100"/>
                    </a:p>
                  </a:txBody>
                  <a:tcPr marL="90620" marR="90620" marT="90620" marB="90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AFCFB"/>
                    </a:solidFill>
                  </a:tcPr>
                </a:tc>
                <a:extLst>
                  <a:ext uri="{0D108BD9-81ED-4DB2-BD59-A6C34878D82A}">
                    <a16:rowId xmlns:a16="http://schemas.microsoft.com/office/drawing/2014/main" val="10002"/>
                  </a:ext>
                </a:extLst>
              </a:tr>
              <a:tr h="742950">
                <a:tc>
                  <a:txBody>
                    <a:bodyPr/>
                    <a:lstStyle/>
                    <a:p>
                      <a:pPr algn="l">
                        <a:lnSpc>
                          <a:spcPts val="2091"/>
                        </a:lnSpc>
                        <a:defRPr/>
                      </a:pPr>
                      <a:r>
                        <a:rPr lang="en-US" sz="1743" b="1">
                          <a:solidFill>
                            <a:srgbClr val="334155"/>
                          </a:solidFill>
                          <a:latin typeface="Inter Bold"/>
                          <a:ea typeface="Inter Bold"/>
                          <a:cs typeface="Inter Bold"/>
                          <a:sym typeface="Inter Bold"/>
                        </a:rPr>
                        <a:t> Matplotlib</a:t>
                      </a:r>
                      <a:endParaRPr lang="en-US" sz="1100"/>
                    </a:p>
                  </a:txBody>
                  <a:tcPr marL="90620" marR="90620" marT="90620" marB="90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2091"/>
                        </a:lnSpc>
                        <a:defRPr/>
                      </a:pPr>
                      <a:r>
                        <a:rPr lang="en-US" sz="1743">
                          <a:solidFill>
                            <a:srgbClr val="334155"/>
                          </a:solidFill>
                          <a:latin typeface="Inter"/>
                          <a:ea typeface="Inter"/>
                          <a:cs typeface="Inter"/>
                          <a:sym typeface="Inter"/>
                        </a:rPr>
                        <a:t>Visual 2D Graphing</a:t>
                      </a:r>
                      <a:endParaRPr lang="en-US" sz="1100"/>
                    </a:p>
                  </a:txBody>
                  <a:tcPr marL="90620" marR="90620" marT="90620" marB="90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2091"/>
                        </a:lnSpc>
                        <a:defRPr/>
                      </a:pPr>
                      <a:r>
                        <a:rPr lang="en-US" sz="1743">
                          <a:solidFill>
                            <a:srgbClr val="334155"/>
                          </a:solidFill>
                          <a:latin typeface="Inter"/>
                          <a:ea typeface="Inter"/>
                          <a:cs typeface="Inter"/>
                          <a:sym typeface="Inter"/>
                        </a:rPr>
                        <a:t>Custom axes, subplots, bar plots, trend figures</a:t>
                      </a:r>
                      <a:endParaRPr lang="en-US" sz="1100"/>
                    </a:p>
                  </a:txBody>
                  <a:tcPr marL="90620" marR="90620" marT="90620" marB="90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2091"/>
                        </a:lnSpc>
                        <a:defRPr/>
                      </a:pPr>
                      <a:r>
                        <a:rPr lang="en-US" sz="1743">
                          <a:solidFill>
                            <a:srgbClr val="334155"/>
                          </a:solidFill>
                          <a:latin typeface="Inter"/>
                          <a:ea typeface="Inter"/>
                          <a:cs typeface="Inter"/>
                          <a:sym typeface="Inter"/>
                        </a:rPr>
                        <a:t>Monthly cash-flow visuals</a:t>
                      </a:r>
                      <a:endParaRPr lang="en-US" sz="1100"/>
                    </a:p>
                  </a:txBody>
                  <a:tcPr marL="90620" marR="90620" marT="90620" marB="90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42950">
                <a:tc>
                  <a:txBody>
                    <a:bodyPr/>
                    <a:lstStyle/>
                    <a:p>
                      <a:pPr algn="l">
                        <a:lnSpc>
                          <a:spcPts val="2091"/>
                        </a:lnSpc>
                        <a:defRPr/>
                      </a:pPr>
                      <a:r>
                        <a:rPr lang="en-US" sz="1743" b="1">
                          <a:solidFill>
                            <a:srgbClr val="334155"/>
                          </a:solidFill>
                          <a:latin typeface="Inter Bold"/>
                          <a:ea typeface="Inter Bold"/>
                          <a:cs typeface="Inter Bold"/>
                          <a:sym typeface="Inter Bold"/>
                        </a:rPr>
                        <a:t> Seaborn</a:t>
                      </a:r>
                      <a:endParaRPr lang="en-US" sz="1100"/>
                    </a:p>
                  </a:txBody>
                  <a:tcPr marL="90620" marR="90620" marT="90620" marB="90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AFCFB"/>
                    </a:solidFill>
                  </a:tcPr>
                </a:tc>
                <a:tc>
                  <a:txBody>
                    <a:bodyPr/>
                    <a:lstStyle/>
                    <a:p>
                      <a:pPr algn="l">
                        <a:lnSpc>
                          <a:spcPts val="2091"/>
                        </a:lnSpc>
                        <a:defRPr/>
                      </a:pPr>
                      <a:r>
                        <a:rPr lang="en-US" sz="1743">
                          <a:solidFill>
                            <a:srgbClr val="334155"/>
                          </a:solidFill>
                          <a:latin typeface="Inter"/>
                          <a:ea typeface="Inter"/>
                          <a:cs typeface="Inter"/>
                          <a:sym typeface="Inter"/>
                        </a:rPr>
                        <a:t>Statistical Graphics</a:t>
                      </a:r>
                      <a:endParaRPr lang="en-US" sz="1100"/>
                    </a:p>
                  </a:txBody>
                  <a:tcPr marL="90620" marR="90620" marT="90620" marB="90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AFCFB"/>
                    </a:solidFill>
                  </a:tcPr>
                </a:tc>
                <a:tc>
                  <a:txBody>
                    <a:bodyPr/>
                    <a:lstStyle/>
                    <a:p>
                      <a:pPr algn="l">
                        <a:lnSpc>
                          <a:spcPts val="2091"/>
                        </a:lnSpc>
                        <a:defRPr/>
                      </a:pPr>
                      <a:r>
                        <a:rPr lang="en-US" sz="1743">
                          <a:solidFill>
                            <a:srgbClr val="334155"/>
                          </a:solidFill>
                          <a:latin typeface="Inter"/>
                          <a:ea typeface="Inter"/>
                          <a:cs typeface="Inter"/>
                          <a:sym typeface="Inter"/>
                        </a:rPr>
                        <a:t>Distribution curves, category heatmaps, pairplots</a:t>
                      </a:r>
                      <a:endParaRPr lang="en-US" sz="1100"/>
                    </a:p>
                  </a:txBody>
                  <a:tcPr marL="90620" marR="90620" marT="90620" marB="90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AFCFB"/>
                    </a:solidFill>
                  </a:tcPr>
                </a:tc>
                <a:tc>
                  <a:txBody>
                    <a:bodyPr/>
                    <a:lstStyle/>
                    <a:p>
                      <a:pPr algn="l">
                        <a:lnSpc>
                          <a:spcPts val="2091"/>
                        </a:lnSpc>
                        <a:defRPr/>
                      </a:pPr>
                      <a:r>
                        <a:rPr lang="en-US" sz="1743">
                          <a:solidFill>
                            <a:srgbClr val="334155"/>
                          </a:solidFill>
                          <a:latin typeface="Inter"/>
                          <a:ea typeface="Inter"/>
                          <a:cs typeface="Inter"/>
                          <a:sym typeface="Inter"/>
                        </a:rPr>
                        <a:t>Category spending spreads</a:t>
                      </a:r>
                      <a:endParaRPr lang="en-US" sz="1100"/>
                    </a:p>
                  </a:txBody>
                  <a:tcPr marL="90620" marR="90620" marT="90620" marB="90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AFCFB"/>
                    </a:solidFill>
                  </a:tcPr>
                </a:tc>
                <a:extLst>
                  <a:ext uri="{0D108BD9-81ED-4DB2-BD59-A6C34878D82A}">
                    <a16:rowId xmlns:a16="http://schemas.microsoft.com/office/drawing/2014/main" val="10004"/>
                  </a:ext>
                </a:extLst>
              </a:tr>
              <a:tr h="742950">
                <a:tc>
                  <a:txBody>
                    <a:bodyPr/>
                    <a:lstStyle/>
                    <a:p>
                      <a:pPr algn="l">
                        <a:lnSpc>
                          <a:spcPts val="2091"/>
                        </a:lnSpc>
                        <a:defRPr/>
                      </a:pPr>
                      <a:r>
                        <a:rPr lang="en-US" sz="1743" b="1">
                          <a:solidFill>
                            <a:srgbClr val="334155"/>
                          </a:solidFill>
                          <a:latin typeface="Inter Bold"/>
                          <a:ea typeface="Inter Bold"/>
                          <a:cs typeface="Inter Bold"/>
                          <a:sym typeface="Inter Bold"/>
                        </a:rPr>
                        <a:t> Scikit-learn</a:t>
                      </a:r>
                      <a:endParaRPr lang="en-US" sz="1100"/>
                    </a:p>
                  </a:txBody>
                  <a:tcPr marL="90620" marR="90620" marT="90620" marB="90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2091"/>
                        </a:lnSpc>
                        <a:defRPr/>
                      </a:pPr>
                      <a:r>
                        <a:rPr lang="en-US" sz="1743">
                          <a:solidFill>
                            <a:srgbClr val="334155"/>
                          </a:solidFill>
                          <a:latin typeface="Inter"/>
                          <a:ea typeface="Inter"/>
                          <a:cs typeface="Inter"/>
                          <a:sym typeface="Inter"/>
                        </a:rPr>
                        <a:t>Machine Learning Suite</a:t>
                      </a:r>
                      <a:endParaRPr lang="en-US" sz="1100"/>
                    </a:p>
                  </a:txBody>
                  <a:tcPr marL="90620" marR="90620" marT="90620" marB="90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2091"/>
                        </a:lnSpc>
                        <a:defRPr/>
                      </a:pPr>
                      <a:r>
                        <a:rPr lang="en-US" sz="1743">
                          <a:solidFill>
                            <a:srgbClr val="334155"/>
                          </a:solidFill>
                          <a:latin typeface="Inter"/>
                          <a:ea typeface="Inter"/>
                          <a:cs typeface="Inter"/>
                          <a:sym typeface="Inter"/>
                        </a:rPr>
                        <a:t>TF-IDF, Logistic Regression, Isolation Forest, Linear Reg</a:t>
                      </a:r>
                      <a:endParaRPr lang="en-US" sz="1100"/>
                    </a:p>
                  </a:txBody>
                  <a:tcPr marL="90620" marR="90620" marT="90620" marB="90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2091"/>
                        </a:lnSpc>
                        <a:defRPr/>
                      </a:pPr>
                      <a:r>
                        <a:rPr lang="en-US" sz="1743">
                          <a:solidFill>
                            <a:srgbClr val="334155"/>
                          </a:solidFill>
                          <a:latin typeface="Inter"/>
                          <a:ea typeface="Inter"/>
                          <a:cs typeface="Inter"/>
                          <a:sym typeface="Inter"/>
                        </a:rPr>
                        <a:t>Categorization &amp; anomalies</a:t>
                      </a:r>
                      <a:endParaRPr lang="en-US" sz="1100"/>
                    </a:p>
                  </a:txBody>
                  <a:tcPr marL="90620" marR="90620" marT="90620" marB="9062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pSp>
        <p:nvGrpSpPr>
          <p:cNvPr id="10" name="Group 10"/>
          <p:cNvGrpSpPr/>
          <p:nvPr/>
        </p:nvGrpSpPr>
        <p:grpSpPr>
          <a:xfrm>
            <a:off x="657225" y="4079081"/>
            <a:ext cx="3055068" cy="14288"/>
            <a:chOff x="0" y="0"/>
            <a:chExt cx="4073423" cy="19050"/>
          </a:xfrm>
        </p:grpSpPr>
        <p:sp>
          <p:nvSpPr>
            <p:cNvPr id="11" name="Freeform 11"/>
            <p:cNvSpPr/>
            <p:nvPr/>
          </p:nvSpPr>
          <p:spPr>
            <a:xfrm>
              <a:off x="0" y="0"/>
              <a:ext cx="4073398" cy="19050"/>
            </a:xfrm>
            <a:custGeom>
              <a:avLst/>
              <a:gdLst/>
              <a:ahLst/>
              <a:cxnLst/>
              <a:rect l="l" t="t" r="r" b="b"/>
              <a:pathLst>
                <a:path w="4073398" h="19050">
                  <a:moveTo>
                    <a:pt x="0" y="0"/>
                  </a:moveTo>
                  <a:lnTo>
                    <a:pt x="4073398" y="0"/>
                  </a:lnTo>
                  <a:lnTo>
                    <a:pt x="4073398" y="19050"/>
                  </a:lnTo>
                  <a:lnTo>
                    <a:pt x="0" y="19050"/>
                  </a:lnTo>
                  <a:close/>
                </a:path>
              </a:pathLst>
            </a:custGeom>
            <a:solidFill>
              <a:srgbClr val="E2E8F0"/>
            </a:solidFill>
          </p:spPr>
        </p:sp>
      </p:grpSp>
      <p:grpSp>
        <p:nvGrpSpPr>
          <p:cNvPr id="12" name="Group 12"/>
          <p:cNvGrpSpPr/>
          <p:nvPr/>
        </p:nvGrpSpPr>
        <p:grpSpPr>
          <a:xfrm>
            <a:off x="3712293" y="4079081"/>
            <a:ext cx="4243388" cy="14288"/>
            <a:chOff x="0" y="0"/>
            <a:chExt cx="5657850" cy="19050"/>
          </a:xfrm>
        </p:grpSpPr>
        <p:sp>
          <p:nvSpPr>
            <p:cNvPr id="13" name="Freeform 13"/>
            <p:cNvSpPr/>
            <p:nvPr/>
          </p:nvSpPr>
          <p:spPr>
            <a:xfrm>
              <a:off x="0" y="0"/>
              <a:ext cx="5657850" cy="19050"/>
            </a:xfrm>
            <a:custGeom>
              <a:avLst/>
              <a:gdLst/>
              <a:ahLst/>
              <a:cxnLst/>
              <a:rect l="l" t="t" r="r" b="b"/>
              <a:pathLst>
                <a:path w="5657850" h="19050">
                  <a:moveTo>
                    <a:pt x="0" y="0"/>
                  </a:moveTo>
                  <a:lnTo>
                    <a:pt x="5657850" y="0"/>
                  </a:lnTo>
                  <a:lnTo>
                    <a:pt x="5657850" y="19050"/>
                  </a:lnTo>
                  <a:lnTo>
                    <a:pt x="0" y="19050"/>
                  </a:lnTo>
                  <a:close/>
                </a:path>
              </a:pathLst>
            </a:custGeom>
            <a:solidFill>
              <a:srgbClr val="E2E8F0"/>
            </a:solidFill>
          </p:spPr>
        </p:sp>
      </p:grpSp>
      <p:grpSp>
        <p:nvGrpSpPr>
          <p:cNvPr id="14" name="Group 14"/>
          <p:cNvGrpSpPr/>
          <p:nvPr/>
        </p:nvGrpSpPr>
        <p:grpSpPr>
          <a:xfrm>
            <a:off x="7955680" y="4079081"/>
            <a:ext cx="5940695" cy="14288"/>
            <a:chOff x="0" y="0"/>
            <a:chExt cx="7920927" cy="19050"/>
          </a:xfrm>
        </p:grpSpPr>
        <p:sp>
          <p:nvSpPr>
            <p:cNvPr id="15" name="Freeform 15"/>
            <p:cNvSpPr/>
            <p:nvPr/>
          </p:nvSpPr>
          <p:spPr>
            <a:xfrm>
              <a:off x="0" y="0"/>
              <a:ext cx="7920990" cy="19050"/>
            </a:xfrm>
            <a:custGeom>
              <a:avLst/>
              <a:gdLst/>
              <a:ahLst/>
              <a:cxnLst/>
              <a:rect l="l" t="t" r="r" b="b"/>
              <a:pathLst>
                <a:path w="7920990" h="19050">
                  <a:moveTo>
                    <a:pt x="0" y="0"/>
                  </a:moveTo>
                  <a:lnTo>
                    <a:pt x="7920990" y="0"/>
                  </a:lnTo>
                  <a:lnTo>
                    <a:pt x="7920990" y="19050"/>
                  </a:lnTo>
                  <a:lnTo>
                    <a:pt x="0" y="19050"/>
                  </a:lnTo>
                  <a:close/>
                </a:path>
              </a:pathLst>
            </a:custGeom>
            <a:solidFill>
              <a:srgbClr val="E2E8F0"/>
            </a:solidFill>
          </p:spPr>
        </p:sp>
      </p:grpSp>
      <p:grpSp>
        <p:nvGrpSpPr>
          <p:cNvPr id="16" name="Group 16"/>
          <p:cNvGrpSpPr/>
          <p:nvPr/>
        </p:nvGrpSpPr>
        <p:grpSpPr>
          <a:xfrm>
            <a:off x="13896375" y="4079081"/>
            <a:ext cx="3734391" cy="14288"/>
            <a:chOff x="0" y="0"/>
            <a:chExt cx="4979187" cy="19050"/>
          </a:xfrm>
        </p:grpSpPr>
        <p:sp>
          <p:nvSpPr>
            <p:cNvPr id="17" name="Freeform 17"/>
            <p:cNvSpPr/>
            <p:nvPr/>
          </p:nvSpPr>
          <p:spPr>
            <a:xfrm>
              <a:off x="0" y="0"/>
              <a:ext cx="4979162" cy="19050"/>
            </a:xfrm>
            <a:custGeom>
              <a:avLst/>
              <a:gdLst/>
              <a:ahLst/>
              <a:cxnLst/>
              <a:rect l="l" t="t" r="r" b="b"/>
              <a:pathLst>
                <a:path w="4979162" h="19050">
                  <a:moveTo>
                    <a:pt x="0" y="0"/>
                  </a:moveTo>
                  <a:lnTo>
                    <a:pt x="4979162" y="0"/>
                  </a:lnTo>
                  <a:lnTo>
                    <a:pt x="4979162" y="19050"/>
                  </a:lnTo>
                  <a:lnTo>
                    <a:pt x="0" y="19050"/>
                  </a:lnTo>
                  <a:close/>
                </a:path>
              </a:pathLst>
            </a:custGeom>
            <a:solidFill>
              <a:srgbClr val="E2E8F0"/>
            </a:solidFill>
          </p:spPr>
        </p:sp>
      </p:grpSp>
      <p:grpSp>
        <p:nvGrpSpPr>
          <p:cNvPr id="18" name="Group 18"/>
          <p:cNvGrpSpPr/>
          <p:nvPr/>
        </p:nvGrpSpPr>
        <p:grpSpPr>
          <a:xfrm>
            <a:off x="657225" y="5007769"/>
            <a:ext cx="3055068" cy="14288"/>
            <a:chOff x="0" y="0"/>
            <a:chExt cx="4073423" cy="19050"/>
          </a:xfrm>
        </p:grpSpPr>
        <p:sp>
          <p:nvSpPr>
            <p:cNvPr id="19" name="Freeform 19"/>
            <p:cNvSpPr/>
            <p:nvPr/>
          </p:nvSpPr>
          <p:spPr>
            <a:xfrm>
              <a:off x="0" y="0"/>
              <a:ext cx="4073398" cy="19050"/>
            </a:xfrm>
            <a:custGeom>
              <a:avLst/>
              <a:gdLst/>
              <a:ahLst/>
              <a:cxnLst/>
              <a:rect l="l" t="t" r="r" b="b"/>
              <a:pathLst>
                <a:path w="4073398" h="19050">
                  <a:moveTo>
                    <a:pt x="0" y="0"/>
                  </a:moveTo>
                  <a:lnTo>
                    <a:pt x="4073398" y="0"/>
                  </a:lnTo>
                  <a:lnTo>
                    <a:pt x="4073398" y="19050"/>
                  </a:lnTo>
                  <a:lnTo>
                    <a:pt x="0" y="19050"/>
                  </a:lnTo>
                  <a:close/>
                </a:path>
              </a:pathLst>
            </a:custGeom>
            <a:solidFill>
              <a:srgbClr val="F1F5F9"/>
            </a:solidFill>
          </p:spPr>
        </p:sp>
      </p:grpSp>
      <p:grpSp>
        <p:nvGrpSpPr>
          <p:cNvPr id="20" name="Group 20"/>
          <p:cNvGrpSpPr/>
          <p:nvPr/>
        </p:nvGrpSpPr>
        <p:grpSpPr>
          <a:xfrm>
            <a:off x="3712293" y="5007769"/>
            <a:ext cx="4243388" cy="14288"/>
            <a:chOff x="0" y="0"/>
            <a:chExt cx="5657850" cy="19050"/>
          </a:xfrm>
        </p:grpSpPr>
        <p:sp>
          <p:nvSpPr>
            <p:cNvPr id="21" name="Freeform 21"/>
            <p:cNvSpPr/>
            <p:nvPr/>
          </p:nvSpPr>
          <p:spPr>
            <a:xfrm>
              <a:off x="0" y="0"/>
              <a:ext cx="5657850" cy="19050"/>
            </a:xfrm>
            <a:custGeom>
              <a:avLst/>
              <a:gdLst/>
              <a:ahLst/>
              <a:cxnLst/>
              <a:rect l="l" t="t" r="r" b="b"/>
              <a:pathLst>
                <a:path w="5657850" h="19050">
                  <a:moveTo>
                    <a:pt x="0" y="0"/>
                  </a:moveTo>
                  <a:lnTo>
                    <a:pt x="5657850" y="0"/>
                  </a:lnTo>
                  <a:lnTo>
                    <a:pt x="5657850" y="19050"/>
                  </a:lnTo>
                  <a:lnTo>
                    <a:pt x="0" y="19050"/>
                  </a:lnTo>
                  <a:close/>
                </a:path>
              </a:pathLst>
            </a:custGeom>
            <a:solidFill>
              <a:srgbClr val="F1F5F9"/>
            </a:solidFill>
          </p:spPr>
        </p:sp>
      </p:grpSp>
      <p:grpSp>
        <p:nvGrpSpPr>
          <p:cNvPr id="22" name="Group 22"/>
          <p:cNvGrpSpPr/>
          <p:nvPr/>
        </p:nvGrpSpPr>
        <p:grpSpPr>
          <a:xfrm>
            <a:off x="7955680" y="5007769"/>
            <a:ext cx="5940695" cy="14288"/>
            <a:chOff x="0" y="0"/>
            <a:chExt cx="7920927" cy="19050"/>
          </a:xfrm>
        </p:grpSpPr>
        <p:sp>
          <p:nvSpPr>
            <p:cNvPr id="23" name="Freeform 23"/>
            <p:cNvSpPr/>
            <p:nvPr/>
          </p:nvSpPr>
          <p:spPr>
            <a:xfrm>
              <a:off x="0" y="0"/>
              <a:ext cx="7920990" cy="19050"/>
            </a:xfrm>
            <a:custGeom>
              <a:avLst/>
              <a:gdLst/>
              <a:ahLst/>
              <a:cxnLst/>
              <a:rect l="l" t="t" r="r" b="b"/>
              <a:pathLst>
                <a:path w="7920990" h="19050">
                  <a:moveTo>
                    <a:pt x="0" y="0"/>
                  </a:moveTo>
                  <a:lnTo>
                    <a:pt x="7920990" y="0"/>
                  </a:lnTo>
                  <a:lnTo>
                    <a:pt x="7920990" y="19050"/>
                  </a:lnTo>
                  <a:lnTo>
                    <a:pt x="0" y="19050"/>
                  </a:lnTo>
                  <a:close/>
                </a:path>
              </a:pathLst>
            </a:custGeom>
            <a:solidFill>
              <a:srgbClr val="F1F5F9"/>
            </a:solidFill>
          </p:spPr>
        </p:sp>
      </p:grpSp>
      <p:grpSp>
        <p:nvGrpSpPr>
          <p:cNvPr id="24" name="Group 24"/>
          <p:cNvGrpSpPr/>
          <p:nvPr/>
        </p:nvGrpSpPr>
        <p:grpSpPr>
          <a:xfrm>
            <a:off x="13896375" y="5007769"/>
            <a:ext cx="3734391" cy="14288"/>
            <a:chOff x="0" y="0"/>
            <a:chExt cx="4979187" cy="19050"/>
          </a:xfrm>
        </p:grpSpPr>
        <p:sp>
          <p:nvSpPr>
            <p:cNvPr id="25" name="Freeform 25"/>
            <p:cNvSpPr/>
            <p:nvPr/>
          </p:nvSpPr>
          <p:spPr>
            <a:xfrm>
              <a:off x="0" y="0"/>
              <a:ext cx="4979162" cy="19050"/>
            </a:xfrm>
            <a:custGeom>
              <a:avLst/>
              <a:gdLst/>
              <a:ahLst/>
              <a:cxnLst/>
              <a:rect l="l" t="t" r="r" b="b"/>
              <a:pathLst>
                <a:path w="4979162" h="19050">
                  <a:moveTo>
                    <a:pt x="0" y="0"/>
                  </a:moveTo>
                  <a:lnTo>
                    <a:pt x="4979162" y="0"/>
                  </a:lnTo>
                  <a:lnTo>
                    <a:pt x="4979162" y="19050"/>
                  </a:lnTo>
                  <a:lnTo>
                    <a:pt x="0" y="19050"/>
                  </a:lnTo>
                  <a:close/>
                </a:path>
              </a:pathLst>
            </a:custGeom>
            <a:solidFill>
              <a:srgbClr val="F1F5F9"/>
            </a:solidFill>
          </p:spPr>
        </p:sp>
      </p:grpSp>
      <p:grpSp>
        <p:nvGrpSpPr>
          <p:cNvPr id="26" name="Group 26"/>
          <p:cNvGrpSpPr/>
          <p:nvPr/>
        </p:nvGrpSpPr>
        <p:grpSpPr>
          <a:xfrm>
            <a:off x="657225" y="5664994"/>
            <a:ext cx="3055068" cy="14288"/>
            <a:chOff x="0" y="0"/>
            <a:chExt cx="4073423" cy="19050"/>
          </a:xfrm>
        </p:grpSpPr>
        <p:sp>
          <p:nvSpPr>
            <p:cNvPr id="27" name="Freeform 27"/>
            <p:cNvSpPr/>
            <p:nvPr/>
          </p:nvSpPr>
          <p:spPr>
            <a:xfrm>
              <a:off x="0" y="0"/>
              <a:ext cx="4073398" cy="19050"/>
            </a:xfrm>
            <a:custGeom>
              <a:avLst/>
              <a:gdLst/>
              <a:ahLst/>
              <a:cxnLst/>
              <a:rect l="l" t="t" r="r" b="b"/>
              <a:pathLst>
                <a:path w="4073398" h="19050">
                  <a:moveTo>
                    <a:pt x="0" y="0"/>
                  </a:moveTo>
                  <a:lnTo>
                    <a:pt x="4073398" y="0"/>
                  </a:lnTo>
                  <a:lnTo>
                    <a:pt x="4073398" y="19050"/>
                  </a:lnTo>
                  <a:lnTo>
                    <a:pt x="0" y="19050"/>
                  </a:lnTo>
                  <a:close/>
                </a:path>
              </a:pathLst>
            </a:custGeom>
            <a:solidFill>
              <a:srgbClr val="F1F5F9"/>
            </a:solidFill>
          </p:spPr>
        </p:sp>
      </p:grpSp>
      <p:grpSp>
        <p:nvGrpSpPr>
          <p:cNvPr id="28" name="Group 28"/>
          <p:cNvGrpSpPr/>
          <p:nvPr/>
        </p:nvGrpSpPr>
        <p:grpSpPr>
          <a:xfrm>
            <a:off x="3712293" y="5664994"/>
            <a:ext cx="4243388" cy="14288"/>
            <a:chOff x="0" y="0"/>
            <a:chExt cx="5657850" cy="19050"/>
          </a:xfrm>
        </p:grpSpPr>
        <p:sp>
          <p:nvSpPr>
            <p:cNvPr id="29" name="Freeform 29"/>
            <p:cNvSpPr/>
            <p:nvPr/>
          </p:nvSpPr>
          <p:spPr>
            <a:xfrm>
              <a:off x="0" y="0"/>
              <a:ext cx="5657850" cy="19050"/>
            </a:xfrm>
            <a:custGeom>
              <a:avLst/>
              <a:gdLst/>
              <a:ahLst/>
              <a:cxnLst/>
              <a:rect l="l" t="t" r="r" b="b"/>
              <a:pathLst>
                <a:path w="5657850" h="19050">
                  <a:moveTo>
                    <a:pt x="0" y="0"/>
                  </a:moveTo>
                  <a:lnTo>
                    <a:pt x="5657850" y="0"/>
                  </a:lnTo>
                  <a:lnTo>
                    <a:pt x="5657850" y="19050"/>
                  </a:lnTo>
                  <a:lnTo>
                    <a:pt x="0" y="19050"/>
                  </a:lnTo>
                  <a:close/>
                </a:path>
              </a:pathLst>
            </a:custGeom>
            <a:solidFill>
              <a:srgbClr val="F1F5F9"/>
            </a:solidFill>
          </p:spPr>
        </p:sp>
      </p:grpSp>
      <p:grpSp>
        <p:nvGrpSpPr>
          <p:cNvPr id="30" name="Group 30"/>
          <p:cNvGrpSpPr/>
          <p:nvPr/>
        </p:nvGrpSpPr>
        <p:grpSpPr>
          <a:xfrm>
            <a:off x="7955680" y="5664994"/>
            <a:ext cx="5940695" cy="14288"/>
            <a:chOff x="0" y="0"/>
            <a:chExt cx="7920927" cy="19050"/>
          </a:xfrm>
        </p:grpSpPr>
        <p:sp>
          <p:nvSpPr>
            <p:cNvPr id="31" name="Freeform 31"/>
            <p:cNvSpPr/>
            <p:nvPr/>
          </p:nvSpPr>
          <p:spPr>
            <a:xfrm>
              <a:off x="0" y="0"/>
              <a:ext cx="7920990" cy="19050"/>
            </a:xfrm>
            <a:custGeom>
              <a:avLst/>
              <a:gdLst/>
              <a:ahLst/>
              <a:cxnLst/>
              <a:rect l="l" t="t" r="r" b="b"/>
              <a:pathLst>
                <a:path w="7920990" h="19050">
                  <a:moveTo>
                    <a:pt x="0" y="0"/>
                  </a:moveTo>
                  <a:lnTo>
                    <a:pt x="7920990" y="0"/>
                  </a:lnTo>
                  <a:lnTo>
                    <a:pt x="7920990" y="19050"/>
                  </a:lnTo>
                  <a:lnTo>
                    <a:pt x="0" y="19050"/>
                  </a:lnTo>
                  <a:close/>
                </a:path>
              </a:pathLst>
            </a:custGeom>
            <a:solidFill>
              <a:srgbClr val="F1F5F9"/>
            </a:solidFill>
          </p:spPr>
        </p:sp>
      </p:grpSp>
      <p:grpSp>
        <p:nvGrpSpPr>
          <p:cNvPr id="32" name="Group 32"/>
          <p:cNvGrpSpPr/>
          <p:nvPr/>
        </p:nvGrpSpPr>
        <p:grpSpPr>
          <a:xfrm>
            <a:off x="13896375" y="5664994"/>
            <a:ext cx="3734391" cy="14288"/>
            <a:chOff x="0" y="0"/>
            <a:chExt cx="4979187" cy="19050"/>
          </a:xfrm>
        </p:grpSpPr>
        <p:sp>
          <p:nvSpPr>
            <p:cNvPr id="33" name="Freeform 33"/>
            <p:cNvSpPr/>
            <p:nvPr/>
          </p:nvSpPr>
          <p:spPr>
            <a:xfrm>
              <a:off x="0" y="0"/>
              <a:ext cx="4979162" cy="19050"/>
            </a:xfrm>
            <a:custGeom>
              <a:avLst/>
              <a:gdLst/>
              <a:ahLst/>
              <a:cxnLst/>
              <a:rect l="l" t="t" r="r" b="b"/>
              <a:pathLst>
                <a:path w="4979162" h="19050">
                  <a:moveTo>
                    <a:pt x="0" y="0"/>
                  </a:moveTo>
                  <a:lnTo>
                    <a:pt x="4979162" y="0"/>
                  </a:lnTo>
                  <a:lnTo>
                    <a:pt x="4979162" y="19050"/>
                  </a:lnTo>
                  <a:lnTo>
                    <a:pt x="0" y="19050"/>
                  </a:lnTo>
                  <a:close/>
                </a:path>
              </a:pathLst>
            </a:custGeom>
            <a:solidFill>
              <a:srgbClr val="F1F5F9"/>
            </a:solidFill>
          </p:spPr>
        </p:sp>
      </p:grpSp>
      <p:grpSp>
        <p:nvGrpSpPr>
          <p:cNvPr id="34" name="Group 34"/>
          <p:cNvGrpSpPr/>
          <p:nvPr/>
        </p:nvGrpSpPr>
        <p:grpSpPr>
          <a:xfrm>
            <a:off x="657225" y="6322219"/>
            <a:ext cx="3055068" cy="14288"/>
            <a:chOff x="0" y="0"/>
            <a:chExt cx="4073423" cy="19050"/>
          </a:xfrm>
        </p:grpSpPr>
        <p:sp>
          <p:nvSpPr>
            <p:cNvPr id="35" name="Freeform 35"/>
            <p:cNvSpPr/>
            <p:nvPr/>
          </p:nvSpPr>
          <p:spPr>
            <a:xfrm>
              <a:off x="0" y="0"/>
              <a:ext cx="4073398" cy="19050"/>
            </a:xfrm>
            <a:custGeom>
              <a:avLst/>
              <a:gdLst/>
              <a:ahLst/>
              <a:cxnLst/>
              <a:rect l="l" t="t" r="r" b="b"/>
              <a:pathLst>
                <a:path w="4073398" h="19050">
                  <a:moveTo>
                    <a:pt x="0" y="0"/>
                  </a:moveTo>
                  <a:lnTo>
                    <a:pt x="4073398" y="0"/>
                  </a:lnTo>
                  <a:lnTo>
                    <a:pt x="4073398" y="19050"/>
                  </a:lnTo>
                  <a:lnTo>
                    <a:pt x="0" y="19050"/>
                  </a:lnTo>
                  <a:close/>
                </a:path>
              </a:pathLst>
            </a:custGeom>
            <a:solidFill>
              <a:srgbClr val="F1F5F9"/>
            </a:solidFill>
          </p:spPr>
        </p:sp>
      </p:grpSp>
      <p:grpSp>
        <p:nvGrpSpPr>
          <p:cNvPr id="36" name="Group 36"/>
          <p:cNvGrpSpPr/>
          <p:nvPr/>
        </p:nvGrpSpPr>
        <p:grpSpPr>
          <a:xfrm>
            <a:off x="3712293" y="6322219"/>
            <a:ext cx="4243388" cy="14288"/>
            <a:chOff x="0" y="0"/>
            <a:chExt cx="5657850" cy="19050"/>
          </a:xfrm>
        </p:grpSpPr>
        <p:sp>
          <p:nvSpPr>
            <p:cNvPr id="37" name="Freeform 37"/>
            <p:cNvSpPr/>
            <p:nvPr/>
          </p:nvSpPr>
          <p:spPr>
            <a:xfrm>
              <a:off x="0" y="0"/>
              <a:ext cx="5657850" cy="19050"/>
            </a:xfrm>
            <a:custGeom>
              <a:avLst/>
              <a:gdLst/>
              <a:ahLst/>
              <a:cxnLst/>
              <a:rect l="l" t="t" r="r" b="b"/>
              <a:pathLst>
                <a:path w="5657850" h="19050">
                  <a:moveTo>
                    <a:pt x="0" y="0"/>
                  </a:moveTo>
                  <a:lnTo>
                    <a:pt x="5657850" y="0"/>
                  </a:lnTo>
                  <a:lnTo>
                    <a:pt x="5657850" y="19050"/>
                  </a:lnTo>
                  <a:lnTo>
                    <a:pt x="0" y="19050"/>
                  </a:lnTo>
                  <a:close/>
                </a:path>
              </a:pathLst>
            </a:custGeom>
            <a:solidFill>
              <a:srgbClr val="F1F5F9"/>
            </a:solidFill>
          </p:spPr>
        </p:sp>
      </p:grpSp>
      <p:grpSp>
        <p:nvGrpSpPr>
          <p:cNvPr id="38" name="Group 38"/>
          <p:cNvGrpSpPr/>
          <p:nvPr/>
        </p:nvGrpSpPr>
        <p:grpSpPr>
          <a:xfrm>
            <a:off x="7955680" y="6322219"/>
            <a:ext cx="5940695" cy="14288"/>
            <a:chOff x="0" y="0"/>
            <a:chExt cx="7920927" cy="19050"/>
          </a:xfrm>
        </p:grpSpPr>
        <p:sp>
          <p:nvSpPr>
            <p:cNvPr id="39" name="Freeform 39"/>
            <p:cNvSpPr/>
            <p:nvPr/>
          </p:nvSpPr>
          <p:spPr>
            <a:xfrm>
              <a:off x="0" y="0"/>
              <a:ext cx="7920990" cy="19050"/>
            </a:xfrm>
            <a:custGeom>
              <a:avLst/>
              <a:gdLst/>
              <a:ahLst/>
              <a:cxnLst/>
              <a:rect l="l" t="t" r="r" b="b"/>
              <a:pathLst>
                <a:path w="7920990" h="19050">
                  <a:moveTo>
                    <a:pt x="0" y="0"/>
                  </a:moveTo>
                  <a:lnTo>
                    <a:pt x="7920990" y="0"/>
                  </a:lnTo>
                  <a:lnTo>
                    <a:pt x="7920990" y="19050"/>
                  </a:lnTo>
                  <a:lnTo>
                    <a:pt x="0" y="19050"/>
                  </a:lnTo>
                  <a:close/>
                </a:path>
              </a:pathLst>
            </a:custGeom>
            <a:solidFill>
              <a:srgbClr val="F1F5F9"/>
            </a:solidFill>
          </p:spPr>
        </p:sp>
      </p:grpSp>
      <p:grpSp>
        <p:nvGrpSpPr>
          <p:cNvPr id="40" name="Group 40"/>
          <p:cNvGrpSpPr/>
          <p:nvPr/>
        </p:nvGrpSpPr>
        <p:grpSpPr>
          <a:xfrm>
            <a:off x="13896375" y="6322219"/>
            <a:ext cx="3734391" cy="14288"/>
            <a:chOff x="0" y="0"/>
            <a:chExt cx="4979187" cy="19050"/>
          </a:xfrm>
        </p:grpSpPr>
        <p:sp>
          <p:nvSpPr>
            <p:cNvPr id="41" name="Freeform 41"/>
            <p:cNvSpPr/>
            <p:nvPr/>
          </p:nvSpPr>
          <p:spPr>
            <a:xfrm>
              <a:off x="0" y="0"/>
              <a:ext cx="4979162" cy="19050"/>
            </a:xfrm>
            <a:custGeom>
              <a:avLst/>
              <a:gdLst/>
              <a:ahLst/>
              <a:cxnLst/>
              <a:rect l="l" t="t" r="r" b="b"/>
              <a:pathLst>
                <a:path w="4979162" h="19050">
                  <a:moveTo>
                    <a:pt x="0" y="0"/>
                  </a:moveTo>
                  <a:lnTo>
                    <a:pt x="4979162" y="0"/>
                  </a:lnTo>
                  <a:lnTo>
                    <a:pt x="4979162" y="19050"/>
                  </a:lnTo>
                  <a:lnTo>
                    <a:pt x="0" y="19050"/>
                  </a:lnTo>
                  <a:close/>
                </a:path>
              </a:pathLst>
            </a:custGeom>
            <a:solidFill>
              <a:srgbClr val="F1F5F9"/>
            </a:solidFill>
          </p:spPr>
        </p:sp>
      </p:grpSp>
      <p:grpSp>
        <p:nvGrpSpPr>
          <p:cNvPr id="42" name="Group 42"/>
          <p:cNvGrpSpPr/>
          <p:nvPr/>
        </p:nvGrpSpPr>
        <p:grpSpPr>
          <a:xfrm>
            <a:off x="657225" y="6979444"/>
            <a:ext cx="3055068" cy="14288"/>
            <a:chOff x="0" y="0"/>
            <a:chExt cx="4073423" cy="19050"/>
          </a:xfrm>
        </p:grpSpPr>
        <p:sp>
          <p:nvSpPr>
            <p:cNvPr id="43" name="Freeform 43"/>
            <p:cNvSpPr/>
            <p:nvPr/>
          </p:nvSpPr>
          <p:spPr>
            <a:xfrm>
              <a:off x="0" y="0"/>
              <a:ext cx="4073398" cy="19050"/>
            </a:xfrm>
            <a:custGeom>
              <a:avLst/>
              <a:gdLst/>
              <a:ahLst/>
              <a:cxnLst/>
              <a:rect l="l" t="t" r="r" b="b"/>
              <a:pathLst>
                <a:path w="4073398" h="19050">
                  <a:moveTo>
                    <a:pt x="0" y="0"/>
                  </a:moveTo>
                  <a:lnTo>
                    <a:pt x="4073398" y="0"/>
                  </a:lnTo>
                  <a:lnTo>
                    <a:pt x="4073398" y="19050"/>
                  </a:lnTo>
                  <a:lnTo>
                    <a:pt x="0" y="19050"/>
                  </a:lnTo>
                  <a:close/>
                </a:path>
              </a:pathLst>
            </a:custGeom>
            <a:solidFill>
              <a:srgbClr val="F1F5F9"/>
            </a:solidFill>
          </p:spPr>
        </p:sp>
      </p:grpSp>
      <p:grpSp>
        <p:nvGrpSpPr>
          <p:cNvPr id="44" name="Group 44"/>
          <p:cNvGrpSpPr/>
          <p:nvPr/>
        </p:nvGrpSpPr>
        <p:grpSpPr>
          <a:xfrm>
            <a:off x="3712293" y="6979444"/>
            <a:ext cx="4243388" cy="14288"/>
            <a:chOff x="0" y="0"/>
            <a:chExt cx="5657850" cy="19050"/>
          </a:xfrm>
        </p:grpSpPr>
        <p:sp>
          <p:nvSpPr>
            <p:cNvPr id="45" name="Freeform 45"/>
            <p:cNvSpPr/>
            <p:nvPr/>
          </p:nvSpPr>
          <p:spPr>
            <a:xfrm>
              <a:off x="0" y="0"/>
              <a:ext cx="5657850" cy="19050"/>
            </a:xfrm>
            <a:custGeom>
              <a:avLst/>
              <a:gdLst/>
              <a:ahLst/>
              <a:cxnLst/>
              <a:rect l="l" t="t" r="r" b="b"/>
              <a:pathLst>
                <a:path w="5657850" h="19050">
                  <a:moveTo>
                    <a:pt x="0" y="0"/>
                  </a:moveTo>
                  <a:lnTo>
                    <a:pt x="5657850" y="0"/>
                  </a:lnTo>
                  <a:lnTo>
                    <a:pt x="5657850" y="19050"/>
                  </a:lnTo>
                  <a:lnTo>
                    <a:pt x="0" y="19050"/>
                  </a:lnTo>
                  <a:close/>
                </a:path>
              </a:pathLst>
            </a:custGeom>
            <a:solidFill>
              <a:srgbClr val="F1F5F9"/>
            </a:solidFill>
          </p:spPr>
        </p:sp>
      </p:grpSp>
      <p:grpSp>
        <p:nvGrpSpPr>
          <p:cNvPr id="46" name="Group 46"/>
          <p:cNvGrpSpPr/>
          <p:nvPr/>
        </p:nvGrpSpPr>
        <p:grpSpPr>
          <a:xfrm>
            <a:off x="7955680" y="6979444"/>
            <a:ext cx="5940695" cy="14288"/>
            <a:chOff x="0" y="0"/>
            <a:chExt cx="7920927" cy="19050"/>
          </a:xfrm>
        </p:grpSpPr>
        <p:sp>
          <p:nvSpPr>
            <p:cNvPr id="47" name="Freeform 47"/>
            <p:cNvSpPr/>
            <p:nvPr/>
          </p:nvSpPr>
          <p:spPr>
            <a:xfrm>
              <a:off x="0" y="0"/>
              <a:ext cx="7920990" cy="19050"/>
            </a:xfrm>
            <a:custGeom>
              <a:avLst/>
              <a:gdLst/>
              <a:ahLst/>
              <a:cxnLst/>
              <a:rect l="l" t="t" r="r" b="b"/>
              <a:pathLst>
                <a:path w="7920990" h="19050">
                  <a:moveTo>
                    <a:pt x="0" y="0"/>
                  </a:moveTo>
                  <a:lnTo>
                    <a:pt x="7920990" y="0"/>
                  </a:lnTo>
                  <a:lnTo>
                    <a:pt x="7920990" y="19050"/>
                  </a:lnTo>
                  <a:lnTo>
                    <a:pt x="0" y="19050"/>
                  </a:lnTo>
                  <a:close/>
                </a:path>
              </a:pathLst>
            </a:custGeom>
            <a:solidFill>
              <a:srgbClr val="F1F5F9"/>
            </a:solidFill>
          </p:spPr>
        </p:sp>
      </p:grpSp>
      <p:grpSp>
        <p:nvGrpSpPr>
          <p:cNvPr id="48" name="Group 48"/>
          <p:cNvGrpSpPr/>
          <p:nvPr/>
        </p:nvGrpSpPr>
        <p:grpSpPr>
          <a:xfrm>
            <a:off x="13896375" y="6979444"/>
            <a:ext cx="3734391" cy="14288"/>
            <a:chOff x="0" y="0"/>
            <a:chExt cx="4979187" cy="19050"/>
          </a:xfrm>
        </p:grpSpPr>
        <p:sp>
          <p:nvSpPr>
            <p:cNvPr id="49" name="Freeform 49"/>
            <p:cNvSpPr/>
            <p:nvPr/>
          </p:nvSpPr>
          <p:spPr>
            <a:xfrm>
              <a:off x="0" y="0"/>
              <a:ext cx="4979162" cy="19050"/>
            </a:xfrm>
            <a:custGeom>
              <a:avLst/>
              <a:gdLst/>
              <a:ahLst/>
              <a:cxnLst/>
              <a:rect l="l" t="t" r="r" b="b"/>
              <a:pathLst>
                <a:path w="4979162" h="19050">
                  <a:moveTo>
                    <a:pt x="0" y="0"/>
                  </a:moveTo>
                  <a:lnTo>
                    <a:pt x="4979162" y="0"/>
                  </a:lnTo>
                  <a:lnTo>
                    <a:pt x="4979162" y="19050"/>
                  </a:lnTo>
                  <a:lnTo>
                    <a:pt x="0" y="19050"/>
                  </a:lnTo>
                  <a:close/>
                </a:path>
              </a:pathLst>
            </a:custGeom>
            <a:solidFill>
              <a:srgbClr val="F1F5F9"/>
            </a:solidFill>
          </p:spPr>
        </p:sp>
      </p:grpSp>
      <p:grpSp>
        <p:nvGrpSpPr>
          <p:cNvPr id="50" name="Group 50"/>
          <p:cNvGrpSpPr/>
          <p:nvPr/>
        </p:nvGrpSpPr>
        <p:grpSpPr>
          <a:xfrm>
            <a:off x="2163328" y="7350919"/>
            <a:ext cx="271462" cy="221456"/>
            <a:chOff x="0" y="0"/>
            <a:chExt cx="361950" cy="295275"/>
          </a:xfrm>
        </p:grpSpPr>
        <p:sp>
          <p:nvSpPr>
            <p:cNvPr id="51" name="Freeform 51" descr="image.png"/>
            <p:cNvSpPr/>
            <p:nvPr/>
          </p:nvSpPr>
          <p:spPr>
            <a:xfrm>
              <a:off x="0" y="0"/>
              <a:ext cx="361950" cy="295275"/>
            </a:xfrm>
            <a:custGeom>
              <a:avLst/>
              <a:gdLst/>
              <a:ahLst/>
              <a:cxnLst/>
              <a:rect l="l" t="t" r="r" b="b"/>
              <a:pathLst>
                <a:path w="361950" h="295275">
                  <a:moveTo>
                    <a:pt x="0" y="0"/>
                  </a:moveTo>
                  <a:lnTo>
                    <a:pt x="361950" y="0"/>
                  </a:lnTo>
                  <a:lnTo>
                    <a:pt x="361950" y="295275"/>
                  </a:lnTo>
                  <a:lnTo>
                    <a:pt x="0" y="295275"/>
                  </a:lnTo>
                  <a:lnTo>
                    <a:pt x="0" y="0"/>
                  </a:lnTo>
                  <a:close/>
                </a:path>
              </a:pathLst>
            </a:custGeom>
            <a:blipFill>
              <a:blip r:embed="rId5"/>
              <a:stretch>
                <a:fillRect t="-1612" b="-1612"/>
              </a:stretch>
            </a:blipFill>
          </p:spPr>
        </p:sp>
      </p:grpSp>
      <p:grpSp>
        <p:nvGrpSpPr>
          <p:cNvPr id="52" name="Group 52"/>
          <p:cNvGrpSpPr/>
          <p:nvPr/>
        </p:nvGrpSpPr>
        <p:grpSpPr>
          <a:xfrm>
            <a:off x="2070459" y="5890022"/>
            <a:ext cx="228600" cy="221456"/>
            <a:chOff x="0" y="0"/>
            <a:chExt cx="304800" cy="295275"/>
          </a:xfrm>
        </p:grpSpPr>
        <p:sp>
          <p:nvSpPr>
            <p:cNvPr id="53" name="Freeform 53" descr="image.png"/>
            <p:cNvSpPr/>
            <p:nvPr/>
          </p:nvSpPr>
          <p:spPr>
            <a:xfrm>
              <a:off x="0" y="0"/>
              <a:ext cx="304800" cy="295275"/>
            </a:xfrm>
            <a:custGeom>
              <a:avLst/>
              <a:gdLst/>
              <a:ahLst/>
              <a:cxnLst/>
              <a:rect l="l" t="t" r="r" b="b"/>
              <a:pathLst>
                <a:path w="304800" h="295275">
                  <a:moveTo>
                    <a:pt x="0" y="0"/>
                  </a:moveTo>
                  <a:lnTo>
                    <a:pt x="304800" y="0"/>
                  </a:lnTo>
                  <a:lnTo>
                    <a:pt x="304800" y="295275"/>
                  </a:lnTo>
                  <a:lnTo>
                    <a:pt x="0" y="295275"/>
                  </a:lnTo>
                  <a:lnTo>
                    <a:pt x="0" y="0"/>
                  </a:lnTo>
                  <a:close/>
                </a:path>
              </a:pathLst>
            </a:custGeom>
            <a:blipFill>
              <a:blip r:embed="rId6"/>
              <a:stretch>
                <a:fillRect t="-1612" b="-1612"/>
              </a:stretch>
            </a:blipFill>
          </p:spPr>
        </p:sp>
      </p:grpSp>
      <p:grpSp>
        <p:nvGrpSpPr>
          <p:cNvPr id="54" name="Group 54"/>
          <p:cNvGrpSpPr/>
          <p:nvPr/>
        </p:nvGrpSpPr>
        <p:grpSpPr>
          <a:xfrm>
            <a:off x="1859480" y="6647259"/>
            <a:ext cx="242888" cy="221456"/>
            <a:chOff x="0" y="0"/>
            <a:chExt cx="323850" cy="295275"/>
          </a:xfrm>
        </p:grpSpPr>
        <p:sp>
          <p:nvSpPr>
            <p:cNvPr id="55" name="Freeform 55" descr="image.png"/>
            <p:cNvSpPr/>
            <p:nvPr/>
          </p:nvSpPr>
          <p:spPr>
            <a:xfrm>
              <a:off x="0" y="0"/>
              <a:ext cx="323850" cy="295275"/>
            </a:xfrm>
            <a:custGeom>
              <a:avLst/>
              <a:gdLst/>
              <a:ahLst/>
              <a:cxnLst/>
              <a:rect l="l" t="t" r="r" b="b"/>
              <a:pathLst>
                <a:path w="323850" h="295275">
                  <a:moveTo>
                    <a:pt x="0" y="0"/>
                  </a:moveTo>
                  <a:lnTo>
                    <a:pt x="323850" y="0"/>
                  </a:lnTo>
                  <a:lnTo>
                    <a:pt x="323850" y="295275"/>
                  </a:lnTo>
                  <a:lnTo>
                    <a:pt x="0" y="295275"/>
                  </a:lnTo>
                  <a:lnTo>
                    <a:pt x="0" y="0"/>
                  </a:lnTo>
                  <a:close/>
                </a:path>
              </a:pathLst>
            </a:custGeom>
            <a:blipFill>
              <a:blip r:embed="rId7"/>
              <a:stretch>
                <a:fillRect t="-1612" b="-1612"/>
              </a:stretch>
            </a:blipFill>
          </p:spPr>
        </p:sp>
      </p:grpSp>
      <p:grpSp>
        <p:nvGrpSpPr>
          <p:cNvPr id="56" name="Group 56"/>
          <p:cNvGrpSpPr/>
          <p:nvPr/>
        </p:nvGrpSpPr>
        <p:grpSpPr>
          <a:xfrm>
            <a:off x="1759468" y="5232797"/>
            <a:ext cx="228600" cy="221456"/>
            <a:chOff x="0" y="0"/>
            <a:chExt cx="304800" cy="295275"/>
          </a:xfrm>
        </p:grpSpPr>
        <p:sp>
          <p:nvSpPr>
            <p:cNvPr id="57" name="Freeform 57" descr="image.png"/>
            <p:cNvSpPr/>
            <p:nvPr/>
          </p:nvSpPr>
          <p:spPr>
            <a:xfrm>
              <a:off x="0" y="0"/>
              <a:ext cx="304800" cy="295275"/>
            </a:xfrm>
            <a:custGeom>
              <a:avLst/>
              <a:gdLst/>
              <a:ahLst/>
              <a:cxnLst/>
              <a:rect l="l" t="t" r="r" b="b"/>
              <a:pathLst>
                <a:path w="304800" h="295275">
                  <a:moveTo>
                    <a:pt x="0" y="0"/>
                  </a:moveTo>
                  <a:lnTo>
                    <a:pt x="304800" y="0"/>
                  </a:lnTo>
                  <a:lnTo>
                    <a:pt x="304800" y="295275"/>
                  </a:lnTo>
                  <a:lnTo>
                    <a:pt x="0" y="295275"/>
                  </a:lnTo>
                  <a:lnTo>
                    <a:pt x="0" y="0"/>
                  </a:lnTo>
                  <a:close/>
                </a:path>
              </a:pathLst>
            </a:custGeom>
            <a:blipFill>
              <a:blip r:embed="rId8"/>
              <a:stretch>
                <a:fillRect t="-1612" b="-1612"/>
              </a:stretch>
            </a:blipFill>
          </p:spPr>
        </p:sp>
      </p:grpSp>
      <p:grpSp>
        <p:nvGrpSpPr>
          <p:cNvPr id="58" name="Group 58"/>
          <p:cNvGrpSpPr/>
          <p:nvPr/>
        </p:nvGrpSpPr>
        <p:grpSpPr>
          <a:xfrm>
            <a:off x="1633496" y="4450556"/>
            <a:ext cx="240272" cy="310351"/>
            <a:chOff x="0" y="0"/>
            <a:chExt cx="228600" cy="295275"/>
          </a:xfrm>
        </p:grpSpPr>
        <p:sp>
          <p:nvSpPr>
            <p:cNvPr id="59" name="Freeform 59" descr="image.png"/>
            <p:cNvSpPr/>
            <p:nvPr/>
          </p:nvSpPr>
          <p:spPr>
            <a:xfrm>
              <a:off x="0" y="0"/>
              <a:ext cx="228600" cy="295275"/>
            </a:xfrm>
            <a:custGeom>
              <a:avLst/>
              <a:gdLst/>
              <a:ahLst/>
              <a:cxnLst/>
              <a:rect l="l" t="t" r="r" b="b"/>
              <a:pathLst>
                <a:path w="228600" h="295275">
                  <a:moveTo>
                    <a:pt x="0" y="0"/>
                  </a:moveTo>
                  <a:lnTo>
                    <a:pt x="228600" y="0"/>
                  </a:lnTo>
                  <a:lnTo>
                    <a:pt x="228600" y="295275"/>
                  </a:lnTo>
                  <a:lnTo>
                    <a:pt x="0" y="295275"/>
                  </a:lnTo>
                  <a:lnTo>
                    <a:pt x="0" y="0"/>
                  </a:lnTo>
                  <a:close/>
                </a:path>
              </a:pathLst>
            </a:custGeom>
            <a:blipFill>
              <a:blip r:embed="rId9"/>
              <a:stretch>
                <a:fillRect t="-1612" b="-1612"/>
              </a:stretch>
            </a:blipFill>
          </p:spPr>
        </p:sp>
      </p:grpSp>
      <p:grpSp>
        <p:nvGrpSpPr>
          <p:cNvPr id="60" name="Group 60"/>
          <p:cNvGrpSpPr/>
          <p:nvPr/>
        </p:nvGrpSpPr>
        <p:grpSpPr>
          <a:xfrm>
            <a:off x="1759468" y="5243512"/>
            <a:ext cx="228600" cy="221456"/>
            <a:chOff x="0" y="0"/>
            <a:chExt cx="304800" cy="295275"/>
          </a:xfrm>
        </p:grpSpPr>
        <p:sp>
          <p:nvSpPr>
            <p:cNvPr id="61" name="Freeform 61" descr="image.png"/>
            <p:cNvSpPr/>
            <p:nvPr/>
          </p:nvSpPr>
          <p:spPr>
            <a:xfrm>
              <a:off x="0" y="0"/>
              <a:ext cx="304800" cy="295275"/>
            </a:xfrm>
            <a:custGeom>
              <a:avLst/>
              <a:gdLst/>
              <a:ahLst/>
              <a:cxnLst/>
              <a:rect l="l" t="t" r="r" b="b"/>
              <a:pathLst>
                <a:path w="304800" h="295275">
                  <a:moveTo>
                    <a:pt x="0" y="0"/>
                  </a:moveTo>
                  <a:lnTo>
                    <a:pt x="304800" y="0"/>
                  </a:lnTo>
                  <a:lnTo>
                    <a:pt x="304800" y="295275"/>
                  </a:lnTo>
                  <a:lnTo>
                    <a:pt x="0" y="295275"/>
                  </a:lnTo>
                  <a:lnTo>
                    <a:pt x="0" y="0"/>
                  </a:lnTo>
                  <a:close/>
                </a:path>
              </a:pathLst>
            </a:custGeom>
            <a:blipFill>
              <a:blip r:embed="rId8"/>
              <a:stretch>
                <a:fillRect t="-1612" b="-1612"/>
              </a:stretch>
            </a:blipFill>
          </p:spPr>
        </p:sp>
      </p:grpSp>
      <p:grpSp>
        <p:nvGrpSpPr>
          <p:cNvPr id="62" name="Group 62"/>
          <p:cNvGrpSpPr/>
          <p:nvPr/>
        </p:nvGrpSpPr>
        <p:grpSpPr>
          <a:xfrm>
            <a:off x="1956159" y="5890022"/>
            <a:ext cx="228600" cy="221456"/>
            <a:chOff x="0" y="0"/>
            <a:chExt cx="304800" cy="295275"/>
          </a:xfrm>
        </p:grpSpPr>
        <p:sp>
          <p:nvSpPr>
            <p:cNvPr id="63" name="Freeform 63" descr="image.png"/>
            <p:cNvSpPr/>
            <p:nvPr/>
          </p:nvSpPr>
          <p:spPr>
            <a:xfrm>
              <a:off x="0" y="0"/>
              <a:ext cx="304800" cy="295275"/>
            </a:xfrm>
            <a:custGeom>
              <a:avLst/>
              <a:gdLst/>
              <a:ahLst/>
              <a:cxnLst/>
              <a:rect l="l" t="t" r="r" b="b"/>
              <a:pathLst>
                <a:path w="304800" h="295275">
                  <a:moveTo>
                    <a:pt x="0" y="0"/>
                  </a:moveTo>
                  <a:lnTo>
                    <a:pt x="304800" y="0"/>
                  </a:lnTo>
                  <a:lnTo>
                    <a:pt x="304800" y="295275"/>
                  </a:lnTo>
                  <a:lnTo>
                    <a:pt x="0" y="295275"/>
                  </a:lnTo>
                  <a:lnTo>
                    <a:pt x="0" y="0"/>
                  </a:lnTo>
                  <a:close/>
                </a:path>
              </a:pathLst>
            </a:custGeom>
            <a:blipFill>
              <a:blip r:embed="rId6"/>
              <a:stretch>
                <a:fillRect t="-1612" b="-1612"/>
              </a:stretch>
            </a:blipFill>
          </p:spPr>
        </p:sp>
      </p:grpSp>
      <p:grpSp>
        <p:nvGrpSpPr>
          <p:cNvPr id="64" name="Group 64"/>
          <p:cNvGrpSpPr/>
          <p:nvPr/>
        </p:nvGrpSpPr>
        <p:grpSpPr>
          <a:xfrm>
            <a:off x="1834715" y="6647259"/>
            <a:ext cx="242888" cy="221456"/>
            <a:chOff x="0" y="0"/>
            <a:chExt cx="323850" cy="295275"/>
          </a:xfrm>
        </p:grpSpPr>
        <p:sp>
          <p:nvSpPr>
            <p:cNvPr id="65" name="Freeform 65" descr="image.png"/>
            <p:cNvSpPr/>
            <p:nvPr/>
          </p:nvSpPr>
          <p:spPr>
            <a:xfrm>
              <a:off x="0" y="0"/>
              <a:ext cx="323850" cy="295275"/>
            </a:xfrm>
            <a:custGeom>
              <a:avLst/>
              <a:gdLst/>
              <a:ahLst/>
              <a:cxnLst/>
              <a:rect l="l" t="t" r="r" b="b"/>
              <a:pathLst>
                <a:path w="323850" h="295275">
                  <a:moveTo>
                    <a:pt x="0" y="0"/>
                  </a:moveTo>
                  <a:lnTo>
                    <a:pt x="323850" y="0"/>
                  </a:lnTo>
                  <a:lnTo>
                    <a:pt x="323850" y="295275"/>
                  </a:lnTo>
                  <a:lnTo>
                    <a:pt x="0" y="295275"/>
                  </a:lnTo>
                  <a:lnTo>
                    <a:pt x="0" y="0"/>
                  </a:lnTo>
                  <a:close/>
                </a:path>
              </a:pathLst>
            </a:custGeom>
            <a:blipFill>
              <a:blip r:embed="rId7"/>
              <a:stretch>
                <a:fillRect t="-1612" b="-1612"/>
              </a:stretch>
            </a:blipFill>
          </p:spPr>
        </p:sp>
      </p:grpSp>
      <p:grpSp>
        <p:nvGrpSpPr>
          <p:cNvPr id="66" name="Group 66"/>
          <p:cNvGrpSpPr/>
          <p:nvPr/>
        </p:nvGrpSpPr>
        <p:grpSpPr>
          <a:xfrm>
            <a:off x="2163328" y="7350919"/>
            <a:ext cx="271462" cy="221456"/>
            <a:chOff x="0" y="0"/>
            <a:chExt cx="361950" cy="295275"/>
          </a:xfrm>
        </p:grpSpPr>
        <p:sp>
          <p:nvSpPr>
            <p:cNvPr id="67" name="Freeform 67" descr="image.png"/>
            <p:cNvSpPr/>
            <p:nvPr/>
          </p:nvSpPr>
          <p:spPr>
            <a:xfrm>
              <a:off x="0" y="0"/>
              <a:ext cx="361950" cy="295275"/>
            </a:xfrm>
            <a:custGeom>
              <a:avLst/>
              <a:gdLst/>
              <a:ahLst/>
              <a:cxnLst/>
              <a:rect l="l" t="t" r="r" b="b"/>
              <a:pathLst>
                <a:path w="361950" h="295275">
                  <a:moveTo>
                    <a:pt x="0" y="0"/>
                  </a:moveTo>
                  <a:lnTo>
                    <a:pt x="361950" y="0"/>
                  </a:lnTo>
                  <a:lnTo>
                    <a:pt x="361950" y="295275"/>
                  </a:lnTo>
                  <a:lnTo>
                    <a:pt x="0" y="295275"/>
                  </a:lnTo>
                  <a:lnTo>
                    <a:pt x="0" y="0"/>
                  </a:lnTo>
                  <a:close/>
                </a:path>
              </a:pathLst>
            </a:custGeom>
            <a:blipFill>
              <a:blip r:embed="rId5"/>
              <a:stretch>
                <a:fillRect t="-1612" b="-1612"/>
              </a:stretch>
            </a:blipFill>
          </p:spPr>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sp>
      </p:grpSp>
      <p:grpSp>
        <p:nvGrpSpPr>
          <p:cNvPr id="4" name="Group 4"/>
          <p:cNvGrpSpPr/>
          <p:nvPr/>
        </p:nvGrpSpPr>
        <p:grpSpPr>
          <a:xfrm>
            <a:off x="642938" y="3609375"/>
            <a:ext cx="5476799" cy="4096941"/>
            <a:chOff x="0" y="0"/>
            <a:chExt cx="7302398" cy="5462588"/>
          </a:xfrm>
        </p:grpSpPr>
        <p:sp>
          <p:nvSpPr>
            <p:cNvPr id="5" name="Freeform 5" descr="image.png"/>
            <p:cNvSpPr/>
            <p:nvPr/>
          </p:nvSpPr>
          <p:spPr>
            <a:xfrm>
              <a:off x="0" y="0"/>
              <a:ext cx="7302373" cy="5462524"/>
            </a:xfrm>
            <a:custGeom>
              <a:avLst/>
              <a:gdLst/>
              <a:ahLst/>
              <a:cxnLst/>
              <a:rect l="l" t="t" r="r" b="b"/>
              <a:pathLst>
                <a:path w="7302373" h="5462524">
                  <a:moveTo>
                    <a:pt x="0" y="0"/>
                  </a:moveTo>
                  <a:lnTo>
                    <a:pt x="7302373" y="0"/>
                  </a:lnTo>
                  <a:lnTo>
                    <a:pt x="7302373" y="5462524"/>
                  </a:lnTo>
                  <a:lnTo>
                    <a:pt x="0" y="5462524"/>
                  </a:lnTo>
                  <a:lnTo>
                    <a:pt x="0" y="0"/>
                  </a:lnTo>
                  <a:close/>
                </a:path>
              </a:pathLst>
            </a:custGeom>
            <a:blipFill>
              <a:blip r:embed="rId3"/>
              <a:stretch>
                <a:fillRect t="-130" b="-131"/>
              </a:stretch>
            </a:blipFill>
          </p:spPr>
        </p:sp>
      </p:grpSp>
      <p:grpSp>
        <p:nvGrpSpPr>
          <p:cNvPr id="6" name="Group 6"/>
          <p:cNvGrpSpPr/>
          <p:nvPr/>
        </p:nvGrpSpPr>
        <p:grpSpPr>
          <a:xfrm>
            <a:off x="6405486" y="3609375"/>
            <a:ext cx="5476799" cy="4096941"/>
            <a:chOff x="0" y="0"/>
            <a:chExt cx="7302398" cy="5462588"/>
          </a:xfrm>
        </p:grpSpPr>
        <p:sp>
          <p:nvSpPr>
            <p:cNvPr id="7" name="Freeform 7" descr="image.png"/>
            <p:cNvSpPr/>
            <p:nvPr/>
          </p:nvSpPr>
          <p:spPr>
            <a:xfrm>
              <a:off x="0" y="0"/>
              <a:ext cx="7302373" cy="5462524"/>
            </a:xfrm>
            <a:custGeom>
              <a:avLst/>
              <a:gdLst/>
              <a:ahLst/>
              <a:cxnLst/>
              <a:rect l="l" t="t" r="r" b="b"/>
              <a:pathLst>
                <a:path w="7302373" h="5462524">
                  <a:moveTo>
                    <a:pt x="0" y="0"/>
                  </a:moveTo>
                  <a:lnTo>
                    <a:pt x="7302373" y="0"/>
                  </a:lnTo>
                  <a:lnTo>
                    <a:pt x="7302373" y="5462524"/>
                  </a:lnTo>
                  <a:lnTo>
                    <a:pt x="0" y="5462524"/>
                  </a:lnTo>
                  <a:lnTo>
                    <a:pt x="0" y="0"/>
                  </a:lnTo>
                  <a:close/>
                </a:path>
              </a:pathLst>
            </a:custGeom>
            <a:blipFill>
              <a:blip r:embed="rId3"/>
              <a:stretch>
                <a:fillRect t="-130" b="-131"/>
              </a:stretch>
            </a:blipFill>
          </p:spPr>
        </p:sp>
      </p:grpSp>
      <p:grpSp>
        <p:nvGrpSpPr>
          <p:cNvPr id="8" name="Group 8"/>
          <p:cNvGrpSpPr/>
          <p:nvPr/>
        </p:nvGrpSpPr>
        <p:grpSpPr>
          <a:xfrm>
            <a:off x="12168035" y="3609375"/>
            <a:ext cx="5477027" cy="4096941"/>
            <a:chOff x="0" y="0"/>
            <a:chExt cx="7302703" cy="5462588"/>
          </a:xfrm>
        </p:grpSpPr>
        <p:sp>
          <p:nvSpPr>
            <p:cNvPr id="9" name="Freeform 9" descr="image.png"/>
            <p:cNvSpPr/>
            <p:nvPr/>
          </p:nvSpPr>
          <p:spPr>
            <a:xfrm>
              <a:off x="0" y="0"/>
              <a:ext cx="7302754" cy="5462524"/>
            </a:xfrm>
            <a:custGeom>
              <a:avLst/>
              <a:gdLst/>
              <a:ahLst/>
              <a:cxnLst/>
              <a:rect l="l" t="t" r="r" b="b"/>
              <a:pathLst>
                <a:path w="7302754" h="5462524">
                  <a:moveTo>
                    <a:pt x="0" y="0"/>
                  </a:moveTo>
                  <a:lnTo>
                    <a:pt x="7302754" y="0"/>
                  </a:lnTo>
                  <a:lnTo>
                    <a:pt x="7302754" y="5462524"/>
                  </a:lnTo>
                  <a:lnTo>
                    <a:pt x="0" y="5462524"/>
                  </a:lnTo>
                  <a:lnTo>
                    <a:pt x="0" y="0"/>
                  </a:lnTo>
                  <a:close/>
                </a:path>
              </a:pathLst>
            </a:custGeom>
            <a:blipFill>
              <a:blip r:embed="rId4"/>
              <a:stretch>
                <a:fillRect t="-132" b="-133"/>
              </a:stretch>
            </a:blipFill>
          </p:spPr>
        </p:sp>
      </p:grpSp>
      <p:sp>
        <p:nvSpPr>
          <p:cNvPr id="10" name="TextBox 10"/>
          <p:cNvSpPr txBox="1"/>
          <p:nvPr/>
        </p:nvSpPr>
        <p:spPr>
          <a:xfrm>
            <a:off x="642938" y="490537"/>
            <a:ext cx="6637630" cy="566737"/>
          </a:xfrm>
          <a:prstGeom prst="rect">
            <a:avLst/>
          </a:prstGeom>
        </p:spPr>
        <p:txBody>
          <a:bodyPr lIns="0" tIns="0" rIns="0" bIns="0" rtlCol="0" anchor="t">
            <a:spAutoFit/>
          </a:bodyPr>
          <a:lstStyle/>
          <a:p>
            <a:pPr algn="l">
              <a:lnSpc>
                <a:spcPts val="4320"/>
              </a:lnSpc>
            </a:pPr>
            <a:r>
              <a:rPr lang="en-US" sz="3600" b="1">
                <a:solidFill>
                  <a:srgbClr val="064E3B"/>
                </a:solidFill>
                <a:latin typeface="Inter Bold"/>
                <a:ea typeface="Inter Bold"/>
                <a:cs typeface="Inter Bold"/>
                <a:sym typeface="Inter Bold"/>
              </a:rPr>
              <a:t>Data Analysis &amp; Visualization</a:t>
            </a:r>
          </a:p>
        </p:txBody>
      </p:sp>
      <p:grpSp>
        <p:nvGrpSpPr>
          <p:cNvPr id="11" name="Group 11"/>
          <p:cNvGrpSpPr/>
          <p:nvPr/>
        </p:nvGrpSpPr>
        <p:grpSpPr>
          <a:xfrm>
            <a:off x="15252125" y="628650"/>
            <a:ext cx="2392928" cy="428625"/>
            <a:chOff x="0" y="0"/>
            <a:chExt cx="3190570" cy="571500"/>
          </a:xfrm>
        </p:grpSpPr>
        <p:sp>
          <p:nvSpPr>
            <p:cNvPr id="12" name="Freeform 12" descr="image.png"/>
            <p:cNvSpPr/>
            <p:nvPr/>
          </p:nvSpPr>
          <p:spPr>
            <a:xfrm>
              <a:off x="0" y="0"/>
              <a:ext cx="3190621" cy="571500"/>
            </a:xfrm>
            <a:custGeom>
              <a:avLst/>
              <a:gdLst/>
              <a:ahLst/>
              <a:cxnLst/>
              <a:rect l="l" t="t" r="r" b="b"/>
              <a:pathLst>
                <a:path w="3190621" h="571500">
                  <a:moveTo>
                    <a:pt x="0" y="0"/>
                  </a:moveTo>
                  <a:lnTo>
                    <a:pt x="3190621" y="0"/>
                  </a:lnTo>
                  <a:lnTo>
                    <a:pt x="3190621" y="571500"/>
                  </a:lnTo>
                  <a:lnTo>
                    <a:pt x="0" y="571500"/>
                  </a:lnTo>
                  <a:lnTo>
                    <a:pt x="0" y="0"/>
                  </a:lnTo>
                  <a:close/>
                </a:path>
              </a:pathLst>
            </a:custGeom>
            <a:blipFill>
              <a:blip r:embed="rId5"/>
              <a:stretch>
                <a:fillRect l="-154" r="-152"/>
              </a:stretch>
            </a:blipFill>
          </p:spPr>
        </p:sp>
      </p:grpSp>
      <p:grpSp>
        <p:nvGrpSpPr>
          <p:cNvPr id="13" name="Group 13"/>
          <p:cNvGrpSpPr/>
          <p:nvPr/>
        </p:nvGrpSpPr>
        <p:grpSpPr>
          <a:xfrm>
            <a:off x="1357312" y="3937987"/>
            <a:ext cx="4655506" cy="328612"/>
            <a:chOff x="0" y="0"/>
            <a:chExt cx="6207341" cy="438150"/>
          </a:xfrm>
        </p:grpSpPr>
        <p:sp>
          <p:nvSpPr>
            <p:cNvPr id="14" name="Freeform 14"/>
            <p:cNvSpPr/>
            <p:nvPr/>
          </p:nvSpPr>
          <p:spPr>
            <a:xfrm>
              <a:off x="0" y="0"/>
              <a:ext cx="6207338" cy="438150"/>
            </a:xfrm>
            <a:custGeom>
              <a:avLst/>
              <a:gdLst/>
              <a:ahLst/>
              <a:cxnLst/>
              <a:rect l="l" t="t" r="r" b="b"/>
              <a:pathLst>
                <a:path w="6207338" h="438150">
                  <a:moveTo>
                    <a:pt x="0" y="0"/>
                  </a:moveTo>
                  <a:lnTo>
                    <a:pt x="6207338" y="0"/>
                  </a:lnTo>
                  <a:lnTo>
                    <a:pt x="6207338" y="438150"/>
                  </a:lnTo>
                  <a:lnTo>
                    <a:pt x="0" y="438150"/>
                  </a:lnTo>
                  <a:close/>
                </a:path>
              </a:pathLst>
            </a:custGeom>
            <a:blipFill>
              <a:blip r:embed="rId6">
                <a:alphaModFix amt="0"/>
              </a:blip>
              <a:stretch>
                <a:fillRect t="-226047" b="-226047"/>
              </a:stretch>
            </a:blipFill>
          </p:spPr>
        </p:sp>
        <p:sp>
          <p:nvSpPr>
            <p:cNvPr id="15" name="TextBox 15"/>
            <p:cNvSpPr txBox="1"/>
            <p:nvPr/>
          </p:nvSpPr>
          <p:spPr>
            <a:xfrm>
              <a:off x="0" y="0"/>
              <a:ext cx="6207341" cy="438150"/>
            </a:xfrm>
            <a:prstGeom prst="rect">
              <a:avLst/>
            </a:prstGeom>
          </p:spPr>
          <p:txBody>
            <a:bodyPr lIns="0" tIns="0" rIns="0" bIns="0" rtlCol="0" anchor="ctr"/>
            <a:lstStyle/>
            <a:p>
              <a:pPr algn="l">
                <a:lnSpc>
                  <a:spcPts val="2565"/>
                </a:lnSpc>
              </a:pPr>
              <a:r>
                <a:rPr lang="en-US" sz="2137">
                  <a:solidFill>
                    <a:srgbClr val="064E3B"/>
                  </a:solidFill>
                  <a:latin typeface="Inter"/>
                  <a:ea typeface="Inter"/>
                  <a:cs typeface="Inter"/>
                  <a:sym typeface="Inter"/>
                </a:rPr>
                <a:t>1. Data Preparation</a:t>
              </a:r>
            </a:p>
          </p:txBody>
        </p:sp>
      </p:grpSp>
      <p:grpSp>
        <p:nvGrpSpPr>
          <p:cNvPr id="16" name="Group 16"/>
          <p:cNvGrpSpPr/>
          <p:nvPr/>
        </p:nvGrpSpPr>
        <p:grpSpPr>
          <a:xfrm>
            <a:off x="7119861" y="3937987"/>
            <a:ext cx="4655506" cy="328612"/>
            <a:chOff x="0" y="0"/>
            <a:chExt cx="6207341" cy="438150"/>
          </a:xfrm>
        </p:grpSpPr>
        <p:sp>
          <p:nvSpPr>
            <p:cNvPr id="17" name="Freeform 17"/>
            <p:cNvSpPr/>
            <p:nvPr/>
          </p:nvSpPr>
          <p:spPr>
            <a:xfrm>
              <a:off x="0" y="0"/>
              <a:ext cx="6207338" cy="438150"/>
            </a:xfrm>
            <a:custGeom>
              <a:avLst/>
              <a:gdLst/>
              <a:ahLst/>
              <a:cxnLst/>
              <a:rect l="l" t="t" r="r" b="b"/>
              <a:pathLst>
                <a:path w="6207338" h="438150">
                  <a:moveTo>
                    <a:pt x="0" y="0"/>
                  </a:moveTo>
                  <a:lnTo>
                    <a:pt x="6207338" y="0"/>
                  </a:lnTo>
                  <a:lnTo>
                    <a:pt x="6207338" y="438150"/>
                  </a:lnTo>
                  <a:lnTo>
                    <a:pt x="0" y="438150"/>
                  </a:lnTo>
                  <a:close/>
                </a:path>
              </a:pathLst>
            </a:custGeom>
            <a:blipFill>
              <a:blip r:embed="rId6">
                <a:alphaModFix amt="0"/>
              </a:blip>
              <a:stretch>
                <a:fillRect t="-226047" b="-226047"/>
              </a:stretch>
            </a:blipFill>
          </p:spPr>
        </p:sp>
        <p:sp>
          <p:nvSpPr>
            <p:cNvPr id="18" name="TextBox 18"/>
            <p:cNvSpPr txBox="1"/>
            <p:nvPr/>
          </p:nvSpPr>
          <p:spPr>
            <a:xfrm>
              <a:off x="0" y="0"/>
              <a:ext cx="6207341" cy="438150"/>
            </a:xfrm>
            <a:prstGeom prst="rect">
              <a:avLst/>
            </a:prstGeom>
          </p:spPr>
          <p:txBody>
            <a:bodyPr lIns="0" tIns="0" rIns="0" bIns="0" rtlCol="0" anchor="ctr"/>
            <a:lstStyle/>
            <a:p>
              <a:pPr algn="l">
                <a:lnSpc>
                  <a:spcPts val="2565"/>
                </a:lnSpc>
              </a:pPr>
              <a:r>
                <a:rPr lang="en-US" sz="2137">
                  <a:solidFill>
                    <a:srgbClr val="064E3B"/>
                  </a:solidFill>
                  <a:latin typeface="Inter"/>
                  <a:ea typeface="Inter"/>
                  <a:cs typeface="Inter"/>
                  <a:sym typeface="Inter"/>
                </a:rPr>
                <a:t>2. Exploratory Analysis</a:t>
              </a:r>
            </a:p>
          </p:txBody>
        </p:sp>
      </p:grpSp>
      <p:grpSp>
        <p:nvGrpSpPr>
          <p:cNvPr id="19" name="Group 19"/>
          <p:cNvGrpSpPr/>
          <p:nvPr/>
        </p:nvGrpSpPr>
        <p:grpSpPr>
          <a:xfrm>
            <a:off x="12853835" y="3937987"/>
            <a:ext cx="4685738" cy="328612"/>
            <a:chOff x="0" y="0"/>
            <a:chExt cx="6247651" cy="438150"/>
          </a:xfrm>
        </p:grpSpPr>
        <p:sp>
          <p:nvSpPr>
            <p:cNvPr id="20" name="Freeform 20"/>
            <p:cNvSpPr/>
            <p:nvPr/>
          </p:nvSpPr>
          <p:spPr>
            <a:xfrm>
              <a:off x="0" y="0"/>
              <a:ext cx="6247654" cy="438150"/>
            </a:xfrm>
            <a:custGeom>
              <a:avLst/>
              <a:gdLst/>
              <a:ahLst/>
              <a:cxnLst/>
              <a:rect l="l" t="t" r="r" b="b"/>
              <a:pathLst>
                <a:path w="6247654" h="438150">
                  <a:moveTo>
                    <a:pt x="0" y="0"/>
                  </a:moveTo>
                  <a:lnTo>
                    <a:pt x="6247654" y="0"/>
                  </a:lnTo>
                  <a:lnTo>
                    <a:pt x="6247654" y="438150"/>
                  </a:lnTo>
                  <a:lnTo>
                    <a:pt x="0" y="438150"/>
                  </a:lnTo>
                  <a:close/>
                </a:path>
              </a:pathLst>
            </a:custGeom>
            <a:blipFill>
              <a:blip r:embed="rId6">
                <a:alphaModFix amt="0"/>
              </a:blip>
              <a:stretch>
                <a:fillRect t="-227840" b="-227840"/>
              </a:stretch>
            </a:blipFill>
          </p:spPr>
        </p:sp>
        <p:sp>
          <p:nvSpPr>
            <p:cNvPr id="21" name="TextBox 21"/>
            <p:cNvSpPr txBox="1"/>
            <p:nvPr/>
          </p:nvSpPr>
          <p:spPr>
            <a:xfrm>
              <a:off x="0" y="0"/>
              <a:ext cx="6247651" cy="438150"/>
            </a:xfrm>
            <a:prstGeom prst="rect">
              <a:avLst/>
            </a:prstGeom>
          </p:spPr>
          <p:txBody>
            <a:bodyPr lIns="0" tIns="0" rIns="0" bIns="0" rtlCol="0" anchor="ctr"/>
            <a:lstStyle/>
            <a:p>
              <a:pPr algn="l">
                <a:lnSpc>
                  <a:spcPts val="2565"/>
                </a:lnSpc>
              </a:pPr>
              <a:r>
                <a:rPr lang="en-US" sz="2137">
                  <a:solidFill>
                    <a:srgbClr val="064E3B"/>
                  </a:solidFill>
                  <a:latin typeface="Inter"/>
                  <a:ea typeface="Inter"/>
                  <a:cs typeface="Inter"/>
                  <a:sym typeface="Inter"/>
                </a:rPr>
                <a:t>3. Visual Communication</a:t>
              </a:r>
            </a:p>
          </p:txBody>
        </p:sp>
      </p:grpSp>
      <p:grpSp>
        <p:nvGrpSpPr>
          <p:cNvPr id="22" name="Group 22"/>
          <p:cNvGrpSpPr/>
          <p:nvPr/>
        </p:nvGrpSpPr>
        <p:grpSpPr>
          <a:xfrm>
            <a:off x="971550" y="3966562"/>
            <a:ext cx="271462" cy="271462"/>
            <a:chOff x="0" y="0"/>
            <a:chExt cx="361950" cy="361950"/>
          </a:xfrm>
        </p:grpSpPr>
        <p:sp>
          <p:nvSpPr>
            <p:cNvPr id="23" name="Freeform 23" descr="image.png"/>
            <p:cNvSpPr/>
            <p:nvPr/>
          </p:nvSpPr>
          <p:spPr>
            <a:xfrm>
              <a:off x="0" y="0"/>
              <a:ext cx="361950" cy="361950"/>
            </a:xfrm>
            <a:custGeom>
              <a:avLst/>
              <a:gdLst/>
              <a:ahLst/>
              <a:cxnLst/>
              <a:rect l="l" t="t" r="r" b="b"/>
              <a:pathLst>
                <a:path w="361950" h="361950">
                  <a:moveTo>
                    <a:pt x="0" y="0"/>
                  </a:moveTo>
                  <a:lnTo>
                    <a:pt x="361950" y="0"/>
                  </a:lnTo>
                  <a:lnTo>
                    <a:pt x="361950" y="361950"/>
                  </a:lnTo>
                  <a:lnTo>
                    <a:pt x="0" y="361950"/>
                  </a:lnTo>
                  <a:lnTo>
                    <a:pt x="0" y="0"/>
                  </a:lnTo>
                  <a:close/>
                </a:path>
              </a:pathLst>
            </a:custGeom>
            <a:blipFill>
              <a:blip r:embed="rId7"/>
              <a:stretch>
                <a:fillRect t="-2631" b="-2631"/>
              </a:stretch>
            </a:blipFill>
          </p:spPr>
        </p:sp>
      </p:grpSp>
      <p:sp>
        <p:nvSpPr>
          <p:cNvPr id="24" name="TextBox 24"/>
          <p:cNvSpPr txBox="1"/>
          <p:nvPr/>
        </p:nvSpPr>
        <p:spPr>
          <a:xfrm>
            <a:off x="1314450" y="4361850"/>
            <a:ext cx="4476674" cy="689667"/>
          </a:xfrm>
          <a:prstGeom prst="rect">
            <a:avLst/>
          </a:prstGeom>
        </p:spPr>
        <p:txBody>
          <a:bodyPr lIns="0" tIns="0" rIns="0" bIns="0" rtlCol="0" anchor="t">
            <a:spAutoFit/>
          </a:bodyPr>
          <a:lstStyle/>
          <a:p>
            <a:pPr algn="l">
              <a:lnSpc>
                <a:spcPts val="2527"/>
              </a:lnSpc>
            </a:pPr>
            <a:r>
              <a:rPr lang="en-US" sz="1743">
                <a:solidFill>
                  <a:srgbClr val="0F172A"/>
                </a:solidFill>
                <a:latin typeface="Inter"/>
                <a:ea typeface="Inter"/>
                <a:cs typeface="Inter"/>
                <a:sym typeface="Inter"/>
              </a:rPr>
              <a:t>Loading:</a:t>
            </a:r>
            <a:r>
              <a:rPr lang="en-US" sz="1743">
                <a:solidFill>
                  <a:srgbClr val="334155"/>
                </a:solidFill>
                <a:latin typeface="Inter"/>
                <a:ea typeface="Inter"/>
                <a:cs typeface="Inter"/>
                <a:sym typeface="Inter"/>
              </a:rPr>
              <a:t> Parsing bank statements and CSV exports.</a:t>
            </a:r>
          </a:p>
        </p:txBody>
      </p:sp>
      <p:sp>
        <p:nvSpPr>
          <p:cNvPr id="25" name="TextBox 25"/>
          <p:cNvSpPr txBox="1"/>
          <p:nvPr/>
        </p:nvSpPr>
        <p:spPr>
          <a:xfrm>
            <a:off x="1314450" y="5146777"/>
            <a:ext cx="4476674" cy="689667"/>
          </a:xfrm>
          <a:prstGeom prst="rect">
            <a:avLst/>
          </a:prstGeom>
        </p:spPr>
        <p:txBody>
          <a:bodyPr lIns="0" tIns="0" rIns="0" bIns="0" rtlCol="0" anchor="t">
            <a:spAutoFit/>
          </a:bodyPr>
          <a:lstStyle/>
          <a:p>
            <a:pPr algn="l">
              <a:lnSpc>
                <a:spcPts val="2527"/>
              </a:lnSpc>
            </a:pPr>
            <a:r>
              <a:rPr lang="en-US" sz="1743">
                <a:solidFill>
                  <a:srgbClr val="0F172A"/>
                </a:solidFill>
                <a:latin typeface="Inter"/>
                <a:ea typeface="Inter"/>
                <a:cs typeface="Inter"/>
                <a:sym typeface="Inter"/>
              </a:rPr>
              <a:t>Inspection:</a:t>
            </a:r>
            <a:r>
              <a:rPr lang="en-US" sz="1743">
                <a:solidFill>
                  <a:srgbClr val="334155"/>
                </a:solidFill>
                <a:latin typeface="Inter"/>
                <a:ea typeface="Inter"/>
                <a:cs typeface="Inter"/>
                <a:sym typeface="Inter"/>
              </a:rPr>
              <a:t> Auditing null fields, datatypes &amp; formats.</a:t>
            </a:r>
          </a:p>
        </p:txBody>
      </p:sp>
      <p:sp>
        <p:nvSpPr>
          <p:cNvPr id="26" name="TextBox 26"/>
          <p:cNvSpPr txBox="1"/>
          <p:nvPr/>
        </p:nvSpPr>
        <p:spPr>
          <a:xfrm>
            <a:off x="1314450" y="5931694"/>
            <a:ext cx="4476674" cy="689667"/>
          </a:xfrm>
          <a:prstGeom prst="rect">
            <a:avLst/>
          </a:prstGeom>
        </p:spPr>
        <p:txBody>
          <a:bodyPr lIns="0" tIns="0" rIns="0" bIns="0" rtlCol="0" anchor="t">
            <a:spAutoFit/>
          </a:bodyPr>
          <a:lstStyle/>
          <a:p>
            <a:pPr algn="l">
              <a:lnSpc>
                <a:spcPts val="2527"/>
              </a:lnSpc>
            </a:pPr>
            <a:r>
              <a:rPr lang="en-US" sz="1743">
                <a:solidFill>
                  <a:srgbClr val="0F172A"/>
                </a:solidFill>
                <a:latin typeface="Inter"/>
                <a:ea typeface="Inter"/>
                <a:cs typeface="Inter"/>
                <a:sym typeface="Inter"/>
              </a:rPr>
              <a:t>Sanitization:</a:t>
            </a:r>
            <a:r>
              <a:rPr lang="en-US" sz="1743">
                <a:solidFill>
                  <a:srgbClr val="334155"/>
                </a:solidFill>
                <a:latin typeface="Inter"/>
                <a:ea typeface="Inter"/>
                <a:cs typeface="Inter"/>
                <a:sym typeface="Inter"/>
              </a:rPr>
              <a:t> Imputing gaps and normalizing merchant strings.</a:t>
            </a:r>
          </a:p>
        </p:txBody>
      </p:sp>
      <p:sp>
        <p:nvSpPr>
          <p:cNvPr id="27" name="TextBox 27"/>
          <p:cNvSpPr txBox="1"/>
          <p:nvPr/>
        </p:nvSpPr>
        <p:spPr>
          <a:xfrm>
            <a:off x="1314450" y="6716611"/>
            <a:ext cx="4476674" cy="689667"/>
          </a:xfrm>
          <a:prstGeom prst="rect">
            <a:avLst/>
          </a:prstGeom>
        </p:spPr>
        <p:txBody>
          <a:bodyPr lIns="0" tIns="0" rIns="0" bIns="0" rtlCol="0" anchor="t">
            <a:spAutoFit/>
          </a:bodyPr>
          <a:lstStyle/>
          <a:p>
            <a:pPr algn="l">
              <a:lnSpc>
                <a:spcPts val="2527"/>
              </a:lnSpc>
            </a:pPr>
            <a:r>
              <a:rPr lang="en-US" sz="1743">
                <a:solidFill>
                  <a:srgbClr val="0F172A"/>
                </a:solidFill>
                <a:latin typeface="Inter"/>
                <a:ea typeface="Inter"/>
                <a:cs typeface="Inter"/>
                <a:sym typeface="Inter"/>
              </a:rPr>
              <a:t>Transformation:</a:t>
            </a:r>
            <a:r>
              <a:rPr lang="en-US" sz="1743">
                <a:solidFill>
                  <a:srgbClr val="334155"/>
                </a:solidFill>
                <a:latin typeface="Inter"/>
                <a:ea typeface="Inter"/>
                <a:cs typeface="Inter"/>
                <a:sym typeface="Inter"/>
              </a:rPr>
              <a:t> Deriving day, month, and amount features.</a:t>
            </a:r>
          </a:p>
        </p:txBody>
      </p:sp>
      <p:grpSp>
        <p:nvGrpSpPr>
          <p:cNvPr id="28" name="Group 28"/>
          <p:cNvGrpSpPr/>
          <p:nvPr/>
        </p:nvGrpSpPr>
        <p:grpSpPr>
          <a:xfrm>
            <a:off x="6734099" y="3966562"/>
            <a:ext cx="271462" cy="271462"/>
            <a:chOff x="0" y="0"/>
            <a:chExt cx="361950" cy="361950"/>
          </a:xfrm>
        </p:grpSpPr>
        <p:sp>
          <p:nvSpPr>
            <p:cNvPr id="29" name="Freeform 29" descr="image.png"/>
            <p:cNvSpPr/>
            <p:nvPr/>
          </p:nvSpPr>
          <p:spPr>
            <a:xfrm>
              <a:off x="0" y="0"/>
              <a:ext cx="361950" cy="361950"/>
            </a:xfrm>
            <a:custGeom>
              <a:avLst/>
              <a:gdLst/>
              <a:ahLst/>
              <a:cxnLst/>
              <a:rect l="l" t="t" r="r" b="b"/>
              <a:pathLst>
                <a:path w="361950" h="361950">
                  <a:moveTo>
                    <a:pt x="0" y="0"/>
                  </a:moveTo>
                  <a:lnTo>
                    <a:pt x="361950" y="0"/>
                  </a:lnTo>
                  <a:lnTo>
                    <a:pt x="361950" y="361950"/>
                  </a:lnTo>
                  <a:lnTo>
                    <a:pt x="0" y="361950"/>
                  </a:lnTo>
                  <a:lnTo>
                    <a:pt x="0" y="0"/>
                  </a:lnTo>
                  <a:close/>
                </a:path>
              </a:pathLst>
            </a:custGeom>
            <a:blipFill>
              <a:blip r:embed="rId8"/>
              <a:stretch>
                <a:fillRect t="-2631" b="-2631"/>
              </a:stretch>
            </a:blipFill>
          </p:spPr>
        </p:sp>
      </p:grpSp>
      <p:sp>
        <p:nvSpPr>
          <p:cNvPr id="30" name="TextBox 30"/>
          <p:cNvSpPr txBox="1"/>
          <p:nvPr/>
        </p:nvSpPr>
        <p:spPr>
          <a:xfrm>
            <a:off x="7076999" y="4361850"/>
            <a:ext cx="4476674" cy="689667"/>
          </a:xfrm>
          <a:prstGeom prst="rect">
            <a:avLst/>
          </a:prstGeom>
        </p:spPr>
        <p:txBody>
          <a:bodyPr lIns="0" tIns="0" rIns="0" bIns="0" rtlCol="0" anchor="t">
            <a:spAutoFit/>
          </a:bodyPr>
          <a:lstStyle/>
          <a:p>
            <a:pPr algn="l">
              <a:lnSpc>
                <a:spcPts val="2527"/>
              </a:lnSpc>
            </a:pPr>
            <a:r>
              <a:rPr lang="en-US" sz="1743">
                <a:solidFill>
                  <a:srgbClr val="0F172A"/>
                </a:solidFill>
                <a:latin typeface="Inter"/>
                <a:ea typeface="Inter"/>
                <a:cs typeface="Inter"/>
                <a:sym typeface="Inter"/>
              </a:rPr>
              <a:t>Category Profiling:</a:t>
            </a:r>
            <a:r>
              <a:rPr lang="en-US" sz="1743">
                <a:solidFill>
                  <a:srgbClr val="334155"/>
                </a:solidFill>
                <a:latin typeface="Inter"/>
                <a:ea typeface="Inter"/>
                <a:cs typeface="Inter"/>
                <a:sym typeface="Inter"/>
              </a:rPr>
              <a:t> Aggregating spend by domain.</a:t>
            </a:r>
          </a:p>
        </p:txBody>
      </p:sp>
      <p:sp>
        <p:nvSpPr>
          <p:cNvPr id="31" name="TextBox 31"/>
          <p:cNvSpPr txBox="1"/>
          <p:nvPr/>
        </p:nvSpPr>
        <p:spPr>
          <a:xfrm>
            <a:off x="7076999" y="5146777"/>
            <a:ext cx="4476674" cy="689667"/>
          </a:xfrm>
          <a:prstGeom prst="rect">
            <a:avLst/>
          </a:prstGeom>
        </p:spPr>
        <p:txBody>
          <a:bodyPr lIns="0" tIns="0" rIns="0" bIns="0" rtlCol="0" anchor="t">
            <a:spAutoFit/>
          </a:bodyPr>
          <a:lstStyle/>
          <a:p>
            <a:pPr algn="l">
              <a:lnSpc>
                <a:spcPts val="2527"/>
              </a:lnSpc>
            </a:pPr>
            <a:r>
              <a:rPr lang="en-US" sz="1743">
                <a:solidFill>
                  <a:srgbClr val="0F172A"/>
                </a:solidFill>
                <a:latin typeface="Inter"/>
                <a:ea typeface="Inter"/>
                <a:cs typeface="Inter"/>
                <a:sym typeface="Inter"/>
              </a:rPr>
              <a:t>Temporal Patterns:</a:t>
            </a:r>
            <a:r>
              <a:rPr lang="en-US" sz="1743">
                <a:solidFill>
                  <a:srgbClr val="334155"/>
                </a:solidFill>
                <a:latin typeface="Inter"/>
                <a:ea typeface="Inter"/>
                <a:cs typeface="Inter"/>
                <a:sym typeface="Inter"/>
              </a:rPr>
              <a:t> Weekday vs weekend spending spikes.</a:t>
            </a:r>
          </a:p>
        </p:txBody>
      </p:sp>
      <p:sp>
        <p:nvSpPr>
          <p:cNvPr id="32" name="TextBox 32"/>
          <p:cNvSpPr txBox="1"/>
          <p:nvPr/>
        </p:nvSpPr>
        <p:spPr>
          <a:xfrm>
            <a:off x="7076999" y="5931694"/>
            <a:ext cx="4476674" cy="689667"/>
          </a:xfrm>
          <a:prstGeom prst="rect">
            <a:avLst/>
          </a:prstGeom>
        </p:spPr>
        <p:txBody>
          <a:bodyPr lIns="0" tIns="0" rIns="0" bIns="0" rtlCol="0" anchor="t">
            <a:spAutoFit/>
          </a:bodyPr>
          <a:lstStyle/>
          <a:p>
            <a:pPr algn="l">
              <a:lnSpc>
                <a:spcPts val="2527"/>
              </a:lnSpc>
            </a:pPr>
            <a:r>
              <a:rPr lang="en-US" sz="1743">
                <a:solidFill>
                  <a:srgbClr val="0F172A"/>
                </a:solidFill>
                <a:latin typeface="Inter"/>
                <a:ea typeface="Inter"/>
                <a:cs typeface="Inter"/>
                <a:sym typeface="Inter"/>
              </a:rPr>
              <a:t>Relationships:</a:t>
            </a:r>
            <a:r>
              <a:rPr lang="en-US" sz="1743">
                <a:solidFill>
                  <a:srgbClr val="334155"/>
                </a:solidFill>
                <a:latin typeface="Inter"/>
                <a:ea typeface="Inter"/>
                <a:cs typeface="Inter"/>
                <a:sym typeface="Inter"/>
              </a:rPr>
              <a:t> Correlation of recurring subscriptions.</a:t>
            </a:r>
          </a:p>
        </p:txBody>
      </p:sp>
      <p:sp>
        <p:nvSpPr>
          <p:cNvPr id="33" name="TextBox 33"/>
          <p:cNvSpPr txBox="1"/>
          <p:nvPr/>
        </p:nvSpPr>
        <p:spPr>
          <a:xfrm>
            <a:off x="7076999" y="6716611"/>
            <a:ext cx="4476674" cy="689667"/>
          </a:xfrm>
          <a:prstGeom prst="rect">
            <a:avLst/>
          </a:prstGeom>
        </p:spPr>
        <p:txBody>
          <a:bodyPr lIns="0" tIns="0" rIns="0" bIns="0" rtlCol="0" anchor="t">
            <a:spAutoFit/>
          </a:bodyPr>
          <a:lstStyle/>
          <a:p>
            <a:pPr algn="l">
              <a:lnSpc>
                <a:spcPts val="2527"/>
              </a:lnSpc>
            </a:pPr>
            <a:r>
              <a:rPr lang="en-US" sz="1743">
                <a:solidFill>
                  <a:srgbClr val="0F172A"/>
                </a:solidFill>
                <a:latin typeface="Inter"/>
                <a:ea typeface="Inter"/>
                <a:cs typeface="Inter"/>
                <a:sym typeface="Inter"/>
              </a:rPr>
              <a:t>Variance Tracking:</a:t>
            </a:r>
            <a:r>
              <a:rPr lang="en-US" sz="1743">
                <a:solidFill>
                  <a:srgbClr val="334155"/>
                </a:solidFill>
                <a:latin typeface="Inter"/>
                <a:ea typeface="Inter"/>
                <a:cs typeface="Inter"/>
                <a:sym typeface="Inter"/>
              </a:rPr>
              <a:t> Identifying high-volatility expense types.</a:t>
            </a:r>
          </a:p>
        </p:txBody>
      </p:sp>
      <p:grpSp>
        <p:nvGrpSpPr>
          <p:cNvPr id="34" name="Group 34"/>
          <p:cNvGrpSpPr/>
          <p:nvPr/>
        </p:nvGrpSpPr>
        <p:grpSpPr>
          <a:xfrm>
            <a:off x="12496648" y="3966562"/>
            <a:ext cx="242888" cy="271462"/>
            <a:chOff x="0" y="0"/>
            <a:chExt cx="323850" cy="361950"/>
          </a:xfrm>
        </p:grpSpPr>
        <p:sp>
          <p:nvSpPr>
            <p:cNvPr id="35" name="Freeform 35" descr="image.png"/>
            <p:cNvSpPr/>
            <p:nvPr/>
          </p:nvSpPr>
          <p:spPr>
            <a:xfrm>
              <a:off x="0" y="0"/>
              <a:ext cx="323850" cy="361950"/>
            </a:xfrm>
            <a:custGeom>
              <a:avLst/>
              <a:gdLst/>
              <a:ahLst/>
              <a:cxnLst/>
              <a:rect l="l" t="t" r="r" b="b"/>
              <a:pathLst>
                <a:path w="323850" h="361950">
                  <a:moveTo>
                    <a:pt x="0" y="0"/>
                  </a:moveTo>
                  <a:lnTo>
                    <a:pt x="323850" y="0"/>
                  </a:lnTo>
                  <a:lnTo>
                    <a:pt x="323850" y="361950"/>
                  </a:lnTo>
                  <a:lnTo>
                    <a:pt x="0" y="361950"/>
                  </a:lnTo>
                  <a:lnTo>
                    <a:pt x="0" y="0"/>
                  </a:lnTo>
                  <a:close/>
                </a:path>
              </a:pathLst>
            </a:custGeom>
            <a:blipFill>
              <a:blip r:embed="rId9"/>
              <a:stretch>
                <a:fillRect t="-2631" b="-2631"/>
              </a:stretch>
            </a:blipFill>
          </p:spPr>
        </p:sp>
      </p:grpSp>
      <p:sp>
        <p:nvSpPr>
          <p:cNvPr id="36" name="TextBox 36"/>
          <p:cNvSpPr txBox="1"/>
          <p:nvPr/>
        </p:nvSpPr>
        <p:spPr>
          <a:xfrm>
            <a:off x="12839548" y="4361850"/>
            <a:ext cx="4476902" cy="689667"/>
          </a:xfrm>
          <a:prstGeom prst="rect">
            <a:avLst/>
          </a:prstGeom>
        </p:spPr>
        <p:txBody>
          <a:bodyPr lIns="0" tIns="0" rIns="0" bIns="0" rtlCol="0" anchor="t">
            <a:spAutoFit/>
          </a:bodyPr>
          <a:lstStyle/>
          <a:p>
            <a:pPr algn="l">
              <a:lnSpc>
                <a:spcPts val="2527"/>
              </a:lnSpc>
            </a:pPr>
            <a:r>
              <a:rPr lang="en-US" sz="1743">
                <a:solidFill>
                  <a:srgbClr val="0F172A"/>
                </a:solidFill>
                <a:latin typeface="Inter"/>
                <a:ea typeface="Inter"/>
                <a:cs typeface="Inter"/>
                <a:sym typeface="Inter"/>
              </a:rPr>
              <a:t>KPI Cards:</a:t>
            </a:r>
            <a:r>
              <a:rPr lang="en-US" sz="1743">
                <a:solidFill>
                  <a:srgbClr val="334155"/>
                </a:solidFill>
                <a:latin typeface="Inter"/>
                <a:ea typeface="Inter"/>
                <a:cs typeface="Inter"/>
                <a:sym typeface="Inter"/>
              </a:rPr>
              <a:t> Net balance, total income &amp; burn rates.</a:t>
            </a:r>
          </a:p>
        </p:txBody>
      </p:sp>
      <p:sp>
        <p:nvSpPr>
          <p:cNvPr id="37" name="TextBox 37"/>
          <p:cNvSpPr txBox="1"/>
          <p:nvPr/>
        </p:nvSpPr>
        <p:spPr>
          <a:xfrm>
            <a:off x="12839548" y="5146777"/>
            <a:ext cx="4476902" cy="689667"/>
          </a:xfrm>
          <a:prstGeom prst="rect">
            <a:avLst/>
          </a:prstGeom>
        </p:spPr>
        <p:txBody>
          <a:bodyPr lIns="0" tIns="0" rIns="0" bIns="0" rtlCol="0" anchor="t">
            <a:spAutoFit/>
          </a:bodyPr>
          <a:lstStyle/>
          <a:p>
            <a:pPr algn="l">
              <a:lnSpc>
                <a:spcPts val="2527"/>
              </a:lnSpc>
            </a:pPr>
            <a:r>
              <a:rPr lang="en-US" sz="1743">
                <a:solidFill>
                  <a:srgbClr val="0F172A"/>
                </a:solidFill>
                <a:latin typeface="Inter"/>
                <a:ea typeface="Inter"/>
                <a:cs typeface="Inter"/>
                <a:sym typeface="Inter"/>
              </a:rPr>
              <a:t>Trend Charts:</a:t>
            </a:r>
            <a:r>
              <a:rPr lang="en-US" sz="1743">
                <a:solidFill>
                  <a:srgbClr val="334155"/>
                </a:solidFill>
                <a:latin typeface="Inter"/>
                <a:ea typeface="Inter"/>
                <a:cs typeface="Inter"/>
                <a:sym typeface="Inter"/>
              </a:rPr>
              <a:t> Rolling moving averages and timelines.</a:t>
            </a:r>
          </a:p>
        </p:txBody>
      </p:sp>
      <p:sp>
        <p:nvSpPr>
          <p:cNvPr id="38" name="TextBox 38"/>
          <p:cNvSpPr txBox="1"/>
          <p:nvPr/>
        </p:nvSpPr>
        <p:spPr>
          <a:xfrm>
            <a:off x="12839548" y="5931694"/>
            <a:ext cx="4476902" cy="689667"/>
          </a:xfrm>
          <a:prstGeom prst="rect">
            <a:avLst/>
          </a:prstGeom>
        </p:spPr>
        <p:txBody>
          <a:bodyPr lIns="0" tIns="0" rIns="0" bIns="0" rtlCol="0" anchor="t">
            <a:spAutoFit/>
          </a:bodyPr>
          <a:lstStyle/>
          <a:p>
            <a:pPr algn="l">
              <a:lnSpc>
                <a:spcPts val="2527"/>
              </a:lnSpc>
            </a:pPr>
            <a:r>
              <a:rPr lang="en-US" sz="1743">
                <a:solidFill>
                  <a:srgbClr val="0F172A"/>
                </a:solidFill>
                <a:latin typeface="Inter"/>
                <a:ea typeface="Inter"/>
                <a:cs typeface="Inter"/>
                <a:sym typeface="Inter"/>
              </a:rPr>
              <a:t>Category Splits:</a:t>
            </a:r>
            <a:r>
              <a:rPr lang="en-US" sz="1743">
                <a:solidFill>
                  <a:srgbClr val="334155"/>
                </a:solidFill>
                <a:latin typeface="Inter"/>
                <a:ea typeface="Inter"/>
                <a:cs typeface="Inter"/>
                <a:sym typeface="Inter"/>
              </a:rPr>
              <a:t> Donut and stacked bar distributions.</a:t>
            </a:r>
          </a:p>
        </p:txBody>
      </p:sp>
      <p:sp>
        <p:nvSpPr>
          <p:cNvPr id="39" name="TextBox 39"/>
          <p:cNvSpPr txBox="1"/>
          <p:nvPr/>
        </p:nvSpPr>
        <p:spPr>
          <a:xfrm>
            <a:off x="12839548" y="6716611"/>
            <a:ext cx="4476902" cy="689667"/>
          </a:xfrm>
          <a:prstGeom prst="rect">
            <a:avLst/>
          </a:prstGeom>
        </p:spPr>
        <p:txBody>
          <a:bodyPr lIns="0" tIns="0" rIns="0" bIns="0" rtlCol="0" anchor="t">
            <a:spAutoFit/>
          </a:bodyPr>
          <a:lstStyle/>
          <a:p>
            <a:pPr algn="l">
              <a:lnSpc>
                <a:spcPts val="2527"/>
              </a:lnSpc>
            </a:pPr>
            <a:r>
              <a:rPr lang="en-US" sz="1743">
                <a:solidFill>
                  <a:srgbClr val="0F172A"/>
                </a:solidFill>
                <a:latin typeface="Inter"/>
                <a:ea typeface="Inter"/>
                <a:cs typeface="Inter"/>
                <a:sym typeface="Inter"/>
              </a:rPr>
              <a:t>Actionable Alerts:</a:t>
            </a:r>
            <a:r>
              <a:rPr lang="en-US" sz="1743">
                <a:solidFill>
                  <a:srgbClr val="334155"/>
                </a:solidFill>
                <a:latin typeface="Inter"/>
                <a:ea typeface="Inter"/>
                <a:cs typeface="Inter"/>
                <a:sym typeface="Inter"/>
              </a:rPr>
              <a:t> Highlighting budget overshoots.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sp>
      </p:grpSp>
      <p:grpSp>
        <p:nvGrpSpPr>
          <p:cNvPr id="4" name="Group 4"/>
          <p:cNvGrpSpPr/>
          <p:nvPr/>
        </p:nvGrpSpPr>
        <p:grpSpPr>
          <a:xfrm>
            <a:off x="642938" y="3827259"/>
            <a:ext cx="5476799" cy="3661172"/>
            <a:chOff x="0" y="0"/>
            <a:chExt cx="7302398" cy="4881562"/>
          </a:xfrm>
        </p:grpSpPr>
        <p:sp>
          <p:nvSpPr>
            <p:cNvPr id="5" name="Freeform 5" descr="image.png"/>
            <p:cNvSpPr/>
            <p:nvPr/>
          </p:nvSpPr>
          <p:spPr>
            <a:xfrm>
              <a:off x="0" y="0"/>
              <a:ext cx="7302373" cy="4881499"/>
            </a:xfrm>
            <a:custGeom>
              <a:avLst/>
              <a:gdLst/>
              <a:ahLst/>
              <a:cxnLst/>
              <a:rect l="l" t="t" r="r" b="b"/>
              <a:pathLst>
                <a:path w="7302373" h="4881499">
                  <a:moveTo>
                    <a:pt x="0" y="0"/>
                  </a:moveTo>
                  <a:lnTo>
                    <a:pt x="7302373" y="0"/>
                  </a:lnTo>
                  <a:lnTo>
                    <a:pt x="7302373" y="4881499"/>
                  </a:lnTo>
                  <a:lnTo>
                    <a:pt x="0" y="4881499"/>
                  </a:lnTo>
                  <a:lnTo>
                    <a:pt x="0" y="0"/>
                  </a:lnTo>
                  <a:close/>
                </a:path>
              </a:pathLst>
            </a:custGeom>
            <a:blipFill>
              <a:blip r:embed="rId3"/>
              <a:stretch>
                <a:fillRect t="-253" b="-254"/>
              </a:stretch>
            </a:blipFill>
          </p:spPr>
        </p:sp>
      </p:grpSp>
      <p:grpSp>
        <p:nvGrpSpPr>
          <p:cNvPr id="6" name="Group 6"/>
          <p:cNvGrpSpPr/>
          <p:nvPr/>
        </p:nvGrpSpPr>
        <p:grpSpPr>
          <a:xfrm>
            <a:off x="6405486" y="3827259"/>
            <a:ext cx="5476799" cy="3661172"/>
            <a:chOff x="0" y="0"/>
            <a:chExt cx="7302398" cy="4881562"/>
          </a:xfrm>
        </p:grpSpPr>
        <p:sp>
          <p:nvSpPr>
            <p:cNvPr id="7" name="Freeform 7" descr="image.png"/>
            <p:cNvSpPr/>
            <p:nvPr/>
          </p:nvSpPr>
          <p:spPr>
            <a:xfrm>
              <a:off x="0" y="0"/>
              <a:ext cx="7302373" cy="4881499"/>
            </a:xfrm>
            <a:custGeom>
              <a:avLst/>
              <a:gdLst/>
              <a:ahLst/>
              <a:cxnLst/>
              <a:rect l="l" t="t" r="r" b="b"/>
              <a:pathLst>
                <a:path w="7302373" h="4881499">
                  <a:moveTo>
                    <a:pt x="0" y="0"/>
                  </a:moveTo>
                  <a:lnTo>
                    <a:pt x="7302373" y="0"/>
                  </a:lnTo>
                  <a:lnTo>
                    <a:pt x="7302373" y="4881499"/>
                  </a:lnTo>
                  <a:lnTo>
                    <a:pt x="0" y="4881499"/>
                  </a:lnTo>
                  <a:lnTo>
                    <a:pt x="0" y="0"/>
                  </a:lnTo>
                  <a:close/>
                </a:path>
              </a:pathLst>
            </a:custGeom>
            <a:blipFill>
              <a:blip r:embed="rId4"/>
              <a:stretch>
                <a:fillRect t="-253" b="-254"/>
              </a:stretch>
            </a:blipFill>
          </p:spPr>
        </p:sp>
      </p:grpSp>
      <p:grpSp>
        <p:nvGrpSpPr>
          <p:cNvPr id="8" name="Group 8"/>
          <p:cNvGrpSpPr/>
          <p:nvPr/>
        </p:nvGrpSpPr>
        <p:grpSpPr>
          <a:xfrm>
            <a:off x="12168035" y="3827259"/>
            <a:ext cx="5477027" cy="3661172"/>
            <a:chOff x="0" y="0"/>
            <a:chExt cx="7302703" cy="4881562"/>
          </a:xfrm>
        </p:grpSpPr>
        <p:sp>
          <p:nvSpPr>
            <p:cNvPr id="9" name="Freeform 9" descr="image.png"/>
            <p:cNvSpPr/>
            <p:nvPr/>
          </p:nvSpPr>
          <p:spPr>
            <a:xfrm>
              <a:off x="0" y="0"/>
              <a:ext cx="7302754" cy="4881499"/>
            </a:xfrm>
            <a:custGeom>
              <a:avLst/>
              <a:gdLst/>
              <a:ahLst/>
              <a:cxnLst/>
              <a:rect l="l" t="t" r="r" b="b"/>
              <a:pathLst>
                <a:path w="7302754" h="4881499">
                  <a:moveTo>
                    <a:pt x="0" y="0"/>
                  </a:moveTo>
                  <a:lnTo>
                    <a:pt x="7302754" y="0"/>
                  </a:lnTo>
                  <a:lnTo>
                    <a:pt x="7302754" y="4881499"/>
                  </a:lnTo>
                  <a:lnTo>
                    <a:pt x="0" y="4881499"/>
                  </a:lnTo>
                  <a:lnTo>
                    <a:pt x="0" y="0"/>
                  </a:lnTo>
                  <a:close/>
                </a:path>
              </a:pathLst>
            </a:custGeom>
            <a:blipFill>
              <a:blip r:embed="rId3"/>
              <a:stretch>
                <a:fillRect t="-255" b="-256"/>
              </a:stretch>
            </a:blipFill>
          </p:spPr>
        </p:sp>
      </p:grpSp>
      <p:grpSp>
        <p:nvGrpSpPr>
          <p:cNvPr id="10" name="Group 10"/>
          <p:cNvGrpSpPr/>
          <p:nvPr/>
        </p:nvGrpSpPr>
        <p:grpSpPr>
          <a:xfrm>
            <a:off x="971550" y="5823937"/>
            <a:ext cx="4819574" cy="1364456"/>
            <a:chOff x="0" y="0"/>
            <a:chExt cx="6426098" cy="1819275"/>
          </a:xfrm>
        </p:grpSpPr>
        <p:sp>
          <p:nvSpPr>
            <p:cNvPr id="11" name="Freeform 11" descr="image.png"/>
            <p:cNvSpPr/>
            <p:nvPr/>
          </p:nvSpPr>
          <p:spPr>
            <a:xfrm>
              <a:off x="0" y="0"/>
              <a:ext cx="6426073" cy="1819275"/>
            </a:xfrm>
            <a:custGeom>
              <a:avLst/>
              <a:gdLst/>
              <a:ahLst/>
              <a:cxnLst/>
              <a:rect l="l" t="t" r="r" b="b"/>
              <a:pathLst>
                <a:path w="6426073" h="1819275">
                  <a:moveTo>
                    <a:pt x="0" y="0"/>
                  </a:moveTo>
                  <a:lnTo>
                    <a:pt x="6426073" y="0"/>
                  </a:lnTo>
                  <a:lnTo>
                    <a:pt x="6426073" y="1819275"/>
                  </a:lnTo>
                  <a:lnTo>
                    <a:pt x="0" y="1819275"/>
                  </a:lnTo>
                  <a:lnTo>
                    <a:pt x="0" y="0"/>
                  </a:lnTo>
                  <a:close/>
                </a:path>
              </a:pathLst>
            </a:custGeom>
            <a:blipFill>
              <a:blip r:embed="rId5"/>
              <a:stretch>
                <a:fillRect t="-386" b="-386"/>
              </a:stretch>
            </a:blipFill>
          </p:spPr>
        </p:sp>
      </p:grpSp>
      <p:grpSp>
        <p:nvGrpSpPr>
          <p:cNvPr id="12" name="Group 12"/>
          <p:cNvGrpSpPr/>
          <p:nvPr/>
        </p:nvGrpSpPr>
        <p:grpSpPr>
          <a:xfrm>
            <a:off x="6734099" y="5823937"/>
            <a:ext cx="4819574" cy="1364456"/>
            <a:chOff x="0" y="0"/>
            <a:chExt cx="6426098" cy="1819275"/>
          </a:xfrm>
        </p:grpSpPr>
        <p:sp>
          <p:nvSpPr>
            <p:cNvPr id="13" name="Freeform 13" descr="image.png"/>
            <p:cNvSpPr/>
            <p:nvPr/>
          </p:nvSpPr>
          <p:spPr>
            <a:xfrm>
              <a:off x="0" y="0"/>
              <a:ext cx="6426073" cy="1819275"/>
            </a:xfrm>
            <a:custGeom>
              <a:avLst/>
              <a:gdLst/>
              <a:ahLst/>
              <a:cxnLst/>
              <a:rect l="l" t="t" r="r" b="b"/>
              <a:pathLst>
                <a:path w="6426073" h="1819275">
                  <a:moveTo>
                    <a:pt x="0" y="0"/>
                  </a:moveTo>
                  <a:lnTo>
                    <a:pt x="6426073" y="0"/>
                  </a:lnTo>
                  <a:lnTo>
                    <a:pt x="6426073" y="1819275"/>
                  </a:lnTo>
                  <a:lnTo>
                    <a:pt x="0" y="1819275"/>
                  </a:lnTo>
                  <a:lnTo>
                    <a:pt x="0" y="0"/>
                  </a:lnTo>
                  <a:close/>
                </a:path>
              </a:pathLst>
            </a:custGeom>
            <a:blipFill>
              <a:blip r:embed="rId5"/>
              <a:stretch>
                <a:fillRect t="-386" b="-386"/>
              </a:stretch>
            </a:blipFill>
          </p:spPr>
        </p:sp>
      </p:grpSp>
      <p:grpSp>
        <p:nvGrpSpPr>
          <p:cNvPr id="14" name="Group 14"/>
          <p:cNvGrpSpPr/>
          <p:nvPr/>
        </p:nvGrpSpPr>
        <p:grpSpPr>
          <a:xfrm>
            <a:off x="12496648" y="5823937"/>
            <a:ext cx="4819802" cy="1364456"/>
            <a:chOff x="0" y="0"/>
            <a:chExt cx="6426403" cy="1819275"/>
          </a:xfrm>
        </p:grpSpPr>
        <p:sp>
          <p:nvSpPr>
            <p:cNvPr id="15" name="Freeform 15" descr="image.png"/>
            <p:cNvSpPr/>
            <p:nvPr/>
          </p:nvSpPr>
          <p:spPr>
            <a:xfrm>
              <a:off x="0" y="0"/>
              <a:ext cx="6426454" cy="1819275"/>
            </a:xfrm>
            <a:custGeom>
              <a:avLst/>
              <a:gdLst/>
              <a:ahLst/>
              <a:cxnLst/>
              <a:rect l="l" t="t" r="r" b="b"/>
              <a:pathLst>
                <a:path w="6426454" h="1819275">
                  <a:moveTo>
                    <a:pt x="0" y="0"/>
                  </a:moveTo>
                  <a:lnTo>
                    <a:pt x="6426454" y="0"/>
                  </a:lnTo>
                  <a:lnTo>
                    <a:pt x="6426454" y="1819275"/>
                  </a:lnTo>
                  <a:lnTo>
                    <a:pt x="0" y="1819275"/>
                  </a:lnTo>
                  <a:lnTo>
                    <a:pt x="0" y="0"/>
                  </a:lnTo>
                  <a:close/>
                </a:path>
              </a:pathLst>
            </a:custGeom>
            <a:blipFill>
              <a:blip r:embed="rId5"/>
              <a:stretch>
                <a:fillRect t="-388" b="-388"/>
              </a:stretch>
            </a:blipFill>
          </p:spPr>
        </p:sp>
      </p:grpSp>
      <p:sp>
        <p:nvSpPr>
          <p:cNvPr id="16" name="TextBox 16"/>
          <p:cNvSpPr txBox="1"/>
          <p:nvPr/>
        </p:nvSpPr>
        <p:spPr>
          <a:xfrm>
            <a:off x="642938" y="490537"/>
            <a:ext cx="7417727" cy="566737"/>
          </a:xfrm>
          <a:prstGeom prst="rect">
            <a:avLst/>
          </a:prstGeom>
        </p:spPr>
        <p:txBody>
          <a:bodyPr lIns="0" tIns="0" rIns="0" bIns="0" rtlCol="0" anchor="t">
            <a:spAutoFit/>
          </a:bodyPr>
          <a:lstStyle/>
          <a:p>
            <a:pPr algn="l">
              <a:lnSpc>
                <a:spcPts val="4320"/>
              </a:lnSpc>
            </a:pPr>
            <a:r>
              <a:rPr lang="en-US" sz="3600" b="1">
                <a:solidFill>
                  <a:srgbClr val="064E3B"/>
                </a:solidFill>
                <a:latin typeface="Inter Bold"/>
                <a:ea typeface="Inter Bold"/>
                <a:cs typeface="Inter Bold"/>
                <a:sym typeface="Inter Bold"/>
              </a:rPr>
              <a:t>Machine Learning Fundamentals</a:t>
            </a:r>
          </a:p>
        </p:txBody>
      </p:sp>
      <p:grpSp>
        <p:nvGrpSpPr>
          <p:cNvPr id="17" name="Group 17"/>
          <p:cNvGrpSpPr/>
          <p:nvPr/>
        </p:nvGrpSpPr>
        <p:grpSpPr>
          <a:xfrm>
            <a:off x="14747157" y="628650"/>
            <a:ext cx="2897905" cy="428625"/>
            <a:chOff x="0" y="0"/>
            <a:chExt cx="3863873" cy="571500"/>
          </a:xfrm>
        </p:grpSpPr>
        <p:sp>
          <p:nvSpPr>
            <p:cNvPr id="18" name="Freeform 18" descr="image.png"/>
            <p:cNvSpPr/>
            <p:nvPr/>
          </p:nvSpPr>
          <p:spPr>
            <a:xfrm>
              <a:off x="0" y="0"/>
              <a:ext cx="3863848" cy="571500"/>
            </a:xfrm>
            <a:custGeom>
              <a:avLst/>
              <a:gdLst/>
              <a:ahLst/>
              <a:cxnLst/>
              <a:rect l="l" t="t" r="r" b="b"/>
              <a:pathLst>
                <a:path w="3863848" h="571500">
                  <a:moveTo>
                    <a:pt x="0" y="0"/>
                  </a:moveTo>
                  <a:lnTo>
                    <a:pt x="3863848" y="0"/>
                  </a:lnTo>
                  <a:lnTo>
                    <a:pt x="3863848" y="571500"/>
                  </a:lnTo>
                  <a:lnTo>
                    <a:pt x="0" y="571500"/>
                  </a:lnTo>
                  <a:lnTo>
                    <a:pt x="0" y="0"/>
                  </a:lnTo>
                  <a:close/>
                </a:path>
              </a:pathLst>
            </a:custGeom>
            <a:blipFill>
              <a:blip r:embed="rId6"/>
              <a:stretch>
                <a:fillRect l="-42" r="-43"/>
              </a:stretch>
            </a:blipFill>
          </p:spPr>
        </p:sp>
      </p:grpSp>
      <p:grpSp>
        <p:nvGrpSpPr>
          <p:cNvPr id="19" name="Group 19"/>
          <p:cNvGrpSpPr/>
          <p:nvPr/>
        </p:nvGrpSpPr>
        <p:grpSpPr>
          <a:xfrm>
            <a:off x="1357312" y="4155872"/>
            <a:ext cx="4655506" cy="328612"/>
            <a:chOff x="0" y="0"/>
            <a:chExt cx="6207341" cy="438150"/>
          </a:xfrm>
        </p:grpSpPr>
        <p:sp>
          <p:nvSpPr>
            <p:cNvPr id="20" name="Freeform 20"/>
            <p:cNvSpPr/>
            <p:nvPr/>
          </p:nvSpPr>
          <p:spPr>
            <a:xfrm>
              <a:off x="0" y="0"/>
              <a:ext cx="6207338" cy="438150"/>
            </a:xfrm>
            <a:custGeom>
              <a:avLst/>
              <a:gdLst/>
              <a:ahLst/>
              <a:cxnLst/>
              <a:rect l="l" t="t" r="r" b="b"/>
              <a:pathLst>
                <a:path w="6207338" h="438150">
                  <a:moveTo>
                    <a:pt x="0" y="0"/>
                  </a:moveTo>
                  <a:lnTo>
                    <a:pt x="6207338" y="0"/>
                  </a:lnTo>
                  <a:lnTo>
                    <a:pt x="6207338" y="438150"/>
                  </a:lnTo>
                  <a:lnTo>
                    <a:pt x="0" y="438150"/>
                  </a:lnTo>
                  <a:close/>
                </a:path>
              </a:pathLst>
            </a:custGeom>
            <a:blipFill>
              <a:blip r:embed="rId7">
                <a:alphaModFix amt="0"/>
              </a:blip>
              <a:stretch>
                <a:fillRect t="-226047" b="-226047"/>
              </a:stretch>
            </a:blipFill>
          </p:spPr>
        </p:sp>
        <p:sp>
          <p:nvSpPr>
            <p:cNvPr id="21" name="TextBox 21"/>
            <p:cNvSpPr txBox="1"/>
            <p:nvPr/>
          </p:nvSpPr>
          <p:spPr>
            <a:xfrm>
              <a:off x="0" y="0"/>
              <a:ext cx="6207341" cy="438150"/>
            </a:xfrm>
            <a:prstGeom prst="rect">
              <a:avLst/>
            </a:prstGeom>
          </p:spPr>
          <p:txBody>
            <a:bodyPr lIns="0" tIns="0" rIns="0" bIns="0" rtlCol="0" anchor="ctr"/>
            <a:lstStyle/>
            <a:p>
              <a:pPr algn="l">
                <a:lnSpc>
                  <a:spcPts val="2565"/>
                </a:lnSpc>
              </a:pPr>
              <a:r>
                <a:rPr lang="en-US" sz="2137">
                  <a:solidFill>
                    <a:srgbClr val="064E3B"/>
                  </a:solidFill>
                  <a:latin typeface="Inter"/>
                  <a:ea typeface="Inter"/>
                  <a:cs typeface="Inter"/>
                  <a:sym typeface="Inter"/>
                </a:rPr>
                <a:t>Supervised Learning</a:t>
              </a:r>
            </a:p>
          </p:txBody>
        </p:sp>
      </p:grpSp>
      <p:sp>
        <p:nvSpPr>
          <p:cNvPr id="22" name="TextBox 22"/>
          <p:cNvSpPr txBox="1"/>
          <p:nvPr/>
        </p:nvSpPr>
        <p:spPr>
          <a:xfrm>
            <a:off x="971550" y="4570209"/>
            <a:ext cx="4819574" cy="1053703"/>
          </a:xfrm>
          <a:prstGeom prst="rect">
            <a:avLst/>
          </a:prstGeom>
        </p:spPr>
        <p:txBody>
          <a:bodyPr lIns="0" tIns="0" rIns="0" bIns="0" rtlCol="0" anchor="t">
            <a:spAutoFit/>
          </a:bodyPr>
          <a:lstStyle/>
          <a:p>
            <a:pPr algn="l">
              <a:lnSpc>
                <a:spcPts val="2614"/>
              </a:lnSpc>
            </a:pPr>
            <a:r>
              <a:rPr lang="en-US" sz="1743">
                <a:solidFill>
                  <a:srgbClr val="475569"/>
                </a:solidFill>
                <a:latin typeface="Inter"/>
                <a:ea typeface="Inter"/>
                <a:cs typeface="Inter"/>
                <a:sym typeface="Inter"/>
              </a:rPr>
              <a:t>Constructing mapping functions from labelled feature sets to predict discrete categories or continuous metrics.</a:t>
            </a:r>
          </a:p>
        </p:txBody>
      </p:sp>
      <p:grpSp>
        <p:nvGrpSpPr>
          <p:cNvPr id="23" name="Group 23"/>
          <p:cNvGrpSpPr/>
          <p:nvPr/>
        </p:nvGrpSpPr>
        <p:grpSpPr>
          <a:xfrm>
            <a:off x="7191299" y="4155872"/>
            <a:ext cx="4580496" cy="328612"/>
            <a:chOff x="0" y="0"/>
            <a:chExt cx="6107328" cy="438150"/>
          </a:xfrm>
        </p:grpSpPr>
        <p:sp>
          <p:nvSpPr>
            <p:cNvPr id="24" name="Freeform 24"/>
            <p:cNvSpPr/>
            <p:nvPr/>
          </p:nvSpPr>
          <p:spPr>
            <a:xfrm>
              <a:off x="0" y="0"/>
              <a:ext cx="6107324" cy="438150"/>
            </a:xfrm>
            <a:custGeom>
              <a:avLst/>
              <a:gdLst/>
              <a:ahLst/>
              <a:cxnLst/>
              <a:rect l="l" t="t" r="r" b="b"/>
              <a:pathLst>
                <a:path w="6107324" h="438150">
                  <a:moveTo>
                    <a:pt x="0" y="0"/>
                  </a:moveTo>
                  <a:lnTo>
                    <a:pt x="6107324" y="0"/>
                  </a:lnTo>
                  <a:lnTo>
                    <a:pt x="6107324" y="438150"/>
                  </a:lnTo>
                  <a:lnTo>
                    <a:pt x="0" y="438150"/>
                  </a:lnTo>
                  <a:close/>
                </a:path>
              </a:pathLst>
            </a:custGeom>
            <a:blipFill>
              <a:blip r:embed="rId7">
                <a:alphaModFix amt="0"/>
              </a:blip>
              <a:stretch>
                <a:fillRect t="-221599" b="-221599"/>
              </a:stretch>
            </a:blipFill>
          </p:spPr>
        </p:sp>
        <p:sp>
          <p:nvSpPr>
            <p:cNvPr id="25" name="TextBox 25"/>
            <p:cNvSpPr txBox="1"/>
            <p:nvPr/>
          </p:nvSpPr>
          <p:spPr>
            <a:xfrm>
              <a:off x="0" y="0"/>
              <a:ext cx="6107328" cy="438150"/>
            </a:xfrm>
            <a:prstGeom prst="rect">
              <a:avLst/>
            </a:prstGeom>
          </p:spPr>
          <p:txBody>
            <a:bodyPr lIns="0" tIns="0" rIns="0" bIns="0" rtlCol="0" anchor="ctr"/>
            <a:lstStyle/>
            <a:p>
              <a:pPr algn="l">
                <a:lnSpc>
                  <a:spcPts val="2565"/>
                </a:lnSpc>
              </a:pPr>
              <a:r>
                <a:rPr lang="en-US" sz="2137">
                  <a:solidFill>
                    <a:srgbClr val="064E3B"/>
                  </a:solidFill>
                  <a:latin typeface="Inter"/>
                  <a:ea typeface="Inter"/>
                  <a:cs typeface="Inter"/>
                  <a:sym typeface="Inter"/>
                </a:rPr>
                <a:t>Unsupervised Learning</a:t>
              </a:r>
            </a:p>
          </p:txBody>
        </p:sp>
      </p:grpSp>
      <p:sp>
        <p:nvSpPr>
          <p:cNvPr id="26" name="TextBox 26"/>
          <p:cNvSpPr txBox="1"/>
          <p:nvPr/>
        </p:nvSpPr>
        <p:spPr>
          <a:xfrm>
            <a:off x="6734099" y="4570209"/>
            <a:ext cx="4819574" cy="1053703"/>
          </a:xfrm>
          <a:prstGeom prst="rect">
            <a:avLst/>
          </a:prstGeom>
        </p:spPr>
        <p:txBody>
          <a:bodyPr lIns="0" tIns="0" rIns="0" bIns="0" rtlCol="0" anchor="t">
            <a:spAutoFit/>
          </a:bodyPr>
          <a:lstStyle/>
          <a:p>
            <a:pPr algn="l">
              <a:lnSpc>
                <a:spcPts val="2614"/>
              </a:lnSpc>
            </a:pPr>
            <a:r>
              <a:rPr lang="en-US" sz="1743">
                <a:solidFill>
                  <a:srgbClr val="475569"/>
                </a:solidFill>
                <a:latin typeface="Inter"/>
                <a:ea typeface="Inter"/>
                <a:cs typeface="Inter"/>
                <a:sym typeface="Inter"/>
              </a:rPr>
              <a:t>Uncovering intrinsic clusters, structures, and latent irregularities without relying on pre-existing labels.</a:t>
            </a:r>
          </a:p>
        </p:txBody>
      </p:sp>
      <p:grpSp>
        <p:nvGrpSpPr>
          <p:cNvPr id="27" name="Group 27"/>
          <p:cNvGrpSpPr/>
          <p:nvPr/>
        </p:nvGrpSpPr>
        <p:grpSpPr>
          <a:xfrm>
            <a:off x="12882410" y="4155872"/>
            <a:ext cx="4655734" cy="328612"/>
            <a:chOff x="0" y="0"/>
            <a:chExt cx="6207646" cy="438150"/>
          </a:xfrm>
        </p:grpSpPr>
        <p:sp>
          <p:nvSpPr>
            <p:cNvPr id="28" name="Freeform 28"/>
            <p:cNvSpPr/>
            <p:nvPr/>
          </p:nvSpPr>
          <p:spPr>
            <a:xfrm>
              <a:off x="0" y="0"/>
              <a:ext cx="6207650" cy="438150"/>
            </a:xfrm>
            <a:custGeom>
              <a:avLst/>
              <a:gdLst/>
              <a:ahLst/>
              <a:cxnLst/>
              <a:rect l="l" t="t" r="r" b="b"/>
              <a:pathLst>
                <a:path w="6207650" h="438150">
                  <a:moveTo>
                    <a:pt x="0" y="0"/>
                  </a:moveTo>
                  <a:lnTo>
                    <a:pt x="6207650" y="0"/>
                  </a:lnTo>
                  <a:lnTo>
                    <a:pt x="6207650" y="438150"/>
                  </a:lnTo>
                  <a:lnTo>
                    <a:pt x="0" y="438150"/>
                  </a:lnTo>
                  <a:close/>
                </a:path>
              </a:pathLst>
            </a:custGeom>
            <a:blipFill>
              <a:blip r:embed="rId7">
                <a:alphaModFix amt="0"/>
              </a:blip>
              <a:stretch>
                <a:fillRect t="-226061" b="-226061"/>
              </a:stretch>
            </a:blipFill>
          </p:spPr>
        </p:sp>
        <p:sp>
          <p:nvSpPr>
            <p:cNvPr id="29" name="TextBox 29"/>
            <p:cNvSpPr txBox="1"/>
            <p:nvPr/>
          </p:nvSpPr>
          <p:spPr>
            <a:xfrm>
              <a:off x="0" y="0"/>
              <a:ext cx="6207646" cy="438150"/>
            </a:xfrm>
            <a:prstGeom prst="rect">
              <a:avLst/>
            </a:prstGeom>
          </p:spPr>
          <p:txBody>
            <a:bodyPr lIns="0" tIns="0" rIns="0" bIns="0" rtlCol="0" anchor="ctr"/>
            <a:lstStyle/>
            <a:p>
              <a:pPr algn="l">
                <a:lnSpc>
                  <a:spcPts val="2565"/>
                </a:lnSpc>
              </a:pPr>
              <a:r>
                <a:rPr lang="en-US" sz="2137">
                  <a:solidFill>
                    <a:srgbClr val="064E3B"/>
                  </a:solidFill>
                  <a:latin typeface="Inter"/>
                  <a:ea typeface="Inter"/>
                  <a:cs typeface="Inter"/>
                  <a:sym typeface="Inter"/>
                </a:rPr>
                <a:t>Deep Learning Foundations</a:t>
              </a:r>
            </a:p>
          </p:txBody>
        </p:sp>
      </p:grpSp>
      <p:sp>
        <p:nvSpPr>
          <p:cNvPr id="30" name="TextBox 30"/>
          <p:cNvSpPr txBox="1"/>
          <p:nvPr/>
        </p:nvSpPr>
        <p:spPr>
          <a:xfrm>
            <a:off x="12496648" y="4570209"/>
            <a:ext cx="4819802" cy="1053703"/>
          </a:xfrm>
          <a:prstGeom prst="rect">
            <a:avLst/>
          </a:prstGeom>
        </p:spPr>
        <p:txBody>
          <a:bodyPr lIns="0" tIns="0" rIns="0" bIns="0" rtlCol="0" anchor="t">
            <a:spAutoFit/>
          </a:bodyPr>
          <a:lstStyle/>
          <a:p>
            <a:pPr algn="l">
              <a:lnSpc>
                <a:spcPts val="2614"/>
              </a:lnSpc>
            </a:pPr>
            <a:r>
              <a:rPr lang="en-US" sz="1743">
                <a:solidFill>
                  <a:srgbClr val="475569"/>
                </a:solidFill>
                <a:latin typeface="Inter"/>
                <a:ea typeface="Inter"/>
                <a:cs typeface="Inter"/>
                <a:sym typeface="Inter"/>
              </a:rPr>
              <a:t>Employing layered neural representations to automatically model complex non-linear relationships in data.</a:t>
            </a:r>
          </a:p>
        </p:txBody>
      </p:sp>
      <p:grpSp>
        <p:nvGrpSpPr>
          <p:cNvPr id="31" name="Group 31"/>
          <p:cNvGrpSpPr/>
          <p:nvPr/>
        </p:nvGrpSpPr>
        <p:grpSpPr>
          <a:xfrm>
            <a:off x="971550" y="4184447"/>
            <a:ext cx="271462" cy="271462"/>
            <a:chOff x="0" y="0"/>
            <a:chExt cx="361950" cy="361950"/>
          </a:xfrm>
        </p:grpSpPr>
        <p:sp>
          <p:nvSpPr>
            <p:cNvPr id="32" name="Freeform 32" descr="image.png"/>
            <p:cNvSpPr/>
            <p:nvPr/>
          </p:nvSpPr>
          <p:spPr>
            <a:xfrm>
              <a:off x="0" y="0"/>
              <a:ext cx="361950" cy="361950"/>
            </a:xfrm>
            <a:custGeom>
              <a:avLst/>
              <a:gdLst/>
              <a:ahLst/>
              <a:cxnLst/>
              <a:rect l="l" t="t" r="r" b="b"/>
              <a:pathLst>
                <a:path w="361950" h="361950">
                  <a:moveTo>
                    <a:pt x="0" y="0"/>
                  </a:moveTo>
                  <a:lnTo>
                    <a:pt x="361950" y="0"/>
                  </a:lnTo>
                  <a:lnTo>
                    <a:pt x="361950" y="361950"/>
                  </a:lnTo>
                  <a:lnTo>
                    <a:pt x="0" y="361950"/>
                  </a:lnTo>
                  <a:lnTo>
                    <a:pt x="0" y="0"/>
                  </a:lnTo>
                  <a:close/>
                </a:path>
              </a:pathLst>
            </a:custGeom>
            <a:blipFill>
              <a:blip r:embed="rId8"/>
              <a:stretch>
                <a:fillRect t="-2631" b="-2631"/>
              </a:stretch>
            </a:blipFill>
          </p:spPr>
        </p:sp>
      </p:grpSp>
      <p:sp>
        <p:nvSpPr>
          <p:cNvPr id="33" name="TextBox 33"/>
          <p:cNvSpPr txBox="1"/>
          <p:nvPr/>
        </p:nvSpPr>
        <p:spPr>
          <a:xfrm>
            <a:off x="1171575" y="6066825"/>
            <a:ext cx="2100262" cy="228600"/>
          </a:xfrm>
          <a:prstGeom prst="rect">
            <a:avLst/>
          </a:prstGeom>
        </p:spPr>
        <p:txBody>
          <a:bodyPr lIns="0" tIns="0" rIns="0" bIns="0" rtlCol="0" anchor="t">
            <a:spAutoFit/>
          </a:bodyPr>
          <a:lstStyle/>
          <a:p>
            <a:pPr algn="l">
              <a:lnSpc>
                <a:spcPts val="1755"/>
              </a:lnSpc>
            </a:pPr>
            <a:r>
              <a:rPr lang="en-US" sz="1462">
                <a:solidFill>
                  <a:srgbClr val="064E3B"/>
                </a:solidFill>
                <a:latin typeface="Inter"/>
                <a:ea typeface="Inter"/>
                <a:cs typeface="Inter"/>
                <a:sym typeface="Inter"/>
              </a:rPr>
              <a:t>ALGORITHMS STUDIED</a:t>
            </a:r>
          </a:p>
        </p:txBody>
      </p:sp>
      <p:sp>
        <p:nvSpPr>
          <p:cNvPr id="34" name="TextBox 34"/>
          <p:cNvSpPr txBox="1"/>
          <p:nvPr/>
        </p:nvSpPr>
        <p:spPr>
          <a:xfrm>
            <a:off x="1171575" y="6309712"/>
            <a:ext cx="4419524" cy="678656"/>
          </a:xfrm>
          <a:prstGeom prst="rect">
            <a:avLst/>
          </a:prstGeom>
        </p:spPr>
        <p:txBody>
          <a:bodyPr lIns="0" tIns="0" rIns="0" bIns="0" rtlCol="0" anchor="t">
            <a:spAutoFit/>
          </a:bodyPr>
          <a:lstStyle/>
          <a:p>
            <a:pPr algn="l">
              <a:lnSpc>
                <a:spcPts val="2446"/>
              </a:lnSpc>
            </a:pPr>
            <a:r>
              <a:rPr lang="en-US" sz="1630">
                <a:solidFill>
                  <a:srgbClr val="64748B"/>
                </a:solidFill>
                <a:latin typeface="Inter"/>
                <a:ea typeface="Inter"/>
                <a:cs typeface="Inter"/>
                <a:sym typeface="Inter"/>
              </a:rPr>
              <a:t>Logistic Regression, Linear Regression, Decision Trees.</a:t>
            </a:r>
          </a:p>
        </p:txBody>
      </p:sp>
      <p:grpSp>
        <p:nvGrpSpPr>
          <p:cNvPr id="35" name="Group 35"/>
          <p:cNvGrpSpPr/>
          <p:nvPr/>
        </p:nvGrpSpPr>
        <p:grpSpPr>
          <a:xfrm>
            <a:off x="6734099" y="4184447"/>
            <a:ext cx="342900" cy="271462"/>
            <a:chOff x="0" y="0"/>
            <a:chExt cx="457200" cy="361950"/>
          </a:xfrm>
        </p:grpSpPr>
        <p:sp>
          <p:nvSpPr>
            <p:cNvPr id="36" name="Freeform 36" descr="image.png"/>
            <p:cNvSpPr/>
            <p:nvPr/>
          </p:nvSpPr>
          <p:spPr>
            <a:xfrm>
              <a:off x="0" y="0"/>
              <a:ext cx="457200" cy="361950"/>
            </a:xfrm>
            <a:custGeom>
              <a:avLst/>
              <a:gdLst/>
              <a:ahLst/>
              <a:cxnLst/>
              <a:rect l="l" t="t" r="r" b="b"/>
              <a:pathLst>
                <a:path w="457200" h="361950">
                  <a:moveTo>
                    <a:pt x="0" y="0"/>
                  </a:moveTo>
                  <a:lnTo>
                    <a:pt x="457200" y="0"/>
                  </a:lnTo>
                  <a:lnTo>
                    <a:pt x="457200" y="361950"/>
                  </a:lnTo>
                  <a:lnTo>
                    <a:pt x="0" y="361950"/>
                  </a:lnTo>
                  <a:lnTo>
                    <a:pt x="0" y="0"/>
                  </a:lnTo>
                  <a:close/>
                </a:path>
              </a:pathLst>
            </a:custGeom>
            <a:blipFill>
              <a:blip r:embed="rId9"/>
              <a:stretch>
                <a:fillRect t="-2631" b="-2631"/>
              </a:stretch>
            </a:blipFill>
          </p:spPr>
        </p:sp>
      </p:grpSp>
      <p:sp>
        <p:nvSpPr>
          <p:cNvPr id="37" name="TextBox 37"/>
          <p:cNvSpPr txBox="1"/>
          <p:nvPr/>
        </p:nvSpPr>
        <p:spPr>
          <a:xfrm>
            <a:off x="6934124" y="6066825"/>
            <a:ext cx="2100262" cy="228600"/>
          </a:xfrm>
          <a:prstGeom prst="rect">
            <a:avLst/>
          </a:prstGeom>
        </p:spPr>
        <p:txBody>
          <a:bodyPr lIns="0" tIns="0" rIns="0" bIns="0" rtlCol="0" anchor="t">
            <a:spAutoFit/>
          </a:bodyPr>
          <a:lstStyle/>
          <a:p>
            <a:pPr algn="l">
              <a:lnSpc>
                <a:spcPts val="1755"/>
              </a:lnSpc>
            </a:pPr>
            <a:r>
              <a:rPr lang="en-US" sz="1462">
                <a:solidFill>
                  <a:srgbClr val="92400E"/>
                </a:solidFill>
                <a:latin typeface="Inter"/>
                <a:ea typeface="Inter"/>
                <a:cs typeface="Inter"/>
                <a:sym typeface="Inter"/>
              </a:rPr>
              <a:t>ALGORITHMS STUDIED</a:t>
            </a:r>
          </a:p>
        </p:txBody>
      </p:sp>
      <p:sp>
        <p:nvSpPr>
          <p:cNvPr id="38" name="TextBox 38"/>
          <p:cNvSpPr txBox="1"/>
          <p:nvPr/>
        </p:nvSpPr>
        <p:spPr>
          <a:xfrm>
            <a:off x="6934124" y="6309712"/>
            <a:ext cx="4419524" cy="678656"/>
          </a:xfrm>
          <a:prstGeom prst="rect">
            <a:avLst/>
          </a:prstGeom>
        </p:spPr>
        <p:txBody>
          <a:bodyPr lIns="0" tIns="0" rIns="0" bIns="0" rtlCol="0" anchor="t">
            <a:spAutoFit/>
          </a:bodyPr>
          <a:lstStyle/>
          <a:p>
            <a:pPr algn="l">
              <a:lnSpc>
                <a:spcPts val="2446"/>
              </a:lnSpc>
            </a:pPr>
            <a:r>
              <a:rPr lang="en-US" sz="1630">
                <a:solidFill>
                  <a:srgbClr val="64748B"/>
                </a:solidFill>
                <a:latin typeface="Inter"/>
                <a:ea typeface="Inter"/>
                <a:cs typeface="Inter"/>
                <a:sym typeface="Inter"/>
              </a:rPr>
              <a:t>Isolation Forest (Anomaly Detection), K-Means Clustering.</a:t>
            </a:r>
          </a:p>
        </p:txBody>
      </p:sp>
      <p:grpSp>
        <p:nvGrpSpPr>
          <p:cNvPr id="39" name="Group 39"/>
          <p:cNvGrpSpPr/>
          <p:nvPr/>
        </p:nvGrpSpPr>
        <p:grpSpPr>
          <a:xfrm>
            <a:off x="12496648" y="4184447"/>
            <a:ext cx="271462" cy="271462"/>
            <a:chOff x="0" y="0"/>
            <a:chExt cx="361950" cy="361950"/>
          </a:xfrm>
        </p:grpSpPr>
        <p:sp>
          <p:nvSpPr>
            <p:cNvPr id="40" name="Freeform 40" descr="image.png"/>
            <p:cNvSpPr/>
            <p:nvPr/>
          </p:nvSpPr>
          <p:spPr>
            <a:xfrm>
              <a:off x="0" y="0"/>
              <a:ext cx="361950" cy="361950"/>
            </a:xfrm>
            <a:custGeom>
              <a:avLst/>
              <a:gdLst/>
              <a:ahLst/>
              <a:cxnLst/>
              <a:rect l="l" t="t" r="r" b="b"/>
              <a:pathLst>
                <a:path w="361950" h="361950">
                  <a:moveTo>
                    <a:pt x="0" y="0"/>
                  </a:moveTo>
                  <a:lnTo>
                    <a:pt x="361950" y="0"/>
                  </a:lnTo>
                  <a:lnTo>
                    <a:pt x="361950" y="361950"/>
                  </a:lnTo>
                  <a:lnTo>
                    <a:pt x="0" y="361950"/>
                  </a:lnTo>
                  <a:lnTo>
                    <a:pt x="0" y="0"/>
                  </a:lnTo>
                  <a:close/>
                </a:path>
              </a:pathLst>
            </a:custGeom>
            <a:blipFill>
              <a:blip r:embed="rId10"/>
              <a:stretch>
                <a:fillRect t="-2631" b="-2631"/>
              </a:stretch>
            </a:blipFill>
          </p:spPr>
        </p:sp>
      </p:grpSp>
      <p:sp>
        <p:nvSpPr>
          <p:cNvPr id="41" name="TextBox 41"/>
          <p:cNvSpPr txBox="1"/>
          <p:nvPr/>
        </p:nvSpPr>
        <p:spPr>
          <a:xfrm>
            <a:off x="12696673" y="6066825"/>
            <a:ext cx="1600200" cy="228600"/>
          </a:xfrm>
          <a:prstGeom prst="rect">
            <a:avLst/>
          </a:prstGeom>
        </p:spPr>
        <p:txBody>
          <a:bodyPr lIns="0" tIns="0" rIns="0" bIns="0" rtlCol="0" anchor="t">
            <a:spAutoFit/>
          </a:bodyPr>
          <a:lstStyle/>
          <a:p>
            <a:pPr algn="l">
              <a:lnSpc>
                <a:spcPts val="1755"/>
              </a:lnSpc>
            </a:pPr>
            <a:r>
              <a:rPr lang="en-US" sz="1462">
                <a:solidFill>
                  <a:srgbClr val="064E3B"/>
                </a:solidFill>
                <a:latin typeface="Inter"/>
                <a:ea typeface="Inter"/>
                <a:cs typeface="Inter"/>
                <a:sym typeface="Inter"/>
              </a:rPr>
              <a:t>CORE CONCEPTS</a:t>
            </a:r>
          </a:p>
        </p:txBody>
      </p:sp>
      <p:sp>
        <p:nvSpPr>
          <p:cNvPr id="42" name="TextBox 42"/>
          <p:cNvSpPr txBox="1"/>
          <p:nvPr/>
        </p:nvSpPr>
        <p:spPr>
          <a:xfrm>
            <a:off x="12696673" y="6309712"/>
            <a:ext cx="4419752" cy="678656"/>
          </a:xfrm>
          <a:prstGeom prst="rect">
            <a:avLst/>
          </a:prstGeom>
        </p:spPr>
        <p:txBody>
          <a:bodyPr lIns="0" tIns="0" rIns="0" bIns="0" rtlCol="0" anchor="t">
            <a:spAutoFit/>
          </a:bodyPr>
          <a:lstStyle/>
          <a:p>
            <a:pPr algn="l">
              <a:lnSpc>
                <a:spcPts val="2446"/>
              </a:lnSpc>
            </a:pPr>
            <a:r>
              <a:rPr lang="en-US" sz="1630">
                <a:solidFill>
                  <a:srgbClr val="64748B"/>
                </a:solidFill>
                <a:latin typeface="Inter"/>
                <a:ea typeface="Inter"/>
                <a:cs typeface="Inter"/>
                <a:sym typeface="Inter"/>
              </a:rPr>
              <a:t>Perceptrons, Activation Functions, Loss Optimization.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sp>
      </p:grpSp>
      <p:grpSp>
        <p:nvGrpSpPr>
          <p:cNvPr id="4" name="Group 4"/>
          <p:cNvGrpSpPr/>
          <p:nvPr/>
        </p:nvGrpSpPr>
        <p:grpSpPr>
          <a:xfrm>
            <a:off x="766762" y="3814762"/>
            <a:ext cx="8329612" cy="3614738"/>
            <a:chOff x="0" y="0"/>
            <a:chExt cx="11106150" cy="4819650"/>
          </a:xfrm>
        </p:grpSpPr>
        <p:sp>
          <p:nvSpPr>
            <p:cNvPr id="5" name="Freeform 5" descr="image.png"/>
            <p:cNvSpPr/>
            <p:nvPr/>
          </p:nvSpPr>
          <p:spPr>
            <a:xfrm>
              <a:off x="0" y="0"/>
              <a:ext cx="11106150" cy="4819650"/>
            </a:xfrm>
            <a:custGeom>
              <a:avLst/>
              <a:gdLst/>
              <a:ahLst/>
              <a:cxnLst/>
              <a:rect l="l" t="t" r="r" b="b"/>
              <a:pathLst>
                <a:path w="11106150" h="4819650">
                  <a:moveTo>
                    <a:pt x="0" y="0"/>
                  </a:moveTo>
                  <a:lnTo>
                    <a:pt x="11106150" y="0"/>
                  </a:lnTo>
                  <a:lnTo>
                    <a:pt x="11106150" y="4819650"/>
                  </a:lnTo>
                  <a:lnTo>
                    <a:pt x="0" y="4819650"/>
                  </a:lnTo>
                  <a:lnTo>
                    <a:pt x="0" y="0"/>
                  </a:lnTo>
                  <a:close/>
                </a:path>
              </a:pathLst>
            </a:custGeom>
            <a:blipFill>
              <a:blip r:embed="rId3"/>
              <a:stretch>
                <a:fillRect t="-111" b="-111"/>
              </a:stretch>
            </a:blipFill>
          </p:spPr>
        </p:sp>
      </p:grpSp>
      <p:grpSp>
        <p:nvGrpSpPr>
          <p:cNvPr id="6" name="Group 6"/>
          <p:cNvGrpSpPr/>
          <p:nvPr/>
        </p:nvGrpSpPr>
        <p:grpSpPr>
          <a:xfrm>
            <a:off x="9315450" y="3850481"/>
            <a:ext cx="8329612" cy="3614738"/>
            <a:chOff x="0" y="0"/>
            <a:chExt cx="11106150" cy="4819650"/>
          </a:xfrm>
        </p:grpSpPr>
        <p:sp>
          <p:nvSpPr>
            <p:cNvPr id="7" name="Freeform 7" descr="image.png"/>
            <p:cNvSpPr/>
            <p:nvPr/>
          </p:nvSpPr>
          <p:spPr>
            <a:xfrm>
              <a:off x="0" y="0"/>
              <a:ext cx="11106150" cy="4819650"/>
            </a:xfrm>
            <a:custGeom>
              <a:avLst/>
              <a:gdLst/>
              <a:ahLst/>
              <a:cxnLst/>
              <a:rect l="l" t="t" r="r" b="b"/>
              <a:pathLst>
                <a:path w="11106150" h="4819650">
                  <a:moveTo>
                    <a:pt x="0" y="0"/>
                  </a:moveTo>
                  <a:lnTo>
                    <a:pt x="11106150" y="0"/>
                  </a:lnTo>
                  <a:lnTo>
                    <a:pt x="11106150" y="4819650"/>
                  </a:lnTo>
                  <a:lnTo>
                    <a:pt x="0" y="4819650"/>
                  </a:lnTo>
                  <a:lnTo>
                    <a:pt x="0" y="0"/>
                  </a:lnTo>
                  <a:close/>
                </a:path>
              </a:pathLst>
            </a:custGeom>
            <a:blipFill>
              <a:blip r:embed="rId4"/>
              <a:stretch>
                <a:fillRect t="-111" b="-111"/>
              </a:stretch>
            </a:blipFill>
          </p:spPr>
        </p:sp>
      </p:grpSp>
      <p:sp>
        <p:nvSpPr>
          <p:cNvPr id="8" name="TextBox 8"/>
          <p:cNvSpPr txBox="1"/>
          <p:nvPr/>
        </p:nvSpPr>
        <p:spPr>
          <a:xfrm>
            <a:off x="642938" y="490537"/>
            <a:ext cx="7393114" cy="566737"/>
          </a:xfrm>
          <a:prstGeom prst="rect">
            <a:avLst/>
          </a:prstGeom>
        </p:spPr>
        <p:txBody>
          <a:bodyPr lIns="0" tIns="0" rIns="0" bIns="0" rtlCol="0" anchor="t">
            <a:spAutoFit/>
          </a:bodyPr>
          <a:lstStyle/>
          <a:p>
            <a:pPr algn="l">
              <a:lnSpc>
                <a:spcPts val="4320"/>
              </a:lnSpc>
            </a:pPr>
            <a:r>
              <a:rPr lang="en-US" sz="3600" b="1">
                <a:solidFill>
                  <a:srgbClr val="064E3B"/>
                </a:solidFill>
                <a:latin typeface="Inter Bold"/>
                <a:ea typeface="Inter Bold"/>
                <a:cs typeface="Inter Bold"/>
                <a:sym typeface="Inter Bold"/>
              </a:rPr>
              <a:t>ML Workflow &amp; Model Validation</a:t>
            </a:r>
          </a:p>
        </p:txBody>
      </p:sp>
      <p:grpSp>
        <p:nvGrpSpPr>
          <p:cNvPr id="9" name="Group 9"/>
          <p:cNvGrpSpPr/>
          <p:nvPr/>
        </p:nvGrpSpPr>
        <p:grpSpPr>
          <a:xfrm>
            <a:off x="14961470" y="628650"/>
            <a:ext cx="2683593" cy="428625"/>
            <a:chOff x="0" y="0"/>
            <a:chExt cx="3578123" cy="571500"/>
          </a:xfrm>
        </p:grpSpPr>
        <p:sp>
          <p:nvSpPr>
            <p:cNvPr id="10" name="Freeform 10" descr="image.png"/>
            <p:cNvSpPr/>
            <p:nvPr/>
          </p:nvSpPr>
          <p:spPr>
            <a:xfrm>
              <a:off x="0" y="0"/>
              <a:ext cx="3578098" cy="571500"/>
            </a:xfrm>
            <a:custGeom>
              <a:avLst/>
              <a:gdLst/>
              <a:ahLst/>
              <a:cxnLst/>
              <a:rect l="l" t="t" r="r" b="b"/>
              <a:pathLst>
                <a:path w="3578098" h="571500">
                  <a:moveTo>
                    <a:pt x="0" y="0"/>
                  </a:moveTo>
                  <a:lnTo>
                    <a:pt x="3578098" y="0"/>
                  </a:lnTo>
                  <a:lnTo>
                    <a:pt x="3578098" y="571500"/>
                  </a:lnTo>
                  <a:lnTo>
                    <a:pt x="0" y="571500"/>
                  </a:lnTo>
                  <a:lnTo>
                    <a:pt x="0" y="0"/>
                  </a:lnTo>
                  <a:close/>
                </a:path>
              </a:pathLst>
            </a:custGeom>
            <a:blipFill>
              <a:blip r:embed="rId5"/>
              <a:stretch>
                <a:fillRect l="-45" r="-46"/>
              </a:stretch>
            </a:blipFill>
          </p:spPr>
        </p:sp>
      </p:grpSp>
      <p:grpSp>
        <p:nvGrpSpPr>
          <p:cNvPr id="11" name="Group 11"/>
          <p:cNvGrpSpPr/>
          <p:nvPr/>
        </p:nvGrpSpPr>
        <p:grpSpPr>
          <a:xfrm>
            <a:off x="1357312" y="4179094"/>
            <a:ext cx="7650956" cy="328612"/>
            <a:chOff x="0" y="0"/>
            <a:chExt cx="10201275" cy="438150"/>
          </a:xfrm>
        </p:grpSpPr>
        <p:sp>
          <p:nvSpPr>
            <p:cNvPr id="12" name="Freeform 12"/>
            <p:cNvSpPr/>
            <p:nvPr/>
          </p:nvSpPr>
          <p:spPr>
            <a:xfrm>
              <a:off x="0" y="0"/>
              <a:ext cx="10201274" cy="438150"/>
            </a:xfrm>
            <a:custGeom>
              <a:avLst/>
              <a:gdLst/>
              <a:ahLst/>
              <a:cxnLst/>
              <a:rect l="l" t="t" r="r" b="b"/>
              <a:pathLst>
                <a:path w="10201274" h="438150">
                  <a:moveTo>
                    <a:pt x="0" y="0"/>
                  </a:moveTo>
                  <a:lnTo>
                    <a:pt x="10201274" y="0"/>
                  </a:lnTo>
                  <a:lnTo>
                    <a:pt x="10201274" y="438150"/>
                  </a:lnTo>
                  <a:lnTo>
                    <a:pt x="0" y="438150"/>
                  </a:lnTo>
                  <a:close/>
                </a:path>
              </a:pathLst>
            </a:custGeom>
            <a:blipFill>
              <a:blip r:embed="rId6">
                <a:alphaModFix amt="0"/>
              </a:blip>
              <a:stretch>
                <a:fillRect t="-403662" b="-403662"/>
              </a:stretch>
            </a:blipFill>
          </p:spPr>
        </p:sp>
        <p:sp>
          <p:nvSpPr>
            <p:cNvPr id="13" name="TextBox 13"/>
            <p:cNvSpPr txBox="1"/>
            <p:nvPr/>
          </p:nvSpPr>
          <p:spPr>
            <a:xfrm>
              <a:off x="0" y="0"/>
              <a:ext cx="10201275" cy="438150"/>
            </a:xfrm>
            <a:prstGeom prst="rect">
              <a:avLst/>
            </a:prstGeom>
          </p:spPr>
          <p:txBody>
            <a:bodyPr lIns="0" tIns="0" rIns="0" bIns="0" rtlCol="0" anchor="ctr"/>
            <a:lstStyle/>
            <a:p>
              <a:pPr algn="l">
                <a:lnSpc>
                  <a:spcPts val="2565"/>
                </a:lnSpc>
              </a:pPr>
              <a:r>
                <a:rPr lang="en-US" sz="2137">
                  <a:solidFill>
                    <a:srgbClr val="064E3B"/>
                  </a:solidFill>
                  <a:latin typeface="Inter"/>
                  <a:ea typeface="Inter"/>
                  <a:cs typeface="Inter"/>
                  <a:sym typeface="Inter"/>
                </a:rPr>
                <a:t>End-to-End Pipeline</a:t>
              </a:r>
            </a:p>
          </p:txBody>
        </p:sp>
      </p:grpSp>
      <p:grpSp>
        <p:nvGrpSpPr>
          <p:cNvPr id="14" name="Group 14"/>
          <p:cNvGrpSpPr/>
          <p:nvPr/>
        </p:nvGrpSpPr>
        <p:grpSpPr>
          <a:xfrm>
            <a:off x="10029825" y="4179094"/>
            <a:ext cx="7650956" cy="328612"/>
            <a:chOff x="0" y="0"/>
            <a:chExt cx="10201275" cy="438150"/>
          </a:xfrm>
        </p:grpSpPr>
        <p:sp>
          <p:nvSpPr>
            <p:cNvPr id="15" name="Freeform 15"/>
            <p:cNvSpPr/>
            <p:nvPr/>
          </p:nvSpPr>
          <p:spPr>
            <a:xfrm>
              <a:off x="0" y="0"/>
              <a:ext cx="10201274" cy="438150"/>
            </a:xfrm>
            <a:custGeom>
              <a:avLst/>
              <a:gdLst/>
              <a:ahLst/>
              <a:cxnLst/>
              <a:rect l="l" t="t" r="r" b="b"/>
              <a:pathLst>
                <a:path w="10201274" h="438150">
                  <a:moveTo>
                    <a:pt x="0" y="0"/>
                  </a:moveTo>
                  <a:lnTo>
                    <a:pt x="10201274" y="0"/>
                  </a:lnTo>
                  <a:lnTo>
                    <a:pt x="10201274" y="438150"/>
                  </a:lnTo>
                  <a:lnTo>
                    <a:pt x="0" y="438150"/>
                  </a:lnTo>
                  <a:close/>
                </a:path>
              </a:pathLst>
            </a:custGeom>
            <a:blipFill>
              <a:blip r:embed="rId6">
                <a:alphaModFix amt="0"/>
              </a:blip>
              <a:stretch>
                <a:fillRect t="-403662" b="-403662"/>
              </a:stretch>
            </a:blipFill>
          </p:spPr>
        </p:sp>
        <p:sp>
          <p:nvSpPr>
            <p:cNvPr id="16" name="TextBox 16"/>
            <p:cNvSpPr txBox="1"/>
            <p:nvPr/>
          </p:nvSpPr>
          <p:spPr>
            <a:xfrm>
              <a:off x="0" y="0"/>
              <a:ext cx="10201275" cy="438150"/>
            </a:xfrm>
            <a:prstGeom prst="rect">
              <a:avLst/>
            </a:prstGeom>
          </p:spPr>
          <p:txBody>
            <a:bodyPr lIns="0" tIns="0" rIns="0" bIns="0" rtlCol="0" anchor="ctr"/>
            <a:lstStyle/>
            <a:p>
              <a:pPr algn="l">
                <a:lnSpc>
                  <a:spcPts val="2565"/>
                </a:lnSpc>
              </a:pPr>
              <a:r>
                <a:rPr lang="en-US" sz="2137">
                  <a:solidFill>
                    <a:srgbClr val="064E3B"/>
                  </a:solidFill>
                  <a:latin typeface="Inter"/>
                  <a:ea typeface="Inter"/>
                  <a:cs typeface="Inter"/>
                  <a:sym typeface="Inter"/>
                </a:rPr>
                <a:t>Key Evaluation Concepts</a:t>
              </a:r>
            </a:p>
          </p:txBody>
        </p:sp>
      </p:grpSp>
      <p:grpSp>
        <p:nvGrpSpPr>
          <p:cNvPr id="17" name="Group 17"/>
          <p:cNvGrpSpPr/>
          <p:nvPr/>
        </p:nvGrpSpPr>
        <p:grpSpPr>
          <a:xfrm>
            <a:off x="971550" y="4207669"/>
            <a:ext cx="271462" cy="271462"/>
            <a:chOff x="0" y="0"/>
            <a:chExt cx="361950" cy="361950"/>
          </a:xfrm>
        </p:grpSpPr>
        <p:sp>
          <p:nvSpPr>
            <p:cNvPr id="18" name="Freeform 18" descr="image.png"/>
            <p:cNvSpPr/>
            <p:nvPr/>
          </p:nvSpPr>
          <p:spPr>
            <a:xfrm>
              <a:off x="0" y="0"/>
              <a:ext cx="361950" cy="361950"/>
            </a:xfrm>
            <a:custGeom>
              <a:avLst/>
              <a:gdLst/>
              <a:ahLst/>
              <a:cxnLst/>
              <a:rect l="l" t="t" r="r" b="b"/>
              <a:pathLst>
                <a:path w="361950" h="361950">
                  <a:moveTo>
                    <a:pt x="0" y="0"/>
                  </a:moveTo>
                  <a:lnTo>
                    <a:pt x="361950" y="0"/>
                  </a:lnTo>
                  <a:lnTo>
                    <a:pt x="361950" y="361950"/>
                  </a:lnTo>
                  <a:lnTo>
                    <a:pt x="0" y="361950"/>
                  </a:lnTo>
                  <a:lnTo>
                    <a:pt x="0" y="0"/>
                  </a:lnTo>
                  <a:close/>
                </a:path>
              </a:pathLst>
            </a:custGeom>
            <a:blipFill>
              <a:blip r:embed="rId7"/>
              <a:stretch>
                <a:fillRect t="-2631" b="-2631"/>
              </a:stretch>
            </a:blipFill>
          </p:spPr>
        </p:sp>
      </p:grpSp>
      <p:grpSp>
        <p:nvGrpSpPr>
          <p:cNvPr id="19" name="Group 19"/>
          <p:cNvGrpSpPr/>
          <p:nvPr/>
        </p:nvGrpSpPr>
        <p:grpSpPr>
          <a:xfrm>
            <a:off x="1471612" y="4722019"/>
            <a:ext cx="7672388" cy="371475"/>
            <a:chOff x="0" y="0"/>
            <a:chExt cx="10229850" cy="495300"/>
          </a:xfrm>
        </p:grpSpPr>
        <p:sp>
          <p:nvSpPr>
            <p:cNvPr id="20" name="Freeform 20"/>
            <p:cNvSpPr/>
            <p:nvPr/>
          </p:nvSpPr>
          <p:spPr>
            <a:xfrm>
              <a:off x="0" y="0"/>
              <a:ext cx="10229850" cy="495300"/>
            </a:xfrm>
            <a:custGeom>
              <a:avLst/>
              <a:gdLst/>
              <a:ahLst/>
              <a:cxnLst/>
              <a:rect l="l" t="t" r="r" b="b"/>
              <a:pathLst>
                <a:path w="10229850" h="495300">
                  <a:moveTo>
                    <a:pt x="0" y="0"/>
                  </a:moveTo>
                  <a:lnTo>
                    <a:pt x="10229850" y="0"/>
                  </a:lnTo>
                  <a:lnTo>
                    <a:pt x="10229850" y="495300"/>
                  </a:lnTo>
                  <a:lnTo>
                    <a:pt x="0" y="495300"/>
                  </a:lnTo>
                  <a:close/>
                </a:path>
              </a:pathLst>
            </a:custGeom>
            <a:blipFill>
              <a:blip r:embed="rId6">
                <a:alphaModFix amt="0"/>
              </a:blip>
              <a:stretch>
                <a:fillRect t="-352440" b="-352440"/>
              </a:stretch>
            </a:blipFill>
          </p:spPr>
        </p:sp>
        <p:sp>
          <p:nvSpPr>
            <p:cNvPr id="21" name="TextBox 21"/>
            <p:cNvSpPr txBox="1"/>
            <p:nvPr/>
          </p:nvSpPr>
          <p:spPr>
            <a:xfrm>
              <a:off x="0" y="0"/>
              <a:ext cx="10229850" cy="495300"/>
            </a:xfrm>
            <a:prstGeom prst="rect">
              <a:avLst/>
            </a:prstGeom>
          </p:spPr>
          <p:txBody>
            <a:bodyPr lIns="0" tIns="0" rIns="0" bIns="0" rtlCol="0" anchor="ctr"/>
            <a:lstStyle/>
            <a:p>
              <a:pPr algn="l">
                <a:lnSpc>
                  <a:spcPts val="2025"/>
                </a:lnSpc>
              </a:pPr>
              <a:r>
                <a:rPr lang="en-US" sz="1687">
                  <a:solidFill>
                    <a:srgbClr val="064E3B"/>
                  </a:solidFill>
                  <a:latin typeface="Inter"/>
                  <a:ea typeface="Inter"/>
                  <a:cs typeface="Inter"/>
                  <a:sym typeface="Inter"/>
                </a:rPr>
                <a:t>Data Collection &amp; Ingestion</a:t>
              </a:r>
            </a:p>
          </p:txBody>
        </p:sp>
      </p:grpSp>
      <p:grpSp>
        <p:nvGrpSpPr>
          <p:cNvPr id="22" name="Group 22"/>
          <p:cNvGrpSpPr/>
          <p:nvPr/>
        </p:nvGrpSpPr>
        <p:grpSpPr>
          <a:xfrm>
            <a:off x="1471612" y="5206898"/>
            <a:ext cx="7672388" cy="371475"/>
            <a:chOff x="0" y="0"/>
            <a:chExt cx="10229850" cy="495300"/>
          </a:xfrm>
        </p:grpSpPr>
        <p:sp>
          <p:nvSpPr>
            <p:cNvPr id="23" name="Freeform 23"/>
            <p:cNvSpPr/>
            <p:nvPr/>
          </p:nvSpPr>
          <p:spPr>
            <a:xfrm>
              <a:off x="0" y="0"/>
              <a:ext cx="10229850" cy="495300"/>
            </a:xfrm>
            <a:custGeom>
              <a:avLst/>
              <a:gdLst/>
              <a:ahLst/>
              <a:cxnLst/>
              <a:rect l="l" t="t" r="r" b="b"/>
              <a:pathLst>
                <a:path w="10229850" h="495300">
                  <a:moveTo>
                    <a:pt x="0" y="0"/>
                  </a:moveTo>
                  <a:lnTo>
                    <a:pt x="10229850" y="0"/>
                  </a:lnTo>
                  <a:lnTo>
                    <a:pt x="10229850" y="495300"/>
                  </a:lnTo>
                  <a:lnTo>
                    <a:pt x="0" y="495300"/>
                  </a:lnTo>
                  <a:close/>
                </a:path>
              </a:pathLst>
            </a:custGeom>
            <a:blipFill>
              <a:blip r:embed="rId6">
                <a:alphaModFix amt="0"/>
              </a:blip>
              <a:stretch>
                <a:fillRect t="-352440" b="-352440"/>
              </a:stretch>
            </a:blipFill>
          </p:spPr>
        </p:sp>
        <p:sp>
          <p:nvSpPr>
            <p:cNvPr id="24" name="TextBox 24"/>
            <p:cNvSpPr txBox="1"/>
            <p:nvPr/>
          </p:nvSpPr>
          <p:spPr>
            <a:xfrm>
              <a:off x="0" y="0"/>
              <a:ext cx="10229850" cy="495300"/>
            </a:xfrm>
            <a:prstGeom prst="rect">
              <a:avLst/>
            </a:prstGeom>
          </p:spPr>
          <p:txBody>
            <a:bodyPr lIns="0" tIns="0" rIns="0" bIns="0" rtlCol="0" anchor="ctr"/>
            <a:lstStyle/>
            <a:p>
              <a:pPr algn="l">
                <a:lnSpc>
                  <a:spcPts val="2025"/>
                </a:lnSpc>
              </a:pPr>
              <a:r>
                <a:rPr lang="en-US" sz="1687">
                  <a:solidFill>
                    <a:srgbClr val="064E3B"/>
                  </a:solidFill>
                  <a:latin typeface="Inter"/>
                  <a:ea typeface="Inter"/>
                  <a:cs typeface="Inter"/>
                  <a:sym typeface="Inter"/>
                </a:rPr>
                <a:t>Exploratory Data Analysis (EDA)</a:t>
              </a:r>
            </a:p>
          </p:txBody>
        </p:sp>
      </p:grpSp>
      <p:grpSp>
        <p:nvGrpSpPr>
          <p:cNvPr id="25" name="Group 25"/>
          <p:cNvGrpSpPr/>
          <p:nvPr/>
        </p:nvGrpSpPr>
        <p:grpSpPr>
          <a:xfrm>
            <a:off x="1471612" y="5765006"/>
            <a:ext cx="7672388" cy="371475"/>
            <a:chOff x="0" y="0"/>
            <a:chExt cx="10229850" cy="495300"/>
          </a:xfrm>
        </p:grpSpPr>
        <p:sp>
          <p:nvSpPr>
            <p:cNvPr id="26" name="Freeform 26"/>
            <p:cNvSpPr/>
            <p:nvPr/>
          </p:nvSpPr>
          <p:spPr>
            <a:xfrm>
              <a:off x="0" y="0"/>
              <a:ext cx="10229850" cy="495300"/>
            </a:xfrm>
            <a:custGeom>
              <a:avLst/>
              <a:gdLst/>
              <a:ahLst/>
              <a:cxnLst/>
              <a:rect l="l" t="t" r="r" b="b"/>
              <a:pathLst>
                <a:path w="10229850" h="495300">
                  <a:moveTo>
                    <a:pt x="0" y="0"/>
                  </a:moveTo>
                  <a:lnTo>
                    <a:pt x="10229850" y="0"/>
                  </a:lnTo>
                  <a:lnTo>
                    <a:pt x="10229850" y="495300"/>
                  </a:lnTo>
                  <a:lnTo>
                    <a:pt x="0" y="495300"/>
                  </a:lnTo>
                  <a:close/>
                </a:path>
              </a:pathLst>
            </a:custGeom>
            <a:blipFill>
              <a:blip r:embed="rId6">
                <a:alphaModFix amt="0"/>
              </a:blip>
              <a:stretch>
                <a:fillRect t="-352440" b="-352440"/>
              </a:stretch>
            </a:blipFill>
          </p:spPr>
        </p:sp>
        <p:sp>
          <p:nvSpPr>
            <p:cNvPr id="27" name="TextBox 27"/>
            <p:cNvSpPr txBox="1"/>
            <p:nvPr/>
          </p:nvSpPr>
          <p:spPr>
            <a:xfrm>
              <a:off x="0" y="0"/>
              <a:ext cx="10229850" cy="495300"/>
            </a:xfrm>
            <a:prstGeom prst="rect">
              <a:avLst/>
            </a:prstGeom>
          </p:spPr>
          <p:txBody>
            <a:bodyPr lIns="0" tIns="0" rIns="0" bIns="0" rtlCol="0" anchor="ctr"/>
            <a:lstStyle/>
            <a:p>
              <a:pPr algn="l">
                <a:lnSpc>
                  <a:spcPts val="2025"/>
                </a:lnSpc>
              </a:pPr>
              <a:r>
                <a:rPr lang="en-US" sz="1687">
                  <a:solidFill>
                    <a:srgbClr val="064E3B"/>
                  </a:solidFill>
                  <a:latin typeface="Inter"/>
                  <a:ea typeface="Inter"/>
                  <a:cs typeface="Inter"/>
                  <a:sym typeface="Inter"/>
                </a:rPr>
                <a:t>Data Cleansing &amp; TF-IDF Vectorization</a:t>
              </a:r>
            </a:p>
          </p:txBody>
        </p:sp>
      </p:grpSp>
      <p:grpSp>
        <p:nvGrpSpPr>
          <p:cNvPr id="28" name="Group 28"/>
          <p:cNvGrpSpPr/>
          <p:nvPr/>
        </p:nvGrpSpPr>
        <p:grpSpPr>
          <a:xfrm>
            <a:off x="1493044" y="6220416"/>
            <a:ext cx="7672388" cy="371475"/>
            <a:chOff x="0" y="0"/>
            <a:chExt cx="10229850" cy="495300"/>
          </a:xfrm>
        </p:grpSpPr>
        <p:sp>
          <p:nvSpPr>
            <p:cNvPr id="29" name="Freeform 29"/>
            <p:cNvSpPr/>
            <p:nvPr/>
          </p:nvSpPr>
          <p:spPr>
            <a:xfrm>
              <a:off x="0" y="0"/>
              <a:ext cx="10229850" cy="495300"/>
            </a:xfrm>
            <a:custGeom>
              <a:avLst/>
              <a:gdLst/>
              <a:ahLst/>
              <a:cxnLst/>
              <a:rect l="l" t="t" r="r" b="b"/>
              <a:pathLst>
                <a:path w="10229850" h="495300">
                  <a:moveTo>
                    <a:pt x="0" y="0"/>
                  </a:moveTo>
                  <a:lnTo>
                    <a:pt x="10229850" y="0"/>
                  </a:lnTo>
                  <a:lnTo>
                    <a:pt x="10229850" y="495300"/>
                  </a:lnTo>
                  <a:lnTo>
                    <a:pt x="0" y="495300"/>
                  </a:lnTo>
                  <a:close/>
                </a:path>
              </a:pathLst>
            </a:custGeom>
            <a:blipFill>
              <a:blip r:embed="rId6">
                <a:alphaModFix amt="0"/>
              </a:blip>
              <a:stretch>
                <a:fillRect t="-352440" b="-352440"/>
              </a:stretch>
            </a:blipFill>
          </p:spPr>
        </p:sp>
        <p:sp>
          <p:nvSpPr>
            <p:cNvPr id="30" name="TextBox 30"/>
            <p:cNvSpPr txBox="1"/>
            <p:nvPr/>
          </p:nvSpPr>
          <p:spPr>
            <a:xfrm>
              <a:off x="0" y="0"/>
              <a:ext cx="10229850" cy="495300"/>
            </a:xfrm>
            <a:prstGeom prst="rect">
              <a:avLst/>
            </a:prstGeom>
          </p:spPr>
          <p:txBody>
            <a:bodyPr lIns="0" tIns="0" rIns="0" bIns="0" rtlCol="0" anchor="ctr"/>
            <a:lstStyle/>
            <a:p>
              <a:pPr algn="l">
                <a:lnSpc>
                  <a:spcPts val="2025"/>
                </a:lnSpc>
              </a:pPr>
              <a:r>
                <a:rPr lang="en-US" sz="1687">
                  <a:solidFill>
                    <a:srgbClr val="064E3B"/>
                  </a:solidFill>
                  <a:latin typeface="Inter"/>
                  <a:ea typeface="Inter"/>
                  <a:cs typeface="Inter"/>
                  <a:sym typeface="Inter"/>
                </a:rPr>
                <a:t>Model Training &amp; Hyperparameter Tuning</a:t>
              </a:r>
            </a:p>
          </p:txBody>
        </p:sp>
      </p:grpSp>
      <p:grpSp>
        <p:nvGrpSpPr>
          <p:cNvPr id="31" name="Group 31"/>
          <p:cNvGrpSpPr/>
          <p:nvPr/>
        </p:nvGrpSpPr>
        <p:grpSpPr>
          <a:xfrm>
            <a:off x="1471612" y="6782391"/>
            <a:ext cx="7672388" cy="371475"/>
            <a:chOff x="0" y="0"/>
            <a:chExt cx="10229850" cy="495300"/>
          </a:xfrm>
        </p:grpSpPr>
        <p:sp>
          <p:nvSpPr>
            <p:cNvPr id="32" name="Freeform 32"/>
            <p:cNvSpPr/>
            <p:nvPr/>
          </p:nvSpPr>
          <p:spPr>
            <a:xfrm>
              <a:off x="0" y="0"/>
              <a:ext cx="10229850" cy="495300"/>
            </a:xfrm>
            <a:custGeom>
              <a:avLst/>
              <a:gdLst/>
              <a:ahLst/>
              <a:cxnLst/>
              <a:rect l="l" t="t" r="r" b="b"/>
              <a:pathLst>
                <a:path w="10229850" h="495300">
                  <a:moveTo>
                    <a:pt x="0" y="0"/>
                  </a:moveTo>
                  <a:lnTo>
                    <a:pt x="10229850" y="0"/>
                  </a:lnTo>
                  <a:lnTo>
                    <a:pt x="10229850" y="495300"/>
                  </a:lnTo>
                  <a:lnTo>
                    <a:pt x="0" y="495300"/>
                  </a:lnTo>
                  <a:close/>
                </a:path>
              </a:pathLst>
            </a:custGeom>
            <a:blipFill>
              <a:blip r:embed="rId6">
                <a:alphaModFix amt="0"/>
              </a:blip>
              <a:stretch>
                <a:fillRect t="-352440" b="-352440"/>
              </a:stretch>
            </a:blipFill>
          </p:spPr>
        </p:sp>
        <p:sp>
          <p:nvSpPr>
            <p:cNvPr id="33" name="TextBox 33"/>
            <p:cNvSpPr txBox="1"/>
            <p:nvPr/>
          </p:nvSpPr>
          <p:spPr>
            <a:xfrm>
              <a:off x="0" y="0"/>
              <a:ext cx="10229850" cy="495300"/>
            </a:xfrm>
            <a:prstGeom prst="rect">
              <a:avLst/>
            </a:prstGeom>
          </p:spPr>
          <p:txBody>
            <a:bodyPr lIns="0" tIns="0" rIns="0" bIns="0" rtlCol="0" anchor="ctr"/>
            <a:lstStyle/>
            <a:p>
              <a:pPr algn="l">
                <a:lnSpc>
                  <a:spcPts val="2025"/>
                </a:lnSpc>
              </a:pPr>
              <a:r>
                <a:rPr lang="en-US" sz="1687">
                  <a:solidFill>
                    <a:srgbClr val="064E3B"/>
                  </a:solidFill>
                  <a:latin typeface="Inter"/>
                  <a:ea typeface="Inter"/>
                  <a:cs typeface="Inter"/>
                  <a:sym typeface="Inter"/>
                </a:rPr>
                <a:t>Holdout Validation &amp; Error Analysis</a:t>
              </a:r>
            </a:p>
          </p:txBody>
        </p:sp>
      </p:grpSp>
      <p:grpSp>
        <p:nvGrpSpPr>
          <p:cNvPr id="34" name="Group 34"/>
          <p:cNvGrpSpPr/>
          <p:nvPr/>
        </p:nvGrpSpPr>
        <p:grpSpPr>
          <a:xfrm>
            <a:off x="9644062" y="4207669"/>
            <a:ext cx="271462" cy="271462"/>
            <a:chOff x="0" y="0"/>
            <a:chExt cx="361950" cy="361950"/>
          </a:xfrm>
        </p:grpSpPr>
        <p:sp>
          <p:nvSpPr>
            <p:cNvPr id="35" name="Freeform 35" descr="image.png"/>
            <p:cNvSpPr/>
            <p:nvPr/>
          </p:nvSpPr>
          <p:spPr>
            <a:xfrm>
              <a:off x="0" y="0"/>
              <a:ext cx="361950" cy="361950"/>
            </a:xfrm>
            <a:custGeom>
              <a:avLst/>
              <a:gdLst/>
              <a:ahLst/>
              <a:cxnLst/>
              <a:rect l="l" t="t" r="r" b="b"/>
              <a:pathLst>
                <a:path w="361950" h="361950">
                  <a:moveTo>
                    <a:pt x="0" y="0"/>
                  </a:moveTo>
                  <a:lnTo>
                    <a:pt x="361950" y="0"/>
                  </a:lnTo>
                  <a:lnTo>
                    <a:pt x="361950" y="361950"/>
                  </a:lnTo>
                  <a:lnTo>
                    <a:pt x="0" y="361950"/>
                  </a:lnTo>
                  <a:lnTo>
                    <a:pt x="0" y="0"/>
                  </a:lnTo>
                  <a:close/>
                </a:path>
              </a:pathLst>
            </a:custGeom>
            <a:blipFill>
              <a:blip r:embed="rId8"/>
              <a:stretch>
                <a:fillRect t="-2631" b="-2631"/>
              </a:stretch>
            </a:blipFill>
          </p:spPr>
        </p:sp>
      </p:grpSp>
      <p:sp>
        <p:nvSpPr>
          <p:cNvPr id="36" name="TextBox 36"/>
          <p:cNvSpPr txBox="1"/>
          <p:nvPr/>
        </p:nvSpPr>
        <p:spPr>
          <a:xfrm>
            <a:off x="9986962" y="4602956"/>
            <a:ext cx="7329488" cy="368646"/>
          </a:xfrm>
          <a:prstGeom prst="rect">
            <a:avLst/>
          </a:prstGeom>
        </p:spPr>
        <p:txBody>
          <a:bodyPr lIns="0" tIns="0" rIns="0" bIns="0" rtlCol="0" anchor="t">
            <a:spAutoFit/>
          </a:bodyPr>
          <a:lstStyle/>
          <a:p>
            <a:pPr algn="l">
              <a:lnSpc>
                <a:spcPts val="2527"/>
              </a:lnSpc>
            </a:pPr>
            <a:r>
              <a:rPr lang="en-US" sz="1743">
                <a:solidFill>
                  <a:srgbClr val="0F172A"/>
                </a:solidFill>
                <a:latin typeface="Inter"/>
                <a:ea typeface="Inter"/>
                <a:cs typeface="Inter"/>
                <a:sym typeface="Inter"/>
              </a:rPr>
              <a:t>Accuracy &amp; Precision:</a:t>
            </a:r>
            <a:r>
              <a:rPr lang="en-US" sz="1743">
                <a:solidFill>
                  <a:srgbClr val="334155"/>
                </a:solidFill>
                <a:latin typeface="Inter"/>
                <a:ea typeface="Inter"/>
                <a:cs typeface="Inter"/>
                <a:sym typeface="Inter"/>
              </a:rPr>
              <a:t> Ratio of correctly classified merchant tags.</a:t>
            </a:r>
          </a:p>
        </p:txBody>
      </p:sp>
      <p:sp>
        <p:nvSpPr>
          <p:cNvPr id="37" name="TextBox 37"/>
          <p:cNvSpPr txBox="1"/>
          <p:nvPr/>
        </p:nvSpPr>
        <p:spPr>
          <a:xfrm>
            <a:off x="9986962" y="5066852"/>
            <a:ext cx="7329488" cy="368646"/>
          </a:xfrm>
          <a:prstGeom prst="rect">
            <a:avLst/>
          </a:prstGeom>
        </p:spPr>
        <p:txBody>
          <a:bodyPr lIns="0" tIns="0" rIns="0" bIns="0" rtlCol="0" anchor="t">
            <a:spAutoFit/>
          </a:bodyPr>
          <a:lstStyle/>
          <a:p>
            <a:pPr algn="l">
              <a:lnSpc>
                <a:spcPts val="2527"/>
              </a:lnSpc>
            </a:pPr>
            <a:r>
              <a:rPr lang="en-US" sz="1743">
                <a:solidFill>
                  <a:srgbClr val="0F172A"/>
                </a:solidFill>
                <a:latin typeface="Inter"/>
                <a:ea typeface="Inter"/>
                <a:cs typeface="Inter"/>
                <a:sym typeface="Inter"/>
              </a:rPr>
              <a:t>Recall &amp; F1-Score:</a:t>
            </a:r>
            <a:r>
              <a:rPr lang="en-US" sz="1743">
                <a:solidFill>
                  <a:srgbClr val="334155"/>
                </a:solidFill>
                <a:latin typeface="Inter"/>
                <a:ea typeface="Inter"/>
                <a:cs typeface="Inter"/>
                <a:sym typeface="Inter"/>
              </a:rPr>
              <a:t> Balancing detection of infrequent expense types.</a:t>
            </a:r>
          </a:p>
        </p:txBody>
      </p:sp>
      <p:sp>
        <p:nvSpPr>
          <p:cNvPr id="38" name="TextBox 38"/>
          <p:cNvSpPr txBox="1"/>
          <p:nvPr/>
        </p:nvSpPr>
        <p:spPr>
          <a:xfrm>
            <a:off x="9986962" y="5530748"/>
            <a:ext cx="7329488" cy="689667"/>
          </a:xfrm>
          <a:prstGeom prst="rect">
            <a:avLst/>
          </a:prstGeom>
        </p:spPr>
        <p:txBody>
          <a:bodyPr lIns="0" tIns="0" rIns="0" bIns="0" rtlCol="0" anchor="t">
            <a:spAutoFit/>
          </a:bodyPr>
          <a:lstStyle/>
          <a:p>
            <a:pPr algn="l">
              <a:lnSpc>
                <a:spcPts val="2527"/>
              </a:lnSpc>
            </a:pPr>
            <a:r>
              <a:rPr lang="en-US" sz="1743">
                <a:solidFill>
                  <a:srgbClr val="0F172A"/>
                </a:solidFill>
                <a:latin typeface="Inter"/>
                <a:ea typeface="Inter"/>
                <a:cs typeface="Inter"/>
                <a:sym typeface="Inter"/>
              </a:rPr>
              <a:t>Contamination Parameter:</a:t>
            </a:r>
            <a:r>
              <a:rPr lang="en-US" sz="1743">
                <a:solidFill>
                  <a:srgbClr val="334155"/>
                </a:solidFill>
                <a:latin typeface="Inter"/>
                <a:ea typeface="Inter"/>
                <a:cs typeface="Inter"/>
                <a:sym typeface="Inter"/>
              </a:rPr>
              <a:t> Calibrating outlier frequency in Isolation Forest.</a:t>
            </a:r>
          </a:p>
        </p:txBody>
      </p:sp>
      <p:sp>
        <p:nvSpPr>
          <p:cNvPr id="39" name="TextBox 39"/>
          <p:cNvSpPr txBox="1"/>
          <p:nvPr/>
        </p:nvSpPr>
        <p:spPr>
          <a:xfrm>
            <a:off x="9986962" y="6315666"/>
            <a:ext cx="7329488" cy="689667"/>
          </a:xfrm>
          <a:prstGeom prst="rect">
            <a:avLst/>
          </a:prstGeom>
        </p:spPr>
        <p:txBody>
          <a:bodyPr lIns="0" tIns="0" rIns="0" bIns="0" rtlCol="0" anchor="t">
            <a:spAutoFit/>
          </a:bodyPr>
          <a:lstStyle/>
          <a:p>
            <a:pPr algn="l">
              <a:lnSpc>
                <a:spcPts val="2527"/>
              </a:lnSpc>
            </a:pPr>
            <a:r>
              <a:rPr lang="en-US" sz="1743">
                <a:solidFill>
                  <a:srgbClr val="0F172A"/>
                </a:solidFill>
                <a:latin typeface="Inter"/>
                <a:ea typeface="Inter"/>
                <a:cs typeface="Inter"/>
                <a:sym typeface="Inter"/>
              </a:rPr>
              <a:t>Generalization:</a:t>
            </a:r>
            <a:r>
              <a:rPr lang="en-US" sz="1743">
                <a:solidFill>
                  <a:srgbClr val="334155"/>
                </a:solidFill>
                <a:latin typeface="Inter"/>
                <a:ea typeface="Inter"/>
                <a:cs typeface="Inter"/>
                <a:sym typeface="Inter"/>
              </a:rPr>
              <a:t> Ensuring robust categorization on unseen vendor descriptions.</a:t>
            </a:r>
          </a:p>
        </p:txBody>
      </p:sp>
      <p:grpSp>
        <p:nvGrpSpPr>
          <p:cNvPr id="40" name="Group 40"/>
          <p:cNvGrpSpPr/>
          <p:nvPr/>
        </p:nvGrpSpPr>
        <p:grpSpPr>
          <a:xfrm>
            <a:off x="971550" y="4736306"/>
            <a:ext cx="371475" cy="371475"/>
            <a:chOff x="0" y="0"/>
            <a:chExt cx="495300" cy="495300"/>
          </a:xfrm>
        </p:grpSpPr>
        <p:sp>
          <p:nvSpPr>
            <p:cNvPr id="41" name="Freeform 41" descr="image.png"/>
            <p:cNvSpPr/>
            <p:nvPr/>
          </p:nvSpPr>
          <p:spPr>
            <a:xfrm>
              <a:off x="0" y="0"/>
              <a:ext cx="495300" cy="495300"/>
            </a:xfrm>
            <a:custGeom>
              <a:avLst/>
              <a:gdLst/>
              <a:ahLst/>
              <a:cxnLst/>
              <a:rect l="l" t="t" r="r" b="b"/>
              <a:pathLst>
                <a:path w="495300" h="495300">
                  <a:moveTo>
                    <a:pt x="0" y="0"/>
                  </a:moveTo>
                  <a:lnTo>
                    <a:pt x="495300" y="0"/>
                  </a:lnTo>
                  <a:lnTo>
                    <a:pt x="495300" y="495300"/>
                  </a:lnTo>
                  <a:lnTo>
                    <a:pt x="0" y="495300"/>
                  </a:lnTo>
                  <a:lnTo>
                    <a:pt x="0" y="0"/>
                  </a:lnTo>
                  <a:close/>
                </a:path>
              </a:pathLst>
            </a:custGeom>
            <a:blipFill>
              <a:blip r:embed="rId9"/>
              <a:stretch>
                <a:fillRect t="-1923" b="-1923"/>
              </a:stretch>
            </a:blipFill>
          </p:spPr>
        </p:sp>
      </p:grpSp>
      <p:grpSp>
        <p:nvGrpSpPr>
          <p:cNvPr id="42" name="Group 42"/>
          <p:cNvGrpSpPr/>
          <p:nvPr/>
        </p:nvGrpSpPr>
        <p:grpSpPr>
          <a:xfrm>
            <a:off x="971550" y="5250656"/>
            <a:ext cx="371475" cy="371475"/>
            <a:chOff x="0" y="0"/>
            <a:chExt cx="495300" cy="495300"/>
          </a:xfrm>
        </p:grpSpPr>
        <p:sp>
          <p:nvSpPr>
            <p:cNvPr id="43" name="Freeform 43" descr="image.png"/>
            <p:cNvSpPr/>
            <p:nvPr/>
          </p:nvSpPr>
          <p:spPr>
            <a:xfrm>
              <a:off x="0" y="0"/>
              <a:ext cx="495300" cy="495300"/>
            </a:xfrm>
            <a:custGeom>
              <a:avLst/>
              <a:gdLst/>
              <a:ahLst/>
              <a:cxnLst/>
              <a:rect l="l" t="t" r="r" b="b"/>
              <a:pathLst>
                <a:path w="495300" h="495300">
                  <a:moveTo>
                    <a:pt x="0" y="0"/>
                  </a:moveTo>
                  <a:lnTo>
                    <a:pt x="495300" y="0"/>
                  </a:lnTo>
                  <a:lnTo>
                    <a:pt x="495300" y="495300"/>
                  </a:lnTo>
                  <a:lnTo>
                    <a:pt x="0" y="495300"/>
                  </a:lnTo>
                  <a:lnTo>
                    <a:pt x="0" y="0"/>
                  </a:lnTo>
                  <a:close/>
                </a:path>
              </a:pathLst>
            </a:custGeom>
            <a:blipFill>
              <a:blip r:embed="rId10"/>
              <a:stretch>
                <a:fillRect t="-1923" b="-1923"/>
              </a:stretch>
            </a:blipFill>
          </p:spPr>
        </p:sp>
      </p:grpSp>
      <p:grpSp>
        <p:nvGrpSpPr>
          <p:cNvPr id="44" name="Group 44"/>
          <p:cNvGrpSpPr/>
          <p:nvPr/>
        </p:nvGrpSpPr>
        <p:grpSpPr>
          <a:xfrm>
            <a:off x="971550" y="5765006"/>
            <a:ext cx="371475" cy="371475"/>
            <a:chOff x="0" y="0"/>
            <a:chExt cx="495300" cy="495300"/>
          </a:xfrm>
        </p:grpSpPr>
        <p:sp>
          <p:nvSpPr>
            <p:cNvPr id="45" name="Freeform 45" descr="image.png"/>
            <p:cNvSpPr/>
            <p:nvPr/>
          </p:nvSpPr>
          <p:spPr>
            <a:xfrm>
              <a:off x="0" y="0"/>
              <a:ext cx="495300" cy="495300"/>
            </a:xfrm>
            <a:custGeom>
              <a:avLst/>
              <a:gdLst/>
              <a:ahLst/>
              <a:cxnLst/>
              <a:rect l="l" t="t" r="r" b="b"/>
              <a:pathLst>
                <a:path w="495300" h="495300">
                  <a:moveTo>
                    <a:pt x="0" y="0"/>
                  </a:moveTo>
                  <a:lnTo>
                    <a:pt x="495300" y="0"/>
                  </a:lnTo>
                  <a:lnTo>
                    <a:pt x="495300" y="495300"/>
                  </a:lnTo>
                  <a:lnTo>
                    <a:pt x="0" y="495300"/>
                  </a:lnTo>
                  <a:lnTo>
                    <a:pt x="0" y="0"/>
                  </a:lnTo>
                  <a:close/>
                </a:path>
              </a:pathLst>
            </a:custGeom>
            <a:blipFill>
              <a:blip r:embed="rId11"/>
              <a:stretch>
                <a:fillRect t="-1923" b="-1923"/>
              </a:stretch>
            </a:blipFill>
          </p:spPr>
        </p:sp>
      </p:grpSp>
      <p:grpSp>
        <p:nvGrpSpPr>
          <p:cNvPr id="46" name="Group 46"/>
          <p:cNvGrpSpPr/>
          <p:nvPr/>
        </p:nvGrpSpPr>
        <p:grpSpPr>
          <a:xfrm>
            <a:off x="971550" y="6279356"/>
            <a:ext cx="371475" cy="371475"/>
            <a:chOff x="0" y="0"/>
            <a:chExt cx="495300" cy="495300"/>
          </a:xfrm>
        </p:grpSpPr>
        <p:sp>
          <p:nvSpPr>
            <p:cNvPr id="47" name="Freeform 47" descr="image.png"/>
            <p:cNvSpPr/>
            <p:nvPr/>
          </p:nvSpPr>
          <p:spPr>
            <a:xfrm>
              <a:off x="0" y="0"/>
              <a:ext cx="495300" cy="495300"/>
            </a:xfrm>
            <a:custGeom>
              <a:avLst/>
              <a:gdLst/>
              <a:ahLst/>
              <a:cxnLst/>
              <a:rect l="l" t="t" r="r" b="b"/>
              <a:pathLst>
                <a:path w="495300" h="495300">
                  <a:moveTo>
                    <a:pt x="0" y="0"/>
                  </a:moveTo>
                  <a:lnTo>
                    <a:pt x="495300" y="0"/>
                  </a:lnTo>
                  <a:lnTo>
                    <a:pt x="495300" y="495300"/>
                  </a:lnTo>
                  <a:lnTo>
                    <a:pt x="0" y="495300"/>
                  </a:lnTo>
                  <a:lnTo>
                    <a:pt x="0" y="0"/>
                  </a:lnTo>
                  <a:close/>
                </a:path>
              </a:pathLst>
            </a:custGeom>
            <a:blipFill>
              <a:blip r:embed="rId12"/>
              <a:stretch>
                <a:fillRect t="-1923" b="-1923"/>
              </a:stretch>
            </a:blipFill>
          </p:spPr>
        </p:sp>
      </p:grpSp>
      <p:grpSp>
        <p:nvGrpSpPr>
          <p:cNvPr id="48" name="Group 48"/>
          <p:cNvGrpSpPr/>
          <p:nvPr/>
        </p:nvGrpSpPr>
        <p:grpSpPr>
          <a:xfrm>
            <a:off x="971550" y="6793706"/>
            <a:ext cx="371475" cy="371475"/>
            <a:chOff x="0" y="0"/>
            <a:chExt cx="495300" cy="495300"/>
          </a:xfrm>
        </p:grpSpPr>
        <p:sp>
          <p:nvSpPr>
            <p:cNvPr id="49" name="Freeform 49" descr="image.png"/>
            <p:cNvSpPr/>
            <p:nvPr/>
          </p:nvSpPr>
          <p:spPr>
            <a:xfrm>
              <a:off x="0" y="0"/>
              <a:ext cx="495300" cy="495300"/>
            </a:xfrm>
            <a:custGeom>
              <a:avLst/>
              <a:gdLst/>
              <a:ahLst/>
              <a:cxnLst/>
              <a:rect l="l" t="t" r="r" b="b"/>
              <a:pathLst>
                <a:path w="495300" h="495300">
                  <a:moveTo>
                    <a:pt x="0" y="0"/>
                  </a:moveTo>
                  <a:lnTo>
                    <a:pt x="495300" y="0"/>
                  </a:lnTo>
                  <a:lnTo>
                    <a:pt x="495300" y="495300"/>
                  </a:lnTo>
                  <a:lnTo>
                    <a:pt x="0" y="495300"/>
                  </a:lnTo>
                  <a:lnTo>
                    <a:pt x="0" y="0"/>
                  </a:lnTo>
                  <a:close/>
                </a:path>
              </a:pathLst>
            </a:custGeom>
            <a:blipFill>
              <a:blip r:embed="rId13"/>
              <a:stretch>
                <a:fillRect t="-1923" b="-1923"/>
              </a:stretch>
            </a:blipFill>
          </p:spPr>
        </p:sp>
      </p:grpSp>
      <p:grpSp>
        <p:nvGrpSpPr>
          <p:cNvPr id="50" name="Group 50"/>
          <p:cNvGrpSpPr/>
          <p:nvPr/>
        </p:nvGrpSpPr>
        <p:grpSpPr>
          <a:xfrm>
            <a:off x="9644062" y="4693444"/>
            <a:ext cx="171450" cy="214312"/>
            <a:chOff x="0" y="0"/>
            <a:chExt cx="228600" cy="285750"/>
          </a:xfrm>
        </p:grpSpPr>
        <p:sp>
          <p:nvSpPr>
            <p:cNvPr id="51" name="Freeform 51" descr="image.png"/>
            <p:cNvSpPr/>
            <p:nvPr/>
          </p:nvSpPr>
          <p:spPr>
            <a:xfrm>
              <a:off x="0" y="0"/>
              <a:ext cx="228600" cy="285750"/>
            </a:xfrm>
            <a:custGeom>
              <a:avLst/>
              <a:gdLst/>
              <a:ahLst/>
              <a:cxnLst/>
              <a:rect l="l" t="t" r="r" b="b"/>
              <a:pathLst>
                <a:path w="228600" h="285750">
                  <a:moveTo>
                    <a:pt x="0" y="0"/>
                  </a:moveTo>
                  <a:lnTo>
                    <a:pt x="228600" y="0"/>
                  </a:lnTo>
                  <a:lnTo>
                    <a:pt x="228600" y="285750"/>
                  </a:lnTo>
                  <a:lnTo>
                    <a:pt x="0" y="285750"/>
                  </a:lnTo>
                  <a:lnTo>
                    <a:pt x="0" y="0"/>
                  </a:lnTo>
                  <a:close/>
                </a:path>
              </a:pathLst>
            </a:custGeom>
            <a:blipFill>
              <a:blip r:embed="rId14"/>
              <a:stretch>
                <a:fillRect/>
              </a:stretch>
            </a:blipFill>
          </p:spPr>
        </p:sp>
      </p:grpSp>
      <p:grpSp>
        <p:nvGrpSpPr>
          <p:cNvPr id="52" name="Group 52"/>
          <p:cNvGrpSpPr/>
          <p:nvPr/>
        </p:nvGrpSpPr>
        <p:grpSpPr>
          <a:xfrm>
            <a:off x="9644062" y="5157340"/>
            <a:ext cx="171450" cy="214312"/>
            <a:chOff x="0" y="0"/>
            <a:chExt cx="228600" cy="285750"/>
          </a:xfrm>
        </p:grpSpPr>
        <p:sp>
          <p:nvSpPr>
            <p:cNvPr id="53" name="Freeform 53" descr="image.png"/>
            <p:cNvSpPr/>
            <p:nvPr/>
          </p:nvSpPr>
          <p:spPr>
            <a:xfrm>
              <a:off x="0" y="0"/>
              <a:ext cx="228600" cy="285750"/>
            </a:xfrm>
            <a:custGeom>
              <a:avLst/>
              <a:gdLst/>
              <a:ahLst/>
              <a:cxnLst/>
              <a:rect l="l" t="t" r="r" b="b"/>
              <a:pathLst>
                <a:path w="228600" h="285750">
                  <a:moveTo>
                    <a:pt x="0" y="0"/>
                  </a:moveTo>
                  <a:lnTo>
                    <a:pt x="228600" y="0"/>
                  </a:lnTo>
                  <a:lnTo>
                    <a:pt x="228600" y="285750"/>
                  </a:lnTo>
                  <a:lnTo>
                    <a:pt x="0" y="285750"/>
                  </a:lnTo>
                  <a:lnTo>
                    <a:pt x="0" y="0"/>
                  </a:lnTo>
                  <a:close/>
                </a:path>
              </a:pathLst>
            </a:custGeom>
            <a:blipFill>
              <a:blip r:embed="rId14"/>
              <a:stretch>
                <a:fillRect/>
              </a:stretch>
            </a:blipFill>
          </p:spPr>
        </p:sp>
      </p:grpSp>
      <p:grpSp>
        <p:nvGrpSpPr>
          <p:cNvPr id="54" name="Group 54"/>
          <p:cNvGrpSpPr/>
          <p:nvPr/>
        </p:nvGrpSpPr>
        <p:grpSpPr>
          <a:xfrm>
            <a:off x="9644062" y="5621236"/>
            <a:ext cx="171450" cy="214312"/>
            <a:chOff x="0" y="0"/>
            <a:chExt cx="228600" cy="285750"/>
          </a:xfrm>
        </p:grpSpPr>
        <p:sp>
          <p:nvSpPr>
            <p:cNvPr id="55" name="Freeform 55" descr="image.png"/>
            <p:cNvSpPr/>
            <p:nvPr/>
          </p:nvSpPr>
          <p:spPr>
            <a:xfrm>
              <a:off x="0" y="0"/>
              <a:ext cx="228600" cy="285750"/>
            </a:xfrm>
            <a:custGeom>
              <a:avLst/>
              <a:gdLst/>
              <a:ahLst/>
              <a:cxnLst/>
              <a:rect l="l" t="t" r="r" b="b"/>
              <a:pathLst>
                <a:path w="228600" h="285750">
                  <a:moveTo>
                    <a:pt x="0" y="0"/>
                  </a:moveTo>
                  <a:lnTo>
                    <a:pt x="228600" y="0"/>
                  </a:lnTo>
                  <a:lnTo>
                    <a:pt x="228600" y="285750"/>
                  </a:lnTo>
                  <a:lnTo>
                    <a:pt x="0" y="285750"/>
                  </a:lnTo>
                  <a:lnTo>
                    <a:pt x="0" y="0"/>
                  </a:lnTo>
                  <a:close/>
                </a:path>
              </a:pathLst>
            </a:custGeom>
            <a:blipFill>
              <a:blip r:embed="rId14"/>
              <a:stretch>
                <a:fillRect/>
              </a:stretch>
            </a:blipFill>
          </p:spPr>
        </p:sp>
      </p:grpSp>
      <p:grpSp>
        <p:nvGrpSpPr>
          <p:cNvPr id="56" name="Group 56"/>
          <p:cNvGrpSpPr/>
          <p:nvPr/>
        </p:nvGrpSpPr>
        <p:grpSpPr>
          <a:xfrm>
            <a:off x="9644062" y="6406153"/>
            <a:ext cx="171450" cy="214312"/>
            <a:chOff x="0" y="0"/>
            <a:chExt cx="228600" cy="285750"/>
          </a:xfrm>
        </p:grpSpPr>
        <p:sp>
          <p:nvSpPr>
            <p:cNvPr id="57" name="Freeform 57" descr="image.png"/>
            <p:cNvSpPr/>
            <p:nvPr/>
          </p:nvSpPr>
          <p:spPr>
            <a:xfrm>
              <a:off x="0" y="0"/>
              <a:ext cx="228600" cy="285750"/>
            </a:xfrm>
            <a:custGeom>
              <a:avLst/>
              <a:gdLst/>
              <a:ahLst/>
              <a:cxnLst/>
              <a:rect l="l" t="t" r="r" b="b"/>
              <a:pathLst>
                <a:path w="228600" h="285750">
                  <a:moveTo>
                    <a:pt x="0" y="0"/>
                  </a:moveTo>
                  <a:lnTo>
                    <a:pt x="228600" y="0"/>
                  </a:lnTo>
                  <a:lnTo>
                    <a:pt x="228600" y="285750"/>
                  </a:lnTo>
                  <a:lnTo>
                    <a:pt x="0" y="285750"/>
                  </a:lnTo>
                  <a:lnTo>
                    <a:pt x="0" y="0"/>
                  </a:lnTo>
                  <a:close/>
                </a:path>
              </a:pathLst>
            </a:custGeom>
            <a:blipFill>
              <a:blip r:embed="rId14"/>
              <a:stretch>
                <a:fillRect/>
              </a:stretch>
            </a:blipFill>
          </p:spPr>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61C16"/>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sp>
      </p:grpSp>
      <p:grpSp>
        <p:nvGrpSpPr>
          <p:cNvPr id="4" name="Group 4"/>
          <p:cNvGrpSpPr/>
          <p:nvPr/>
        </p:nvGrpSpPr>
        <p:grpSpPr>
          <a:xfrm>
            <a:off x="2143125" y="4851273"/>
            <a:ext cx="14001750" cy="2595858"/>
            <a:chOff x="0" y="0"/>
            <a:chExt cx="18669000" cy="3461144"/>
          </a:xfrm>
        </p:grpSpPr>
        <p:sp>
          <p:nvSpPr>
            <p:cNvPr id="5" name="Freeform 5" descr="image.png"/>
            <p:cNvSpPr/>
            <p:nvPr/>
          </p:nvSpPr>
          <p:spPr>
            <a:xfrm>
              <a:off x="0" y="0"/>
              <a:ext cx="18669000" cy="3461131"/>
            </a:xfrm>
            <a:custGeom>
              <a:avLst/>
              <a:gdLst/>
              <a:ahLst/>
              <a:cxnLst/>
              <a:rect l="l" t="t" r="r" b="b"/>
              <a:pathLst>
                <a:path w="18669000" h="3461131">
                  <a:moveTo>
                    <a:pt x="0" y="0"/>
                  </a:moveTo>
                  <a:lnTo>
                    <a:pt x="18669000" y="0"/>
                  </a:lnTo>
                  <a:lnTo>
                    <a:pt x="18669000" y="3461131"/>
                  </a:lnTo>
                  <a:lnTo>
                    <a:pt x="0" y="3461131"/>
                  </a:lnTo>
                  <a:lnTo>
                    <a:pt x="0" y="0"/>
                  </a:lnTo>
                  <a:close/>
                </a:path>
              </a:pathLst>
            </a:custGeom>
            <a:blipFill>
              <a:blip r:embed="rId3"/>
              <a:stretch>
                <a:fillRect t="-361" b="-361"/>
              </a:stretch>
            </a:blipFill>
          </p:spPr>
        </p:sp>
      </p:grpSp>
      <p:grpSp>
        <p:nvGrpSpPr>
          <p:cNvPr id="6" name="Group 6"/>
          <p:cNvGrpSpPr/>
          <p:nvPr/>
        </p:nvGrpSpPr>
        <p:grpSpPr>
          <a:xfrm>
            <a:off x="2557462" y="6475581"/>
            <a:ext cx="13173075" cy="642938"/>
            <a:chOff x="0" y="0"/>
            <a:chExt cx="17564100" cy="857250"/>
          </a:xfrm>
        </p:grpSpPr>
        <p:sp>
          <p:nvSpPr>
            <p:cNvPr id="7" name="Freeform 7" descr="image.png"/>
            <p:cNvSpPr/>
            <p:nvPr/>
          </p:nvSpPr>
          <p:spPr>
            <a:xfrm>
              <a:off x="0" y="0"/>
              <a:ext cx="17564100" cy="857250"/>
            </a:xfrm>
            <a:custGeom>
              <a:avLst/>
              <a:gdLst/>
              <a:ahLst/>
              <a:cxnLst/>
              <a:rect l="l" t="t" r="r" b="b"/>
              <a:pathLst>
                <a:path w="17564100" h="857250">
                  <a:moveTo>
                    <a:pt x="0" y="0"/>
                  </a:moveTo>
                  <a:lnTo>
                    <a:pt x="17564100" y="0"/>
                  </a:lnTo>
                  <a:lnTo>
                    <a:pt x="17564100" y="857250"/>
                  </a:lnTo>
                  <a:lnTo>
                    <a:pt x="0" y="857250"/>
                  </a:lnTo>
                  <a:lnTo>
                    <a:pt x="0" y="0"/>
                  </a:lnTo>
                  <a:close/>
                </a:path>
              </a:pathLst>
            </a:custGeom>
            <a:blipFill>
              <a:blip r:embed="rId4"/>
              <a:stretch>
                <a:fillRect t="-1000" b="-1001"/>
              </a:stretch>
            </a:blipFill>
          </p:spPr>
        </p:sp>
      </p:grpSp>
      <p:grpSp>
        <p:nvGrpSpPr>
          <p:cNvPr id="8" name="Group 8"/>
          <p:cNvGrpSpPr/>
          <p:nvPr/>
        </p:nvGrpSpPr>
        <p:grpSpPr>
          <a:xfrm>
            <a:off x="7105126" y="2068116"/>
            <a:ext cx="4077738" cy="428625"/>
            <a:chOff x="0" y="0"/>
            <a:chExt cx="5436984" cy="571500"/>
          </a:xfrm>
        </p:grpSpPr>
        <p:sp>
          <p:nvSpPr>
            <p:cNvPr id="9" name="Freeform 9" descr="image.png"/>
            <p:cNvSpPr/>
            <p:nvPr/>
          </p:nvSpPr>
          <p:spPr>
            <a:xfrm>
              <a:off x="0" y="0"/>
              <a:ext cx="5436997" cy="571500"/>
            </a:xfrm>
            <a:custGeom>
              <a:avLst/>
              <a:gdLst/>
              <a:ahLst/>
              <a:cxnLst/>
              <a:rect l="l" t="t" r="r" b="b"/>
              <a:pathLst>
                <a:path w="5436997" h="571500">
                  <a:moveTo>
                    <a:pt x="0" y="0"/>
                  </a:moveTo>
                  <a:lnTo>
                    <a:pt x="5436997" y="0"/>
                  </a:lnTo>
                  <a:lnTo>
                    <a:pt x="5436997" y="571500"/>
                  </a:lnTo>
                  <a:lnTo>
                    <a:pt x="0" y="571500"/>
                  </a:lnTo>
                  <a:lnTo>
                    <a:pt x="0" y="0"/>
                  </a:lnTo>
                  <a:close/>
                </a:path>
              </a:pathLst>
            </a:custGeom>
            <a:blipFill>
              <a:blip r:embed="rId5"/>
              <a:stretch>
                <a:fillRect t="-1560" b="-1557"/>
              </a:stretch>
            </a:blipFill>
          </p:spPr>
        </p:sp>
      </p:grpSp>
      <p:sp>
        <p:nvSpPr>
          <p:cNvPr id="10" name="TextBox 10"/>
          <p:cNvSpPr txBox="1"/>
          <p:nvPr/>
        </p:nvSpPr>
        <p:spPr>
          <a:xfrm>
            <a:off x="1793081" y="2772966"/>
            <a:ext cx="14701838" cy="763857"/>
          </a:xfrm>
          <a:prstGeom prst="rect">
            <a:avLst/>
          </a:prstGeom>
        </p:spPr>
        <p:txBody>
          <a:bodyPr lIns="0" tIns="0" rIns="0" bIns="0" rtlCol="0" anchor="t">
            <a:spAutoFit/>
          </a:bodyPr>
          <a:lstStyle/>
          <a:p>
            <a:pPr algn="ctr">
              <a:lnSpc>
                <a:spcPts val="5938"/>
              </a:lnSpc>
            </a:pPr>
            <a:r>
              <a:rPr lang="en-US" sz="4950" b="1">
                <a:solidFill>
                  <a:srgbClr val="FFFFFF"/>
                </a:solidFill>
                <a:latin typeface="Inter Bold"/>
                <a:ea typeface="Inter Bold"/>
                <a:cs typeface="Inter Bold"/>
                <a:sym typeface="Inter Bold"/>
              </a:rPr>
              <a:t>SMART EXPENSE PATTERN ANALYZER</a:t>
            </a:r>
          </a:p>
        </p:txBody>
      </p:sp>
      <p:sp>
        <p:nvSpPr>
          <p:cNvPr id="11" name="TextBox 11"/>
          <p:cNvSpPr txBox="1"/>
          <p:nvPr/>
        </p:nvSpPr>
        <p:spPr>
          <a:xfrm>
            <a:off x="2143125" y="3755898"/>
            <a:ext cx="14001750" cy="695325"/>
          </a:xfrm>
          <a:prstGeom prst="rect">
            <a:avLst/>
          </a:prstGeom>
        </p:spPr>
        <p:txBody>
          <a:bodyPr lIns="0" tIns="0" rIns="0" bIns="0" rtlCol="0" anchor="t">
            <a:spAutoFit/>
          </a:bodyPr>
          <a:lstStyle/>
          <a:p>
            <a:pPr algn="ctr">
              <a:lnSpc>
                <a:spcPts val="2700"/>
              </a:lnSpc>
            </a:pPr>
            <a:r>
              <a:rPr lang="en-US" sz="2250" b="1">
                <a:solidFill>
                  <a:srgbClr val="34D399"/>
                </a:solidFill>
                <a:latin typeface="Inter Medium"/>
                <a:ea typeface="Inter Medium"/>
                <a:cs typeface="Inter Medium"/>
                <a:sym typeface="Inter Medium"/>
              </a:rPr>
              <a:t>An Intelligent Personal Finance Analytics Platform with NLP Categorization, Anomaly Detection &amp; Predictive Forecasting</a:t>
            </a:r>
          </a:p>
        </p:txBody>
      </p:sp>
      <p:sp>
        <p:nvSpPr>
          <p:cNvPr id="12" name="TextBox 12"/>
          <p:cNvSpPr txBox="1"/>
          <p:nvPr/>
        </p:nvSpPr>
        <p:spPr>
          <a:xfrm>
            <a:off x="2557462" y="5113211"/>
            <a:ext cx="13173075" cy="1162345"/>
          </a:xfrm>
          <a:prstGeom prst="rect">
            <a:avLst/>
          </a:prstGeom>
        </p:spPr>
        <p:txBody>
          <a:bodyPr lIns="0" tIns="0" rIns="0" bIns="0" rtlCol="0" anchor="t">
            <a:spAutoFit/>
          </a:bodyPr>
          <a:lstStyle/>
          <a:p>
            <a:pPr algn="l">
              <a:lnSpc>
                <a:spcPts val="2877"/>
              </a:lnSpc>
            </a:pPr>
            <a:r>
              <a:rPr lang="en-US" sz="1855" b="1">
                <a:solidFill>
                  <a:srgbClr val="CBD5E1"/>
                </a:solidFill>
                <a:latin typeface="Inter Bold"/>
                <a:ea typeface="Inter Bold"/>
                <a:cs typeface="Inter Bold"/>
                <a:sym typeface="Inter Bold"/>
              </a:rPr>
              <a:t>Core Philosophy:</a:t>
            </a:r>
            <a:r>
              <a:rPr lang="en-US" sz="1855">
                <a:solidFill>
                  <a:srgbClr val="CBD5E1"/>
                </a:solidFill>
                <a:latin typeface="Inter"/>
                <a:ea typeface="Inter"/>
                <a:cs typeface="Inter"/>
                <a:sym typeface="Inter"/>
              </a:rPr>
              <a:t> Transforming unstructured financial transactions into structured intelligence—automating categorization, flagging statistical spending outliers, forecasting upcoming monthly expenses, and tracking budget utilization.</a:t>
            </a:r>
          </a:p>
        </p:txBody>
      </p:sp>
      <p:grpSp>
        <p:nvGrpSpPr>
          <p:cNvPr id="13" name="Group 13"/>
          <p:cNvGrpSpPr/>
          <p:nvPr/>
        </p:nvGrpSpPr>
        <p:grpSpPr>
          <a:xfrm>
            <a:off x="4071938" y="7847181"/>
            <a:ext cx="2043112" cy="371475"/>
            <a:chOff x="0" y="0"/>
            <a:chExt cx="2724150" cy="495300"/>
          </a:xfrm>
        </p:grpSpPr>
        <p:sp>
          <p:nvSpPr>
            <p:cNvPr id="14" name="Freeform 14" descr="image.png"/>
            <p:cNvSpPr/>
            <p:nvPr/>
          </p:nvSpPr>
          <p:spPr>
            <a:xfrm>
              <a:off x="0" y="0"/>
              <a:ext cx="2724150" cy="495300"/>
            </a:xfrm>
            <a:custGeom>
              <a:avLst/>
              <a:gdLst/>
              <a:ahLst/>
              <a:cxnLst/>
              <a:rect l="l" t="t" r="r" b="b"/>
              <a:pathLst>
                <a:path w="2724150" h="495300">
                  <a:moveTo>
                    <a:pt x="0" y="0"/>
                  </a:moveTo>
                  <a:lnTo>
                    <a:pt x="2724150" y="0"/>
                  </a:lnTo>
                  <a:lnTo>
                    <a:pt x="2724150" y="495300"/>
                  </a:lnTo>
                  <a:lnTo>
                    <a:pt x="0" y="495300"/>
                  </a:lnTo>
                  <a:lnTo>
                    <a:pt x="0" y="0"/>
                  </a:lnTo>
                  <a:close/>
                </a:path>
              </a:pathLst>
            </a:custGeom>
            <a:blipFill>
              <a:blip r:embed="rId6"/>
              <a:stretch>
                <a:fillRect t="-5828" b="-5825"/>
              </a:stretch>
            </a:blipFill>
          </p:spPr>
        </p:sp>
      </p:grpSp>
      <p:grpSp>
        <p:nvGrpSpPr>
          <p:cNvPr id="15" name="Group 15"/>
          <p:cNvGrpSpPr/>
          <p:nvPr/>
        </p:nvGrpSpPr>
        <p:grpSpPr>
          <a:xfrm>
            <a:off x="6343650" y="7847181"/>
            <a:ext cx="2886075" cy="371475"/>
            <a:chOff x="0" y="0"/>
            <a:chExt cx="3848100" cy="495300"/>
          </a:xfrm>
        </p:grpSpPr>
        <p:sp>
          <p:nvSpPr>
            <p:cNvPr id="16" name="Freeform 16" descr="image.png"/>
            <p:cNvSpPr/>
            <p:nvPr/>
          </p:nvSpPr>
          <p:spPr>
            <a:xfrm>
              <a:off x="0" y="0"/>
              <a:ext cx="3848100" cy="495300"/>
            </a:xfrm>
            <a:custGeom>
              <a:avLst/>
              <a:gdLst/>
              <a:ahLst/>
              <a:cxnLst/>
              <a:rect l="l" t="t" r="r" b="b"/>
              <a:pathLst>
                <a:path w="3848100" h="495300">
                  <a:moveTo>
                    <a:pt x="0" y="0"/>
                  </a:moveTo>
                  <a:lnTo>
                    <a:pt x="3848100" y="0"/>
                  </a:lnTo>
                  <a:lnTo>
                    <a:pt x="3848100" y="495300"/>
                  </a:lnTo>
                  <a:lnTo>
                    <a:pt x="0" y="495300"/>
                  </a:lnTo>
                  <a:lnTo>
                    <a:pt x="0" y="0"/>
                  </a:lnTo>
                  <a:close/>
                </a:path>
              </a:pathLst>
            </a:custGeom>
            <a:blipFill>
              <a:blip r:embed="rId7"/>
              <a:stretch>
                <a:fillRect t="-4628" b="-4625"/>
              </a:stretch>
            </a:blipFill>
          </p:spPr>
        </p:sp>
      </p:grpSp>
      <p:grpSp>
        <p:nvGrpSpPr>
          <p:cNvPr id="17" name="Group 17"/>
          <p:cNvGrpSpPr/>
          <p:nvPr/>
        </p:nvGrpSpPr>
        <p:grpSpPr>
          <a:xfrm>
            <a:off x="9458325" y="7847181"/>
            <a:ext cx="2443162" cy="371475"/>
            <a:chOff x="0" y="0"/>
            <a:chExt cx="3257550" cy="495300"/>
          </a:xfrm>
        </p:grpSpPr>
        <p:sp>
          <p:nvSpPr>
            <p:cNvPr id="18" name="Freeform 18" descr="image.png"/>
            <p:cNvSpPr/>
            <p:nvPr/>
          </p:nvSpPr>
          <p:spPr>
            <a:xfrm>
              <a:off x="0" y="0"/>
              <a:ext cx="3257550" cy="495300"/>
            </a:xfrm>
            <a:custGeom>
              <a:avLst/>
              <a:gdLst/>
              <a:ahLst/>
              <a:cxnLst/>
              <a:rect l="l" t="t" r="r" b="b"/>
              <a:pathLst>
                <a:path w="3257550" h="495300">
                  <a:moveTo>
                    <a:pt x="0" y="0"/>
                  </a:moveTo>
                  <a:lnTo>
                    <a:pt x="3257550" y="0"/>
                  </a:lnTo>
                  <a:lnTo>
                    <a:pt x="3257550" y="495300"/>
                  </a:lnTo>
                  <a:lnTo>
                    <a:pt x="0" y="495300"/>
                  </a:lnTo>
                  <a:lnTo>
                    <a:pt x="0" y="0"/>
                  </a:lnTo>
                  <a:close/>
                </a:path>
              </a:pathLst>
            </a:custGeom>
            <a:blipFill>
              <a:blip r:embed="rId8"/>
              <a:stretch>
                <a:fillRect t="-7282" b="-7284"/>
              </a:stretch>
            </a:blipFill>
          </p:spPr>
        </p:sp>
      </p:grpSp>
      <p:grpSp>
        <p:nvGrpSpPr>
          <p:cNvPr id="19" name="Group 19"/>
          <p:cNvGrpSpPr/>
          <p:nvPr/>
        </p:nvGrpSpPr>
        <p:grpSpPr>
          <a:xfrm>
            <a:off x="12130088" y="7847181"/>
            <a:ext cx="2085975" cy="371475"/>
            <a:chOff x="0" y="0"/>
            <a:chExt cx="2781300" cy="495300"/>
          </a:xfrm>
        </p:grpSpPr>
        <p:sp>
          <p:nvSpPr>
            <p:cNvPr id="20" name="Freeform 20" descr="image.png"/>
            <p:cNvSpPr/>
            <p:nvPr/>
          </p:nvSpPr>
          <p:spPr>
            <a:xfrm>
              <a:off x="0" y="0"/>
              <a:ext cx="2781300" cy="495300"/>
            </a:xfrm>
            <a:custGeom>
              <a:avLst/>
              <a:gdLst/>
              <a:ahLst/>
              <a:cxnLst/>
              <a:rect l="l" t="t" r="r" b="b"/>
              <a:pathLst>
                <a:path w="2781300" h="495300">
                  <a:moveTo>
                    <a:pt x="0" y="0"/>
                  </a:moveTo>
                  <a:lnTo>
                    <a:pt x="2781300" y="0"/>
                  </a:lnTo>
                  <a:lnTo>
                    <a:pt x="2781300" y="495300"/>
                  </a:lnTo>
                  <a:lnTo>
                    <a:pt x="0" y="495300"/>
                  </a:lnTo>
                  <a:lnTo>
                    <a:pt x="0" y="0"/>
                  </a:lnTo>
                  <a:close/>
                </a:path>
              </a:pathLst>
            </a:custGeom>
            <a:blipFill>
              <a:blip r:embed="rId9"/>
              <a:stretch>
                <a:fillRect t="-7430" b="-7428"/>
              </a:stretch>
            </a:blipFill>
          </p:spPr>
        </p:sp>
      </p:grpSp>
      <p:grpSp>
        <p:nvGrpSpPr>
          <p:cNvPr id="21" name="Group 21"/>
          <p:cNvGrpSpPr/>
          <p:nvPr/>
        </p:nvGrpSpPr>
        <p:grpSpPr>
          <a:xfrm>
            <a:off x="5900738" y="6704181"/>
            <a:ext cx="157162" cy="185738"/>
            <a:chOff x="0" y="0"/>
            <a:chExt cx="209550" cy="247650"/>
          </a:xfrm>
        </p:grpSpPr>
        <p:sp>
          <p:nvSpPr>
            <p:cNvPr id="22" name="Freeform 22" descr="image.png"/>
            <p:cNvSpPr/>
            <p:nvPr/>
          </p:nvSpPr>
          <p:spPr>
            <a:xfrm>
              <a:off x="0" y="0"/>
              <a:ext cx="209550" cy="247650"/>
            </a:xfrm>
            <a:custGeom>
              <a:avLst/>
              <a:gdLst/>
              <a:ahLst/>
              <a:cxnLst/>
              <a:rect l="l" t="t" r="r" b="b"/>
              <a:pathLst>
                <a:path w="209550" h="247650">
                  <a:moveTo>
                    <a:pt x="0" y="0"/>
                  </a:moveTo>
                  <a:lnTo>
                    <a:pt x="209550" y="0"/>
                  </a:lnTo>
                  <a:lnTo>
                    <a:pt x="209550" y="247650"/>
                  </a:lnTo>
                  <a:lnTo>
                    <a:pt x="0" y="247650"/>
                  </a:lnTo>
                  <a:lnTo>
                    <a:pt x="0" y="0"/>
                  </a:lnTo>
                  <a:close/>
                </a:path>
              </a:pathLst>
            </a:custGeom>
            <a:blipFill>
              <a:blip r:embed="rId10"/>
              <a:stretch>
                <a:fillRect t="-3846" b="-3846"/>
              </a:stretch>
            </a:blipFill>
          </p:spPr>
        </p:sp>
      </p:grpSp>
      <p:grpSp>
        <p:nvGrpSpPr>
          <p:cNvPr id="23" name="Group 23"/>
          <p:cNvGrpSpPr/>
          <p:nvPr/>
        </p:nvGrpSpPr>
        <p:grpSpPr>
          <a:xfrm>
            <a:off x="8386762" y="6704181"/>
            <a:ext cx="157162" cy="185738"/>
            <a:chOff x="0" y="0"/>
            <a:chExt cx="209550" cy="247650"/>
          </a:xfrm>
        </p:grpSpPr>
        <p:sp>
          <p:nvSpPr>
            <p:cNvPr id="24" name="Freeform 24" descr="image.png"/>
            <p:cNvSpPr/>
            <p:nvPr/>
          </p:nvSpPr>
          <p:spPr>
            <a:xfrm>
              <a:off x="0" y="0"/>
              <a:ext cx="209550" cy="247650"/>
            </a:xfrm>
            <a:custGeom>
              <a:avLst/>
              <a:gdLst/>
              <a:ahLst/>
              <a:cxnLst/>
              <a:rect l="l" t="t" r="r" b="b"/>
              <a:pathLst>
                <a:path w="209550" h="247650">
                  <a:moveTo>
                    <a:pt x="0" y="0"/>
                  </a:moveTo>
                  <a:lnTo>
                    <a:pt x="209550" y="0"/>
                  </a:lnTo>
                  <a:lnTo>
                    <a:pt x="209550" y="247650"/>
                  </a:lnTo>
                  <a:lnTo>
                    <a:pt x="0" y="247650"/>
                  </a:lnTo>
                  <a:lnTo>
                    <a:pt x="0" y="0"/>
                  </a:lnTo>
                  <a:close/>
                </a:path>
              </a:pathLst>
            </a:custGeom>
            <a:blipFill>
              <a:blip r:embed="rId10"/>
              <a:stretch>
                <a:fillRect t="-3846" b="-3846"/>
              </a:stretch>
            </a:blipFill>
          </p:spPr>
        </p:sp>
      </p:grpSp>
      <p:grpSp>
        <p:nvGrpSpPr>
          <p:cNvPr id="25" name="Group 25"/>
          <p:cNvGrpSpPr/>
          <p:nvPr/>
        </p:nvGrpSpPr>
        <p:grpSpPr>
          <a:xfrm>
            <a:off x="11029950" y="6704181"/>
            <a:ext cx="157162" cy="185738"/>
            <a:chOff x="0" y="0"/>
            <a:chExt cx="209550" cy="247650"/>
          </a:xfrm>
        </p:grpSpPr>
        <p:sp>
          <p:nvSpPr>
            <p:cNvPr id="26" name="Freeform 26" descr="image.png"/>
            <p:cNvSpPr/>
            <p:nvPr/>
          </p:nvSpPr>
          <p:spPr>
            <a:xfrm>
              <a:off x="0" y="0"/>
              <a:ext cx="209550" cy="247650"/>
            </a:xfrm>
            <a:custGeom>
              <a:avLst/>
              <a:gdLst/>
              <a:ahLst/>
              <a:cxnLst/>
              <a:rect l="l" t="t" r="r" b="b"/>
              <a:pathLst>
                <a:path w="209550" h="247650">
                  <a:moveTo>
                    <a:pt x="0" y="0"/>
                  </a:moveTo>
                  <a:lnTo>
                    <a:pt x="209550" y="0"/>
                  </a:lnTo>
                  <a:lnTo>
                    <a:pt x="209550" y="247650"/>
                  </a:lnTo>
                  <a:lnTo>
                    <a:pt x="0" y="247650"/>
                  </a:lnTo>
                  <a:lnTo>
                    <a:pt x="0" y="0"/>
                  </a:lnTo>
                  <a:close/>
                </a:path>
              </a:pathLst>
            </a:custGeom>
            <a:blipFill>
              <a:blip r:embed="rId10"/>
              <a:stretch>
                <a:fillRect t="-3846" b="-3846"/>
              </a:stretch>
            </a:blipFill>
          </p:spPr>
        </p:sp>
      </p:grpSp>
      <p:grpSp>
        <p:nvGrpSpPr>
          <p:cNvPr id="27" name="Group 27"/>
          <p:cNvGrpSpPr/>
          <p:nvPr/>
        </p:nvGrpSpPr>
        <p:grpSpPr>
          <a:xfrm>
            <a:off x="4243388" y="7947193"/>
            <a:ext cx="157162" cy="185738"/>
            <a:chOff x="0" y="0"/>
            <a:chExt cx="209550" cy="247650"/>
          </a:xfrm>
        </p:grpSpPr>
        <p:sp>
          <p:nvSpPr>
            <p:cNvPr id="28" name="Freeform 28" descr="image.png"/>
            <p:cNvSpPr/>
            <p:nvPr/>
          </p:nvSpPr>
          <p:spPr>
            <a:xfrm>
              <a:off x="0" y="0"/>
              <a:ext cx="209550" cy="247650"/>
            </a:xfrm>
            <a:custGeom>
              <a:avLst/>
              <a:gdLst/>
              <a:ahLst/>
              <a:cxnLst/>
              <a:rect l="l" t="t" r="r" b="b"/>
              <a:pathLst>
                <a:path w="209550" h="247650">
                  <a:moveTo>
                    <a:pt x="0" y="0"/>
                  </a:moveTo>
                  <a:lnTo>
                    <a:pt x="209550" y="0"/>
                  </a:lnTo>
                  <a:lnTo>
                    <a:pt x="209550" y="247650"/>
                  </a:lnTo>
                  <a:lnTo>
                    <a:pt x="0" y="247650"/>
                  </a:lnTo>
                  <a:lnTo>
                    <a:pt x="0" y="0"/>
                  </a:lnTo>
                  <a:close/>
                </a:path>
              </a:pathLst>
            </a:custGeom>
            <a:blipFill>
              <a:blip r:embed="rId11"/>
              <a:stretch>
                <a:fillRect t="-3846" b="-3846"/>
              </a:stretch>
            </a:blipFill>
          </p:spPr>
        </p:sp>
      </p:grpSp>
      <p:grpSp>
        <p:nvGrpSpPr>
          <p:cNvPr id="29" name="Group 29"/>
          <p:cNvGrpSpPr/>
          <p:nvPr/>
        </p:nvGrpSpPr>
        <p:grpSpPr>
          <a:xfrm>
            <a:off x="6515100" y="7947193"/>
            <a:ext cx="157162" cy="185738"/>
            <a:chOff x="0" y="0"/>
            <a:chExt cx="209550" cy="247650"/>
          </a:xfrm>
        </p:grpSpPr>
        <p:sp>
          <p:nvSpPr>
            <p:cNvPr id="30" name="Freeform 30" descr="image.png"/>
            <p:cNvSpPr/>
            <p:nvPr/>
          </p:nvSpPr>
          <p:spPr>
            <a:xfrm>
              <a:off x="0" y="0"/>
              <a:ext cx="209550" cy="247650"/>
            </a:xfrm>
            <a:custGeom>
              <a:avLst/>
              <a:gdLst/>
              <a:ahLst/>
              <a:cxnLst/>
              <a:rect l="l" t="t" r="r" b="b"/>
              <a:pathLst>
                <a:path w="209550" h="247650">
                  <a:moveTo>
                    <a:pt x="0" y="0"/>
                  </a:moveTo>
                  <a:lnTo>
                    <a:pt x="209550" y="0"/>
                  </a:lnTo>
                  <a:lnTo>
                    <a:pt x="209550" y="247650"/>
                  </a:lnTo>
                  <a:lnTo>
                    <a:pt x="0" y="247650"/>
                  </a:lnTo>
                  <a:lnTo>
                    <a:pt x="0" y="0"/>
                  </a:lnTo>
                  <a:close/>
                </a:path>
              </a:pathLst>
            </a:custGeom>
            <a:blipFill>
              <a:blip r:embed="rId12"/>
              <a:stretch>
                <a:fillRect t="-3846" b="-3846"/>
              </a:stretch>
            </a:blipFill>
          </p:spPr>
        </p:sp>
      </p:grpSp>
      <p:grpSp>
        <p:nvGrpSpPr>
          <p:cNvPr id="31" name="Group 31"/>
          <p:cNvGrpSpPr/>
          <p:nvPr/>
        </p:nvGrpSpPr>
        <p:grpSpPr>
          <a:xfrm>
            <a:off x="9629775" y="7947193"/>
            <a:ext cx="228600" cy="185738"/>
            <a:chOff x="0" y="0"/>
            <a:chExt cx="304800" cy="247650"/>
          </a:xfrm>
        </p:grpSpPr>
        <p:sp>
          <p:nvSpPr>
            <p:cNvPr id="32" name="Freeform 32" descr="image.png"/>
            <p:cNvSpPr/>
            <p:nvPr/>
          </p:nvSpPr>
          <p:spPr>
            <a:xfrm>
              <a:off x="0" y="0"/>
              <a:ext cx="304800" cy="247650"/>
            </a:xfrm>
            <a:custGeom>
              <a:avLst/>
              <a:gdLst/>
              <a:ahLst/>
              <a:cxnLst/>
              <a:rect l="l" t="t" r="r" b="b"/>
              <a:pathLst>
                <a:path w="304800" h="247650">
                  <a:moveTo>
                    <a:pt x="0" y="0"/>
                  </a:moveTo>
                  <a:lnTo>
                    <a:pt x="304800" y="0"/>
                  </a:lnTo>
                  <a:lnTo>
                    <a:pt x="304800" y="247650"/>
                  </a:lnTo>
                  <a:lnTo>
                    <a:pt x="0" y="247650"/>
                  </a:lnTo>
                  <a:lnTo>
                    <a:pt x="0" y="0"/>
                  </a:lnTo>
                  <a:close/>
                </a:path>
              </a:pathLst>
            </a:custGeom>
            <a:blipFill>
              <a:blip r:embed="rId13"/>
              <a:stretch>
                <a:fillRect t="-3846" b="-3846"/>
              </a:stretch>
            </a:blipFill>
          </p:spPr>
        </p:sp>
      </p:grpSp>
      <p:grpSp>
        <p:nvGrpSpPr>
          <p:cNvPr id="33" name="Group 33"/>
          <p:cNvGrpSpPr/>
          <p:nvPr/>
        </p:nvGrpSpPr>
        <p:grpSpPr>
          <a:xfrm>
            <a:off x="12301538" y="7947193"/>
            <a:ext cx="214312" cy="185738"/>
            <a:chOff x="0" y="0"/>
            <a:chExt cx="285750" cy="247650"/>
          </a:xfrm>
        </p:grpSpPr>
        <p:sp>
          <p:nvSpPr>
            <p:cNvPr id="34" name="Freeform 34" descr="image.png"/>
            <p:cNvSpPr/>
            <p:nvPr/>
          </p:nvSpPr>
          <p:spPr>
            <a:xfrm>
              <a:off x="0" y="0"/>
              <a:ext cx="285750" cy="247650"/>
            </a:xfrm>
            <a:custGeom>
              <a:avLst/>
              <a:gdLst/>
              <a:ahLst/>
              <a:cxnLst/>
              <a:rect l="l" t="t" r="r" b="b"/>
              <a:pathLst>
                <a:path w="285750" h="247650">
                  <a:moveTo>
                    <a:pt x="0" y="0"/>
                  </a:moveTo>
                  <a:lnTo>
                    <a:pt x="285750" y="0"/>
                  </a:lnTo>
                  <a:lnTo>
                    <a:pt x="285750" y="247650"/>
                  </a:lnTo>
                  <a:lnTo>
                    <a:pt x="0" y="247650"/>
                  </a:lnTo>
                  <a:lnTo>
                    <a:pt x="0" y="0"/>
                  </a:lnTo>
                  <a:close/>
                </a:path>
              </a:pathLst>
            </a:custGeom>
            <a:blipFill>
              <a:blip r:embed="rId14"/>
              <a:stretch>
                <a:fillRect t="-3846" b="-3846"/>
              </a:stretch>
            </a:blipFill>
          </p:spPr>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sp>
      </p:grpSp>
      <p:grpSp>
        <p:nvGrpSpPr>
          <p:cNvPr id="4" name="Group 4"/>
          <p:cNvGrpSpPr/>
          <p:nvPr/>
        </p:nvGrpSpPr>
        <p:grpSpPr>
          <a:xfrm>
            <a:off x="642938" y="3191466"/>
            <a:ext cx="8329612" cy="4932759"/>
            <a:chOff x="0" y="0"/>
            <a:chExt cx="11106150" cy="6577012"/>
          </a:xfrm>
        </p:grpSpPr>
        <p:sp>
          <p:nvSpPr>
            <p:cNvPr id="5" name="Freeform 5" descr="image.png"/>
            <p:cNvSpPr/>
            <p:nvPr/>
          </p:nvSpPr>
          <p:spPr>
            <a:xfrm>
              <a:off x="0" y="0"/>
              <a:ext cx="11106150" cy="6576949"/>
            </a:xfrm>
            <a:custGeom>
              <a:avLst/>
              <a:gdLst/>
              <a:ahLst/>
              <a:cxnLst/>
              <a:rect l="l" t="t" r="r" b="b"/>
              <a:pathLst>
                <a:path w="11106150" h="6576949">
                  <a:moveTo>
                    <a:pt x="0" y="0"/>
                  </a:moveTo>
                  <a:lnTo>
                    <a:pt x="11106150" y="0"/>
                  </a:lnTo>
                  <a:lnTo>
                    <a:pt x="11106150" y="6576949"/>
                  </a:lnTo>
                  <a:lnTo>
                    <a:pt x="0" y="6576949"/>
                  </a:lnTo>
                  <a:lnTo>
                    <a:pt x="0" y="0"/>
                  </a:lnTo>
                  <a:close/>
                </a:path>
              </a:pathLst>
            </a:custGeom>
            <a:blipFill>
              <a:blip r:embed="rId3"/>
              <a:stretch>
                <a:fillRect t="-22" b="-23"/>
              </a:stretch>
            </a:blipFill>
          </p:spPr>
        </p:sp>
      </p:grpSp>
      <p:grpSp>
        <p:nvGrpSpPr>
          <p:cNvPr id="6" name="Group 6"/>
          <p:cNvGrpSpPr/>
          <p:nvPr/>
        </p:nvGrpSpPr>
        <p:grpSpPr>
          <a:xfrm>
            <a:off x="9315450" y="3191466"/>
            <a:ext cx="8329612" cy="4932759"/>
            <a:chOff x="0" y="0"/>
            <a:chExt cx="11106150" cy="6577012"/>
          </a:xfrm>
        </p:grpSpPr>
        <p:sp>
          <p:nvSpPr>
            <p:cNvPr id="7" name="Freeform 7" descr="image.png"/>
            <p:cNvSpPr/>
            <p:nvPr/>
          </p:nvSpPr>
          <p:spPr>
            <a:xfrm>
              <a:off x="0" y="0"/>
              <a:ext cx="11106150" cy="6576949"/>
            </a:xfrm>
            <a:custGeom>
              <a:avLst/>
              <a:gdLst/>
              <a:ahLst/>
              <a:cxnLst/>
              <a:rect l="l" t="t" r="r" b="b"/>
              <a:pathLst>
                <a:path w="11106150" h="6576949">
                  <a:moveTo>
                    <a:pt x="0" y="0"/>
                  </a:moveTo>
                  <a:lnTo>
                    <a:pt x="11106150" y="0"/>
                  </a:lnTo>
                  <a:lnTo>
                    <a:pt x="11106150" y="6576949"/>
                  </a:lnTo>
                  <a:lnTo>
                    <a:pt x="0" y="6576949"/>
                  </a:lnTo>
                  <a:lnTo>
                    <a:pt x="0" y="0"/>
                  </a:lnTo>
                  <a:close/>
                </a:path>
              </a:pathLst>
            </a:custGeom>
            <a:blipFill>
              <a:blip r:embed="rId4"/>
              <a:stretch>
                <a:fillRect t="-22" b="-23"/>
              </a:stretch>
            </a:blipFill>
          </p:spPr>
        </p:sp>
      </p:grpSp>
      <p:sp>
        <p:nvSpPr>
          <p:cNvPr id="8" name="TextBox 8"/>
          <p:cNvSpPr txBox="1"/>
          <p:nvPr/>
        </p:nvSpPr>
        <p:spPr>
          <a:xfrm>
            <a:off x="642938" y="490537"/>
            <a:ext cx="10493578" cy="566737"/>
          </a:xfrm>
          <a:prstGeom prst="rect">
            <a:avLst/>
          </a:prstGeom>
        </p:spPr>
        <p:txBody>
          <a:bodyPr lIns="0" tIns="0" rIns="0" bIns="0" rtlCol="0" anchor="t">
            <a:spAutoFit/>
          </a:bodyPr>
          <a:lstStyle/>
          <a:p>
            <a:pPr algn="l">
              <a:lnSpc>
                <a:spcPts val="4320"/>
              </a:lnSpc>
            </a:pPr>
            <a:r>
              <a:rPr lang="en-US" sz="3600" b="1">
                <a:solidFill>
                  <a:srgbClr val="064E3B"/>
                </a:solidFill>
                <a:latin typeface="Inter Bold"/>
                <a:ea typeface="Inter Bold"/>
                <a:cs typeface="Inter Bold"/>
                <a:sym typeface="Inter Bold"/>
              </a:rPr>
              <a:t>The Problem: Personal Finance Fragmentation</a:t>
            </a:r>
          </a:p>
        </p:txBody>
      </p:sp>
      <p:grpSp>
        <p:nvGrpSpPr>
          <p:cNvPr id="9" name="Group 9"/>
          <p:cNvGrpSpPr/>
          <p:nvPr/>
        </p:nvGrpSpPr>
        <p:grpSpPr>
          <a:xfrm>
            <a:off x="14955212" y="628650"/>
            <a:ext cx="2689841" cy="428625"/>
            <a:chOff x="0" y="0"/>
            <a:chExt cx="3586455" cy="571500"/>
          </a:xfrm>
        </p:grpSpPr>
        <p:sp>
          <p:nvSpPr>
            <p:cNvPr id="10" name="Freeform 10" descr="image.png"/>
            <p:cNvSpPr/>
            <p:nvPr/>
          </p:nvSpPr>
          <p:spPr>
            <a:xfrm>
              <a:off x="0" y="0"/>
              <a:ext cx="3586480" cy="571500"/>
            </a:xfrm>
            <a:custGeom>
              <a:avLst/>
              <a:gdLst/>
              <a:ahLst/>
              <a:cxnLst/>
              <a:rect l="l" t="t" r="r" b="b"/>
              <a:pathLst>
                <a:path w="3586480" h="571500">
                  <a:moveTo>
                    <a:pt x="0" y="0"/>
                  </a:moveTo>
                  <a:lnTo>
                    <a:pt x="3586480" y="0"/>
                  </a:lnTo>
                  <a:lnTo>
                    <a:pt x="3586480" y="571500"/>
                  </a:lnTo>
                  <a:lnTo>
                    <a:pt x="0" y="571500"/>
                  </a:lnTo>
                  <a:lnTo>
                    <a:pt x="0" y="0"/>
                  </a:lnTo>
                  <a:close/>
                </a:path>
              </a:pathLst>
            </a:custGeom>
            <a:blipFill>
              <a:blip r:embed="rId5"/>
              <a:stretch>
                <a:fillRect l="-195" r="-194"/>
              </a:stretch>
            </a:blipFill>
          </p:spPr>
        </p:sp>
      </p:grpSp>
      <p:grpSp>
        <p:nvGrpSpPr>
          <p:cNvPr id="11" name="Group 11"/>
          <p:cNvGrpSpPr/>
          <p:nvPr/>
        </p:nvGrpSpPr>
        <p:grpSpPr>
          <a:xfrm>
            <a:off x="1357312" y="3520078"/>
            <a:ext cx="7650956" cy="328612"/>
            <a:chOff x="0" y="0"/>
            <a:chExt cx="10201275" cy="438150"/>
          </a:xfrm>
        </p:grpSpPr>
        <p:sp>
          <p:nvSpPr>
            <p:cNvPr id="12" name="Freeform 12"/>
            <p:cNvSpPr/>
            <p:nvPr/>
          </p:nvSpPr>
          <p:spPr>
            <a:xfrm>
              <a:off x="0" y="0"/>
              <a:ext cx="10201274" cy="438150"/>
            </a:xfrm>
            <a:custGeom>
              <a:avLst/>
              <a:gdLst/>
              <a:ahLst/>
              <a:cxnLst/>
              <a:rect l="l" t="t" r="r" b="b"/>
              <a:pathLst>
                <a:path w="10201274" h="438150">
                  <a:moveTo>
                    <a:pt x="0" y="0"/>
                  </a:moveTo>
                  <a:lnTo>
                    <a:pt x="10201274" y="0"/>
                  </a:lnTo>
                  <a:lnTo>
                    <a:pt x="10201274" y="438150"/>
                  </a:lnTo>
                  <a:lnTo>
                    <a:pt x="0" y="438150"/>
                  </a:lnTo>
                  <a:close/>
                </a:path>
              </a:pathLst>
            </a:custGeom>
            <a:blipFill>
              <a:blip r:embed="rId6">
                <a:alphaModFix amt="0"/>
              </a:blip>
              <a:stretch>
                <a:fillRect t="-403662" b="-403662"/>
              </a:stretch>
            </a:blipFill>
          </p:spPr>
        </p:sp>
        <p:sp>
          <p:nvSpPr>
            <p:cNvPr id="13" name="TextBox 13"/>
            <p:cNvSpPr txBox="1"/>
            <p:nvPr/>
          </p:nvSpPr>
          <p:spPr>
            <a:xfrm>
              <a:off x="0" y="0"/>
              <a:ext cx="10201275" cy="438150"/>
            </a:xfrm>
            <a:prstGeom prst="rect">
              <a:avLst/>
            </a:prstGeom>
          </p:spPr>
          <p:txBody>
            <a:bodyPr lIns="0" tIns="0" rIns="0" bIns="0" rtlCol="0" anchor="ctr"/>
            <a:lstStyle/>
            <a:p>
              <a:pPr algn="l">
                <a:lnSpc>
                  <a:spcPts val="2565"/>
                </a:lnSpc>
              </a:pPr>
              <a:r>
                <a:rPr lang="en-US" sz="2137">
                  <a:solidFill>
                    <a:srgbClr val="991B1B"/>
                  </a:solidFill>
                  <a:latin typeface="Inter"/>
                  <a:ea typeface="Inter"/>
                  <a:cs typeface="Inter"/>
                  <a:sym typeface="Inter"/>
                </a:rPr>
                <a:t>Current Challenges</a:t>
              </a:r>
            </a:p>
          </p:txBody>
        </p:sp>
      </p:grpSp>
      <p:sp>
        <p:nvSpPr>
          <p:cNvPr id="14" name="TextBox 14"/>
          <p:cNvSpPr txBox="1"/>
          <p:nvPr/>
        </p:nvSpPr>
        <p:spPr>
          <a:xfrm>
            <a:off x="971550" y="3934416"/>
            <a:ext cx="7672388" cy="721519"/>
          </a:xfrm>
          <a:prstGeom prst="rect">
            <a:avLst/>
          </a:prstGeom>
        </p:spPr>
        <p:txBody>
          <a:bodyPr lIns="0" tIns="0" rIns="0" bIns="0" rtlCol="0" anchor="t">
            <a:spAutoFit/>
          </a:bodyPr>
          <a:lstStyle/>
          <a:p>
            <a:pPr algn="l">
              <a:lnSpc>
                <a:spcPts val="2614"/>
              </a:lnSpc>
            </a:pPr>
            <a:r>
              <a:rPr lang="en-US" sz="1743">
                <a:solidFill>
                  <a:srgbClr val="64748B"/>
                </a:solidFill>
                <a:latin typeface="Inter"/>
                <a:ea typeface="Inter"/>
                <a:cs typeface="Inter"/>
                <a:sym typeface="Inter"/>
              </a:rPr>
              <a:t>Managing personal finances across multiple payment methods manually results in data chaos:</a:t>
            </a:r>
          </a:p>
        </p:txBody>
      </p:sp>
      <p:grpSp>
        <p:nvGrpSpPr>
          <p:cNvPr id="15" name="Group 15"/>
          <p:cNvGrpSpPr/>
          <p:nvPr/>
        </p:nvGrpSpPr>
        <p:grpSpPr>
          <a:xfrm>
            <a:off x="10029825" y="3520078"/>
            <a:ext cx="7650956" cy="328612"/>
            <a:chOff x="0" y="0"/>
            <a:chExt cx="10201275" cy="438150"/>
          </a:xfrm>
        </p:grpSpPr>
        <p:sp>
          <p:nvSpPr>
            <p:cNvPr id="16" name="Freeform 16"/>
            <p:cNvSpPr/>
            <p:nvPr/>
          </p:nvSpPr>
          <p:spPr>
            <a:xfrm>
              <a:off x="0" y="0"/>
              <a:ext cx="10201274" cy="438150"/>
            </a:xfrm>
            <a:custGeom>
              <a:avLst/>
              <a:gdLst/>
              <a:ahLst/>
              <a:cxnLst/>
              <a:rect l="l" t="t" r="r" b="b"/>
              <a:pathLst>
                <a:path w="10201274" h="438150">
                  <a:moveTo>
                    <a:pt x="0" y="0"/>
                  </a:moveTo>
                  <a:lnTo>
                    <a:pt x="10201274" y="0"/>
                  </a:lnTo>
                  <a:lnTo>
                    <a:pt x="10201274" y="438150"/>
                  </a:lnTo>
                  <a:lnTo>
                    <a:pt x="0" y="438150"/>
                  </a:lnTo>
                  <a:close/>
                </a:path>
              </a:pathLst>
            </a:custGeom>
            <a:blipFill>
              <a:blip r:embed="rId6">
                <a:alphaModFix amt="0"/>
              </a:blip>
              <a:stretch>
                <a:fillRect t="-403662" b="-403662"/>
              </a:stretch>
            </a:blipFill>
          </p:spPr>
        </p:sp>
        <p:sp>
          <p:nvSpPr>
            <p:cNvPr id="17" name="TextBox 17"/>
            <p:cNvSpPr txBox="1"/>
            <p:nvPr/>
          </p:nvSpPr>
          <p:spPr>
            <a:xfrm>
              <a:off x="0" y="0"/>
              <a:ext cx="10201275" cy="438150"/>
            </a:xfrm>
            <a:prstGeom prst="rect">
              <a:avLst/>
            </a:prstGeom>
          </p:spPr>
          <p:txBody>
            <a:bodyPr lIns="0" tIns="0" rIns="0" bIns="0" rtlCol="0" anchor="ctr"/>
            <a:lstStyle/>
            <a:p>
              <a:pPr algn="l">
                <a:lnSpc>
                  <a:spcPts val="2565"/>
                </a:lnSpc>
              </a:pPr>
              <a:r>
                <a:rPr lang="en-US" sz="2137">
                  <a:solidFill>
                    <a:srgbClr val="064E3B"/>
                  </a:solidFill>
                  <a:latin typeface="Inter"/>
                  <a:ea typeface="Inter"/>
                  <a:cs typeface="Inter"/>
                  <a:sym typeface="Inter"/>
                </a:rPr>
                <a:t>Engineering Objectives</a:t>
              </a:r>
            </a:p>
          </p:txBody>
        </p:sp>
      </p:grpSp>
      <p:sp>
        <p:nvSpPr>
          <p:cNvPr id="18" name="TextBox 18"/>
          <p:cNvSpPr txBox="1"/>
          <p:nvPr/>
        </p:nvSpPr>
        <p:spPr>
          <a:xfrm>
            <a:off x="9644062" y="3934416"/>
            <a:ext cx="7672388" cy="721519"/>
          </a:xfrm>
          <a:prstGeom prst="rect">
            <a:avLst/>
          </a:prstGeom>
        </p:spPr>
        <p:txBody>
          <a:bodyPr lIns="0" tIns="0" rIns="0" bIns="0" rtlCol="0" anchor="t">
            <a:spAutoFit/>
          </a:bodyPr>
          <a:lstStyle/>
          <a:p>
            <a:pPr algn="l">
              <a:lnSpc>
                <a:spcPts val="2614"/>
              </a:lnSpc>
            </a:pPr>
            <a:r>
              <a:rPr lang="en-US" sz="1743">
                <a:solidFill>
                  <a:srgbClr val="64748B"/>
                </a:solidFill>
                <a:latin typeface="Inter"/>
                <a:ea typeface="Inter"/>
                <a:cs typeface="Inter"/>
                <a:sym typeface="Inter"/>
              </a:rPr>
              <a:t>Develop an end-to-end intelligent personal finance analytics system with key capabilities:</a:t>
            </a:r>
          </a:p>
        </p:txBody>
      </p:sp>
      <p:grpSp>
        <p:nvGrpSpPr>
          <p:cNvPr id="19" name="Group 19"/>
          <p:cNvGrpSpPr/>
          <p:nvPr/>
        </p:nvGrpSpPr>
        <p:grpSpPr>
          <a:xfrm>
            <a:off x="971550" y="3548653"/>
            <a:ext cx="271462" cy="271462"/>
            <a:chOff x="0" y="0"/>
            <a:chExt cx="361950" cy="361950"/>
          </a:xfrm>
        </p:grpSpPr>
        <p:sp>
          <p:nvSpPr>
            <p:cNvPr id="20" name="Freeform 20" descr="image.png"/>
            <p:cNvSpPr/>
            <p:nvPr/>
          </p:nvSpPr>
          <p:spPr>
            <a:xfrm>
              <a:off x="0" y="0"/>
              <a:ext cx="361950" cy="361950"/>
            </a:xfrm>
            <a:custGeom>
              <a:avLst/>
              <a:gdLst/>
              <a:ahLst/>
              <a:cxnLst/>
              <a:rect l="l" t="t" r="r" b="b"/>
              <a:pathLst>
                <a:path w="361950" h="361950">
                  <a:moveTo>
                    <a:pt x="0" y="0"/>
                  </a:moveTo>
                  <a:lnTo>
                    <a:pt x="361950" y="0"/>
                  </a:lnTo>
                  <a:lnTo>
                    <a:pt x="361950" y="361950"/>
                  </a:lnTo>
                  <a:lnTo>
                    <a:pt x="0" y="361950"/>
                  </a:lnTo>
                  <a:lnTo>
                    <a:pt x="0" y="0"/>
                  </a:lnTo>
                  <a:close/>
                </a:path>
              </a:pathLst>
            </a:custGeom>
            <a:blipFill>
              <a:blip r:embed="rId7"/>
              <a:stretch>
                <a:fillRect t="-2631" b="-2631"/>
              </a:stretch>
            </a:blipFill>
          </p:spPr>
        </p:sp>
      </p:grpSp>
      <p:sp>
        <p:nvSpPr>
          <p:cNvPr id="21" name="TextBox 21"/>
          <p:cNvSpPr txBox="1"/>
          <p:nvPr/>
        </p:nvSpPr>
        <p:spPr>
          <a:xfrm>
            <a:off x="1314450" y="4779759"/>
            <a:ext cx="7329488" cy="689667"/>
          </a:xfrm>
          <a:prstGeom prst="rect">
            <a:avLst/>
          </a:prstGeom>
        </p:spPr>
        <p:txBody>
          <a:bodyPr lIns="0" tIns="0" rIns="0" bIns="0" rtlCol="0" anchor="t">
            <a:spAutoFit/>
          </a:bodyPr>
          <a:lstStyle/>
          <a:p>
            <a:pPr algn="l">
              <a:lnSpc>
                <a:spcPts val="2527"/>
              </a:lnSpc>
            </a:pPr>
            <a:r>
              <a:rPr lang="en-US" sz="1743">
                <a:solidFill>
                  <a:srgbClr val="0F172A"/>
                </a:solidFill>
                <a:latin typeface="Inter"/>
                <a:ea typeface="Inter"/>
                <a:cs typeface="Inter"/>
                <a:sym typeface="Inter"/>
              </a:rPr>
              <a:t>Fragmented Records:</a:t>
            </a:r>
            <a:r>
              <a:rPr lang="en-US" sz="1743">
                <a:solidFill>
                  <a:srgbClr val="334155"/>
                </a:solidFill>
                <a:latin typeface="Inter"/>
                <a:ea typeface="Inter"/>
                <a:cs typeface="Inter"/>
                <a:sym typeface="Inter"/>
              </a:rPr>
              <a:t> Transactions scattered across statements, UPI apps &amp; cash.</a:t>
            </a:r>
          </a:p>
        </p:txBody>
      </p:sp>
      <p:sp>
        <p:nvSpPr>
          <p:cNvPr id="22" name="TextBox 22"/>
          <p:cNvSpPr txBox="1"/>
          <p:nvPr/>
        </p:nvSpPr>
        <p:spPr>
          <a:xfrm>
            <a:off x="1314450" y="5564686"/>
            <a:ext cx="7329488" cy="689667"/>
          </a:xfrm>
          <a:prstGeom prst="rect">
            <a:avLst/>
          </a:prstGeom>
        </p:spPr>
        <p:txBody>
          <a:bodyPr lIns="0" tIns="0" rIns="0" bIns="0" rtlCol="0" anchor="t">
            <a:spAutoFit/>
          </a:bodyPr>
          <a:lstStyle/>
          <a:p>
            <a:pPr algn="l">
              <a:lnSpc>
                <a:spcPts val="2527"/>
              </a:lnSpc>
            </a:pPr>
            <a:r>
              <a:rPr lang="en-US" sz="1743">
                <a:solidFill>
                  <a:srgbClr val="0F172A"/>
                </a:solidFill>
                <a:latin typeface="Inter"/>
                <a:ea typeface="Inter"/>
                <a:cs typeface="Inter"/>
                <a:sym typeface="Inter"/>
              </a:rPr>
              <a:t>Tedious Manual Categorization:</a:t>
            </a:r>
            <a:r>
              <a:rPr lang="en-US" sz="1743">
                <a:solidFill>
                  <a:srgbClr val="334155"/>
                </a:solidFill>
                <a:latin typeface="Inter"/>
                <a:ea typeface="Inter"/>
                <a:cs typeface="Inter"/>
                <a:sym typeface="Inter"/>
              </a:rPr>
              <a:t> High friction leads to unmaintained ledgers.</a:t>
            </a:r>
          </a:p>
        </p:txBody>
      </p:sp>
      <p:sp>
        <p:nvSpPr>
          <p:cNvPr id="23" name="TextBox 23"/>
          <p:cNvSpPr txBox="1"/>
          <p:nvPr/>
        </p:nvSpPr>
        <p:spPr>
          <a:xfrm>
            <a:off x="1314450" y="6349603"/>
            <a:ext cx="7329488" cy="689667"/>
          </a:xfrm>
          <a:prstGeom prst="rect">
            <a:avLst/>
          </a:prstGeom>
        </p:spPr>
        <p:txBody>
          <a:bodyPr lIns="0" tIns="0" rIns="0" bIns="0" rtlCol="0" anchor="t">
            <a:spAutoFit/>
          </a:bodyPr>
          <a:lstStyle/>
          <a:p>
            <a:pPr algn="l">
              <a:lnSpc>
                <a:spcPts val="2527"/>
              </a:lnSpc>
            </a:pPr>
            <a:r>
              <a:rPr lang="en-US" sz="1743">
                <a:solidFill>
                  <a:srgbClr val="0F172A"/>
                </a:solidFill>
                <a:latin typeface="Inter"/>
                <a:ea typeface="Inter"/>
                <a:cs typeface="Inter"/>
                <a:sym typeface="Inter"/>
              </a:rPr>
              <a:t>Undetected Spending Anomalies:</a:t>
            </a:r>
            <a:r>
              <a:rPr lang="en-US" sz="1743">
                <a:solidFill>
                  <a:srgbClr val="334155"/>
                </a:solidFill>
                <a:latin typeface="Inter"/>
                <a:ea typeface="Inter"/>
                <a:cs typeface="Inter"/>
                <a:sym typeface="Inter"/>
              </a:rPr>
              <a:t> Spikes and stealth subscriptions go unnoticed.</a:t>
            </a:r>
          </a:p>
        </p:txBody>
      </p:sp>
      <p:sp>
        <p:nvSpPr>
          <p:cNvPr id="24" name="TextBox 24"/>
          <p:cNvSpPr txBox="1"/>
          <p:nvPr/>
        </p:nvSpPr>
        <p:spPr>
          <a:xfrm>
            <a:off x="1314450" y="7134520"/>
            <a:ext cx="7329488" cy="689667"/>
          </a:xfrm>
          <a:prstGeom prst="rect">
            <a:avLst/>
          </a:prstGeom>
        </p:spPr>
        <p:txBody>
          <a:bodyPr lIns="0" tIns="0" rIns="0" bIns="0" rtlCol="0" anchor="t">
            <a:spAutoFit/>
          </a:bodyPr>
          <a:lstStyle/>
          <a:p>
            <a:pPr algn="l">
              <a:lnSpc>
                <a:spcPts val="2527"/>
              </a:lnSpc>
            </a:pPr>
            <a:r>
              <a:rPr lang="en-US" sz="1743">
                <a:solidFill>
                  <a:srgbClr val="0F172A"/>
                </a:solidFill>
                <a:latin typeface="Inter"/>
                <a:ea typeface="Inter"/>
                <a:cs typeface="Inter"/>
                <a:sym typeface="Inter"/>
              </a:rPr>
              <a:t>Zero Predictive Clarity:</a:t>
            </a:r>
            <a:r>
              <a:rPr lang="en-US" sz="1743">
                <a:solidFill>
                  <a:srgbClr val="334155"/>
                </a:solidFill>
                <a:latin typeface="Inter"/>
                <a:ea typeface="Inter"/>
                <a:cs typeface="Inter"/>
                <a:sym typeface="Inter"/>
              </a:rPr>
              <a:t> Inability to forecast end-of-month cash balances.</a:t>
            </a:r>
          </a:p>
        </p:txBody>
      </p:sp>
      <p:grpSp>
        <p:nvGrpSpPr>
          <p:cNvPr id="25" name="Group 25"/>
          <p:cNvGrpSpPr/>
          <p:nvPr/>
        </p:nvGrpSpPr>
        <p:grpSpPr>
          <a:xfrm>
            <a:off x="9644062" y="3548653"/>
            <a:ext cx="271462" cy="271462"/>
            <a:chOff x="0" y="0"/>
            <a:chExt cx="361950" cy="361950"/>
          </a:xfrm>
        </p:grpSpPr>
        <p:sp>
          <p:nvSpPr>
            <p:cNvPr id="26" name="Freeform 26" descr="image.png"/>
            <p:cNvSpPr/>
            <p:nvPr/>
          </p:nvSpPr>
          <p:spPr>
            <a:xfrm>
              <a:off x="0" y="0"/>
              <a:ext cx="361950" cy="361950"/>
            </a:xfrm>
            <a:custGeom>
              <a:avLst/>
              <a:gdLst/>
              <a:ahLst/>
              <a:cxnLst/>
              <a:rect l="l" t="t" r="r" b="b"/>
              <a:pathLst>
                <a:path w="361950" h="361950">
                  <a:moveTo>
                    <a:pt x="0" y="0"/>
                  </a:moveTo>
                  <a:lnTo>
                    <a:pt x="361950" y="0"/>
                  </a:lnTo>
                  <a:lnTo>
                    <a:pt x="361950" y="361950"/>
                  </a:lnTo>
                  <a:lnTo>
                    <a:pt x="0" y="361950"/>
                  </a:lnTo>
                  <a:lnTo>
                    <a:pt x="0" y="0"/>
                  </a:lnTo>
                  <a:close/>
                </a:path>
              </a:pathLst>
            </a:custGeom>
            <a:blipFill>
              <a:blip r:embed="rId8"/>
              <a:stretch>
                <a:fillRect t="-2631" b="-2631"/>
              </a:stretch>
            </a:blipFill>
          </p:spPr>
        </p:sp>
      </p:grpSp>
      <p:sp>
        <p:nvSpPr>
          <p:cNvPr id="27" name="TextBox 27"/>
          <p:cNvSpPr txBox="1"/>
          <p:nvPr/>
        </p:nvSpPr>
        <p:spPr>
          <a:xfrm>
            <a:off x="9986962" y="4779759"/>
            <a:ext cx="7329488" cy="689667"/>
          </a:xfrm>
          <a:prstGeom prst="rect">
            <a:avLst/>
          </a:prstGeom>
        </p:spPr>
        <p:txBody>
          <a:bodyPr lIns="0" tIns="0" rIns="0" bIns="0" rtlCol="0" anchor="t">
            <a:spAutoFit/>
          </a:bodyPr>
          <a:lstStyle/>
          <a:p>
            <a:pPr algn="l">
              <a:lnSpc>
                <a:spcPts val="2527"/>
              </a:lnSpc>
            </a:pPr>
            <a:r>
              <a:rPr lang="en-US" sz="1743">
                <a:solidFill>
                  <a:srgbClr val="0F172A"/>
                </a:solidFill>
                <a:latin typeface="Inter"/>
                <a:ea typeface="Inter"/>
                <a:cs typeface="Inter"/>
                <a:sym typeface="Inter"/>
              </a:rPr>
              <a:t>Unified Ledger:</a:t>
            </a:r>
            <a:r>
              <a:rPr lang="en-US" sz="1743">
                <a:solidFill>
                  <a:srgbClr val="334155"/>
                </a:solidFill>
                <a:latin typeface="Inter"/>
                <a:ea typeface="Inter"/>
                <a:cs typeface="Inter"/>
                <a:sym typeface="Inter"/>
              </a:rPr>
              <a:t> Support manual entry and batch CSV statement ingestion.</a:t>
            </a:r>
          </a:p>
        </p:txBody>
      </p:sp>
      <p:sp>
        <p:nvSpPr>
          <p:cNvPr id="28" name="TextBox 28"/>
          <p:cNvSpPr txBox="1"/>
          <p:nvPr/>
        </p:nvSpPr>
        <p:spPr>
          <a:xfrm>
            <a:off x="9986962" y="5564686"/>
            <a:ext cx="7329488" cy="689667"/>
          </a:xfrm>
          <a:prstGeom prst="rect">
            <a:avLst/>
          </a:prstGeom>
        </p:spPr>
        <p:txBody>
          <a:bodyPr lIns="0" tIns="0" rIns="0" bIns="0" rtlCol="0" anchor="t">
            <a:spAutoFit/>
          </a:bodyPr>
          <a:lstStyle/>
          <a:p>
            <a:pPr algn="l">
              <a:lnSpc>
                <a:spcPts val="2527"/>
              </a:lnSpc>
            </a:pPr>
            <a:r>
              <a:rPr lang="en-US" sz="1743">
                <a:solidFill>
                  <a:srgbClr val="0F172A"/>
                </a:solidFill>
                <a:latin typeface="Inter"/>
                <a:ea typeface="Inter"/>
                <a:cs typeface="Inter"/>
                <a:sym typeface="Inter"/>
              </a:rPr>
              <a:t>Automated NLP Tagging:</a:t>
            </a:r>
            <a:r>
              <a:rPr lang="en-US" sz="1743">
                <a:solidFill>
                  <a:srgbClr val="334155"/>
                </a:solidFill>
                <a:latin typeface="Inter"/>
                <a:ea typeface="Inter"/>
                <a:cs typeface="Inter"/>
                <a:sym typeface="Inter"/>
              </a:rPr>
              <a:t> Classify descriptions to Food, Travel, Bills, etc.</a:t>
            </a:r>
          </a:p>
        </p:txBody>
      </p:sp>
      <p:sp>
        <p:nvSpPr>
          <p:cNvPr id="29" name="TextBox 29"/>
          <p:cNvSpPr txBox="1"/>
          <p:nvPr/>
        </p:nvSpPr>
        <p:spPr>
          <a:xfrm>
            <a:off x="9986962" y="6349603"/>
            <a:ext cx="7329488" cy="368646"/>
          </a:xfrm>
          <a:prstGeom prst="rect">
            <a:avLst/>
          </a:prstGeom>
        </p:spPr>
        <p:txBody>
          <a:bodyPr lIns="0" tIns="0" rIns="0" bIns="0" rtlCol="0" anchor="t">
            <a:spAutoFit/>
          </a:bodyPr>
          <a:lstStyle/>
          <a:p>
            <a:pPr algn="l">
              <a:lnSpc>
                <a:spcPts val="2527"/>
              </a:lnSpc>
            </a:pPr>
            <a:r>
              <a:rPr lang="en-US" sz="1743">
                <a:solidFill>
                  <a:srgbClr val="0F172A"/>
                </a:solidFill>
                <a:latin typeface="Inter"/>
                <a:ea typeface="Inter"/>
                <a:cs typeface="Inter"/>
                <a:sym typeface="Inter"/>
              </a:rPr>
              <a:t>Isolation-Based Anomaly Flags:</a:t>
            </a:r>
            <a:r>
              <a:rPr lang="en-US" sz="1743">
                <a:solidFill>
                  <a:srgbClr val="334155"/>
                </a:solidFill>
                <a:latin typeface="Inter"/>
                <a:ea typeface="Inter"/>
                <a:cs typeface="Inter"/>
                <a:sym typeface="Inter"/>
              </a:rPr>
              <a:t> Spot statistical outliers automatically.</a:t>
            </a:r>
          </a:p>
        </p:txBody>
      </p:sp>
      <p:sp>
        <p:nvSpPr>
          <p:cNvPr id="30" name="TextBox 30"/>
          <p:cNvSpPr txBox="1"/>
          <p:nvPr/>
        </p:nvSpPr>
        <p:spPr>
          <a:xfrm>
            <a:off x="9986962" y="6813499"/>
            <a:ext cx="7329488" cy="689667"/>
          </a:xfrm>
          <a:prstGeom prst="rect">
            <a:avLst/>
          </a:prstGeom>
        </p:spPr>
        <p:txBody>
          <a:bodyPr lIns="0" tIns="0" rIns="0" bIns="0" rtlCol="0" anchor="t">
            <a:spAutoFit/>
          </a:bodyPr>
          <a:lstStyle/>
          <a:p>
            <a:pPr algn="l">
              <a:lnSpc>
                <a:spcPts val="2527"/>
              </a:lnSpc>
            </a:pPr>
            <a:r>
              <a:rPr lang="en-US" sz="1743">
                <a:solidFill>
                  <a:srgbClr val="0F172A"/>
                </a:solidFill>
                <a:latin typeface="Inter"/>
                <a:ea typeface="Inter"/>
                <a:cs typeface="Inter"/>
                <a:sym typeface="Inter"/>
              </a:rPr>
              <a:t>Dynamic Budget Monitoring:</a:t>
            </a:r>
            <a:r>
              <a:rPr lang="en-US" sz="1743">
                <a:solidFill>
                  <a:srgbClr val="334155"/>
                </a:solidFill>
                <a:latin typeface="Inter"/>
                <a:ea typeface="Inter"/>
                <a:cs typeface="Inter"/>
                <a:sym typeface="Inter"/>
              </a:rPr>
              <a:t> Real-time progress bars and overspending warnings.</a:t>
            </a:r>
          </a:p>
        </p:txBody>
      </p:sp>
      <p:grpSp>
        <p:nvGrpSpPr>
          <p:cNvPr id="31" name="Group 31"/>
          <p:cNvGrpSpPr/>
          <p:nvPr/>
        </p:nvGrpSpPr>
        <p:grpSpPr>
          <a:xfrm>
            <a:off x="971550" y="4870247"/>
            <a:ext cx="157162" cy="214312"/>
            <a:chOff x="0" y="0"/>
            <a:chExt cx="209550" cy="285750"/>
          </a:xfrm>
        </p:grpSpPr>
        <p:sp>
          <p:nvSpPr>
            <p:cNvPr id="32" name="Freeform 32" descr="image.png"/>
            <p:cNvSpPr/>
            <p:nvPr/>
          </p:nvSpPr>
          <p:spPr>
            <a:xfrm>
              <a:off x="0" y="0"/>
              <a:ext cx="209550" cy="285750"/>
            </a:xfrm>
            <a:custGeom>
              <a:avLst/>
              <a:gdLst/>
              <a:ahLst/>
              <a:cxnLst/>
              <a:rect l="l" t="t" r="r" b="b"/>
              <a:pathLst>
                <a:path w="209550" h="285750">
                  <a:moveTo>
                    <a:pt x="0" y="0"/>
                  </a:moveTo>
                  <a:lnTo>
                    <a:pt x="209550" y="0"/>
                  </a:lnTo>
                  <a:lnTo>
                    <a:pt x="209550" y="285750"/>
                  </a:lnTo>
                  <a:lnTo>
                    <a:pt x="0" y="285750"/>
                  </a:lnTo>
                  <a:lnTo>
                    <a:pt x="0" y="0"/>
                  </a:lnTo>
                  <a:close/>
                </a:path>
              </a:pathLst>
            </a:custGeom>
            <a:blipFill>
              <a:blip r:embed="rId9"/>
              <a:stretch>
                <a:fillRect/>
              </a:stretch>
            </a:blipFill>
          </p:spPr>
        </p:sp>
      </p:grpSp>
      <p:grpSp>
        <p:nvGrpSpPr>
          <p:cNvPr id="33" name="Group 33"/>
          <p:cNvGrpSpPr/>
          <p:nvPr/>
        </p:nvGrpSpPr>
        <p:grpSpPr>
          <a:xfrm>
            <a:off x="971550" y="5655173"/>
            <a:ext cx="157162" cy="214312"/>
            <a:chOff x="0" y="0"/>
            <a:chExt cx="209550" cy="285750"/>
          </a:xfrm>
        </p:grpSpPr>
        <p:sp>
          <p:nvSpPr>
            <p:cNvPr id="34" name="Freeform 34" descr="image.png"/>
            <p:cNvSpPr/>
            <p:nvPr/>
          </p:nvSpPr>
          <p:spPr>
            <a:xfrm>
              <a:off x="0" y="0"/>
              <a:ext cx="209550" cy="285750"/>
            </a:xfrm>
            <a:custGeom>
              <a:avLst/>
              <a:gdLst/>
              <a:ahLst/>
              <a:cxnLst/>
              <a:rect l="l" t="t" r="r" b="b"/>
              <a:pathLst>
                <a:path w="209550" h="285750">
                  <a:moveTo>
                    <a:pt x="0" y="0"/>
                  </a:moveTo>
                  <a:lnTo>
                    <a:pt x="209550" y="0"/>
                  </a:lnTo>
                  <a:lnTo>
                    <a:pt x="209550" y="285750"/>
                  </a:lnTo>
                  <a:lnTo>
                    <a:pt x="0" y="285750"/>
                  </a:lnTo>
                  <a:lnTo>
                    <a:pt x="0" y="0"/>
                  </a:lnTo>
                  <a:close/>
                </a:path>
              </a:pathLst>
            </a:custGeom>
            <a:blipFill>
              <a:blip r:embed="rId9"/>
              <a:stretch>
                <a:fillRect/>
              </a:stretch>
            </a:blipFill>
          </p:spPr>
        </p:sp>
      </p:grpSp>
      <p:grpSp>
        <p:nvGrpSpPr>
          <p:cNvPr id="35" name="Group 35"/>
          <p:cNvGrpSpPr/>
          <p:nvPr/>
        </p:nvGrpSpPr>
        <p:grpSpPr>
          <a:xfrm>
            <a:off x="971550" y="6440091"/>
            <a:ext cx="157162" cy="214312"/>
            <a:chOff x="0" y="0"/>
            <a:chExt cx="209550" cy="285750"/>
          </a:xfrm>
        </p:grpSpPr>
        <p:sp>
          <p:nvSpPr>
            <p:cNvPr id="36" name="Freeform 36" descr="image.png"/>
            <p:cNvSpPr/>
            <p:nvPr/>
          </p:nvSpPr>
          <p:spPr>
            <a:xfrm>
              <a:off x="0" y="0"/>
              <a:ext cx="209550" cy="285750"/>
            </a:xfrm>
            <a:custGeom>
              <a:avLst/>
              <a:gdLst/>
              <a:ahLst/>
              <a:cxnLst/>
              <a:rect l="l" t="t" r="r" b="b"/>
              <a:pathLst>
                <a:path w="209550" h="285750">
                  <a:moveTo>
                    <a:pt x="0" y="0"/>
                  </a:moveTo>
                  <a:lnTo>
                    <a:pt x="209550" y="0"/>
                  </a:lnTo>
                  <a:lnTo>
                    <a:pt x="209550" y="285750"/>
                  </a:lnTo>
                  <a:lnTo>
                    <a:pt x="0" y="285750"/>
                  </a:lnTo>
                  <a:lnTo>
                    <a:pt x="0" y="0"/>
                  </a:lnTo>
                  <a:close/>
                </a:path>
              </a:pathLst>
            </a:custGeom>
            <a:blipFill>
              <a:blip r:embed="rId9"/>
              <a:stretch>
                <a:fillRect/>
              </a:stretch>
            </a:blipFill>
          </p:spPr>
        </p:sp>
      </p:grpSp>
      <p:grpSp>
        <p:nvGrpSpPr>
          <p:cNvPr id="37" name="Group 37"/>
          <p:cNvGrpSpPr/>
          <p:nvPr/>
        </p:nvGrpSpPr>
        <p:grpSpPr>
          <a:xfrm>
            <a:off x="971550" y="7225008"/>
            <a:ext cx="157162" cy="214312"/>
            <a:chOff x="0" y="0"/>
            <a:chExt cx="209550" cy="285750"/>
          </a:xfrm>
        </p:grpSpPr>
        <p:sp>
          <p:nvSpPr>
            <p:cNvPr id="38" name="Freeform 38" descr="image.png"/>
            <p:cNvSpPr/>
            <p:nvPr/>
          </p:nvSpPr>
          <p:spPr>
            <a:xfrm>
              <a:off x="0" y="0"/>
              <a:ext cx="209550" cy="285750"/>
            </a:xfrm>
            <a:custGeom>
              <a:avLst/>
              <a:gdLst/>
              <a:ahLst/>
              <a:cxnLst/>
              <a:rect l="l" t="t" r="r" b="b"/>
              <a:pathLst>
                <a:path w="209550" h="285750">
                  <a:moveTo>
                    <a:pt x="0" y="0"/>
                  </a:moveTo>
                  <a:lnTo>
                    <a:pt x="209550" y="0"/>
                  </a:lnTo>
                  <a:lnTo>
                    <a:pt x="209550" y="285750"/>
                  </a:lnTo>
                  <a:lnTo>
                    <a:pt x="0" y="285750"/>
                  </a:lnTo>
                  <a:lnTo>
                    <a:pt x="0" y="0"/>
                  </a:lnTo>
                  <a:close/>
                </a:path>
              </a:pathLst>
            </a:custGeom>
            <a:blipFill>
              <a:blip r:embed="rId9"/>
              <a:stretch>
                <a:fillRect/>
              </a:stretch>
            </a:blipFill>
          </p:spPr>
        </p:sp>
      </p:grpSp>
      <p:grpSp>
        <p:nvGrpSpPr>
          <p:cNvPr id="39" name="Group 39"/>
          <p:cNvGrpSpPr/>
          <p:nvPr/>
        </p:nvGrpSpPr>
        <p:grpSpPr>
          <a:xfrm>
            <a:off x="9644062" y="4870247"/>
            <a:ext cx="171450" cy="214312"/>
            <a:chOff x="0" y="0"/>
            <a:chExt cx="228600" cy="285750"/>
          </a:xfrm>
        </p:grpSpPr>
        <p:sp>
          <p:nvSpPr>
            <p:cNvPr id="40" name="Freeform 40" descr="image.png"/>
            <p:cNvSpPr/>
            <p:nvPr/>
          </p:nvSpPr>
          <p:spPr>
            <a:xfrm>
              <a:off x="0" y="0"/>
              <a:ext cx="228600" cy="285750"/>
            </a:xfrm>
            <a:custGeom>
              <a:avLst/>
              <a:gdLst/>
              <a:ahLst/>
              <a:cxnLst/>
              <a:rect l="l" t="t" r="r" b="b"/>
              <a:pathLst>
                <a:path w="228600" h="285750">
                  <a:moveTo>
                    <a:pt x="0" y="0"/>
                  </a:moveTo>
                  <a:lnTo>
                    <a:pt x="228600" y="0"/>
                  </a:lnTo>
                  <a:lnTo>
                    <a:pt x="228600" y="285750"/>
                  </a:lnTo>
                  <a:lnTo>
                    <a:pt x="0" y="285750"/>
                  </a:lnTo>
                  <a:lnTo>
                    <a:pt x="0" y="0"/>
                  </a:lnTo>
                  <a:close/>
                </a:path>
              </a:pathLst>
            </a:custGeom>
            <a:blipFill>
              <a:blip r:embed="rId10"/>
              <a:stretch>
                <a:fillRect/>
              </a:stretch>
            </a:blipFill>
          </p:spPr>
        </p:sp>
      </p:grpSp>
      <p:grpSp>
        <p:nvGrpSpPr>
          <p:cNvPr id="41" name="Group 41"/>
          <p:cNvGrpSpPr/>
          <p:nvPr/>
        </p:nvGrpSpPr>
        <p:grpSpPr>
          <a:xfrm>
            <a:off x="9644062" y="5655173"/>
            <a:ext cx="171450" cy="214312"/>
            <a:chOff x="0" y="0"/>
            <a:chExt cx="228600" cy="285750"/>
          </a:xfrm>
        </p:grpSpPr>
        <p:sp>
          <p:nvSpPr>
            <p:cNvPr id="42" name="Freeform 42" descr="image.png"/>
            <p:cNvSpPr/>
            <p:nvPr/>
          </p:nvSpPr>
          <p:spPr>
            <a:xfrm>
              <a:off x="0" y="0"/>
              <a:ext cx="228600" cy="285750"/>
            </a:xfrm>
            <a:custGeom>
              <a:avLst/>
              <a:gdLst/>
              <a:ahLst/>
              <a:cxnLst/>
              <a:rect l="l" t="t" r="r" b="b"/>
              <a:pathLst>
                <a:path w="228600" h="285750">
                  <a:moveTo>
                    <a:pt x="0" y="0"/>
                  </a:moveTo>
                  <a:lnTo>
                    <a:pt x="228600" y="0"/>
                  </a:lnTo>
                  <a:lnTo>
                    <a:pt x="228600" y="285750"/>
                  </a:lnTo>
                  <a:lnTo>
                    <a:pt x="0" y="285750"/>
                  </a:lnTo>
                  <a:lnTo>
                    <a:pt x="0" y="0"/>
                  </a:lnTo>
                  <a:close/>
                </a:path>
              </a:pathLst>
            </a:custGeom>
            <a:blipFill>
              <a:blip r:embed="rId10"/>
              <a:stretch>
                <a:fillRect/>
              </a:stretch>
            </a:blipFill>
          </p:spPr>
        </p:sp>
      </p:grpSp>
      <p:grpSp>
        <p:nvGrpSpPr>
          <p:cNvPr id="43" name="Group 43"/>
          <p:cNvGrpSpPr/>
          <p:nvPr/>
        </p:nvGrpSpPr>
        <p:grpSpPr>
          <a:xfrm>
            <a:off x="9644062" y="6440091"/>
            <a:ext cx="171450" cy="214312"/>
            <a:chOff x="0" y="0"/>
            <a:chExt cx="228600" cy="285750"/>
          </a:xfrm>
        </p:grpSpPr>
        <p:sp>
          <p:nvSpPr>
            <p:cNvPr id="44" name="Freeform 44" descr="image.png"/>
            <p:cNvSpPr/>
            <p:nvPr/>
          </p:nvSpPr>
          <p:spPr>
            <a:xfrm>
              <a:off x="0" y="0"/>
              <a:ext cx="228600" cy="285750"/>
            </a:xfrm>
            <a:custGeom>
              <a:avLst/>
              <a:gdLst/>
              <a:ahLst/>
              <a:cxnLst/>
              <a:rect l="l" t="t" r="r" b="b"/>
              <a:pathLst>
                <a:path w="228600" h="285750">
                  <a:moveTo>
                    <a:pt x="0" y="0"/>
                  </a:moveTo>
                  <a:lnTo>
                    <a:pt x="228600" y="0"/>
                  </a:lnTo>
                  <a:lnTo>
                    <a:pt x="228600" y="285750"/>
                  </a:lnTo>
                  <a:lnTo>
                    <a:pt x="0" y="285750"/>
                  </a:lnTo>
                  <a:lnTo>
                    <a:pt x="0" y="0"/>
                  </a:lnTo>
                  <a:close/>
                </a:path>
              </a:pathLst>
            </a:custGeom>
            <a:blipFill>
              <a:blip r:embed="rId10"/>
              <a:stretch>
                <a:fillRect/>
              </a:stretch>
            </a:blipFill>
          </p:spPr>
        </p:sp>
      </p:grpSp>
      <p:grpSp>
        <p:nvGrpSpPr>
          <p:cNvPr id="45" name="Group 45"/>
          <p:cNvGrpSpPr/>
          <p:nvPr/>
        </p:nvGrpSpPr>
        <p:grpSpPr>
          <a:xfrm>
            <a:off x="9644062" y="6903987"/>
            <a:ext cx="171450" cy="214312"/>
            <a:chOff x="0" y="0"/>
            <a:chExt cx="228600" cy="285750"/>
          </a:xfrm>
        </p:grpSpPr>
        <p:sp>
          <p:nvSpPr>
            <p:cNvPr id="46" name="Freeform 46" descr="image.png"/>
            <p:cNvSpPr/>
            <p:nvPr/>
          </p:nvSpPr>
          <p:spPr>
            <a:xfrm>
              <a:off x="0" y="0"/>
              <a:ext cx="228600" cy="285750"/>
            </a:xfrm>
            <a:custGeom>
              <a:avLst/>
              <a:gdLst/>
              <a:ahLst/>
              <a:cxnLst/>
              <a:rect l="l" t="t" r="r" b="b"/>
              <a:pathLst>
                <a:path w="228600" h="285750">
                  <a:moveTo>
                    <a:pt x="0" y="0"/>
                  </a:moveTo>
                  <a:lnTo>
                    <a:pt x="228600" y="0"/>
                  </a:lnTo>
                  <a:lnTo>
                    <a:pt x="228600" y="285750"/>
                  </a:lnTo>
                  <a:lnTo>
                    <a:pt x="0" y="285750"/>
                  </a:lnTo>
                  <a:lnTo>
                    <a:pt x="0" y="0"/>
                  </a:lnTo>
                  <a:close/>
                </a:path>
              </a:pathLst>
            </a:custGeom>
            <a:blipFill>
              <a:blip r:embed="rId10"/>
              <a:stretch>
                <a:fillRect/>
              </a:stretch>
            </a:blipFill>
          </p:spPr>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sp>
      </p:grpSp>
      <p:grpSp>
        <p:nvGrpSpPr>
          <p:cNvPr id="4" name="Group 4"/>
          <p:cNvGrpSpPr/>
          <p:nvPr/>
        </p:nvGrpSpPr>
        <p:grpSpPr>
          <a:xfrm>
            <a:off x="642938" y="3454003"/>
            <a:ext cx="8329612" cy="4407694"/>
            <a:chOff x="0" y="0"/>
            <a:chExt cx="11106150" cy="5876925"/>
          </a:xfrm>
        </p:grpSpPr>
        <p:sp>
          <p:nvSpPr>
            <p:cNvPr id="5" name="Freeform 5" descr="image.png"/>
            <p:cNvSpPr/>
            <p:nvPr/>
          </p:nvSpPr>
          <p:spPr>
            <a:xfrm>
              <a:off x="0" y="0"/>
              <a:ext cx="11106150" cy="5876925"/>
            </a:xfrm>
            <a:custGeom>
              <a:avLst/>
              <a:gdLst/>
              <a:ahLst/>
              <a:cxnLst/>
              <a:rect l="l" t="t" r="r" b="b"/>
              <a:pathLst>
                <a:path w="11106150" h="5876925">
                  <a:moveTo>
                    <a:pt x="0" y="0"/>
                  </a:moveTo>
                  <a:lnTo>
                    <a:pt x="11106150" y="0"/>
                  </a:lnTo>
                  <a:lnTo>
                    <a:pt x="11106150" y="5876925"/>
                  </a:lnTo>
                  <a:lnTo>
                    <a:pt x="0" y="5876925"/>
                  </a:lnTo>
                  <a:lnTo>
                    <a:pt x="0" y="0"/>
                  </a:lnTo>
                  <a:close/>
                </a:path>
              </a:pathLst>
            </a:custGeom>
            <a:blipFill>
              <a:blip r:embed="rId3"/>
              <a:stretch>
                <a:fillRect t="-157" b="-157"/>
              </a:stretch>
            </a:blipFill>
          </p:spPr>
        </p:sp>
      </p:grpSp>
      <p:grpSp>
        <p:nvGrpSpPr>
          <p:cNvPr id="6" name="Group 6"/>
          <p:cNvGrpSpPr/>
          <p:nvPr/>
        </p:nvGrpSpPr>
        <p:grpSpPr>
          <a:xfrm>
            <a:off x="9315450" y="3454003"/>
            <a:ext cx="8329612" cy="4407694"/>
            <a:chOff x="0" y="0"/>
            <a:chExt cx="11106150" cy="5876925"/>
          </a:xfrm>
        </p:grpSpPr>
        <p:sp>
          <p:nvSpPr>
            <p:cNvPr id="7" name="Freeform 7" descr="image.png"/>
            <p:cNvSpPr/>
            <p:nvPr/>
          </p:nvSpPr>
          <p:spPr>
            <a:xfrm>
              <a:off x="0" y="0"/>
              <a:ext cx="11106150" cy="5876925"/>
            </a:xfrm>
            <a:custGeom>
              <a:avLst/>
              <a:gdLst/>
              <a:ahLst/>
              <a:cxnLst/>
              <a:rect l="l" t="t" r="r" b="b"/>
              <a:pathLst>
                <a:path w="11106150" h="5876925">
                  <a:moveTo>
                    <a:pt x="0" y="0"/>
                  </a:moveTo>
                  <a:lnTo>
                    <a:pt x="11106150" y="0"/>
                  </a:lnTo>
                  <a:lnTo>
                    <a:pt x="11106150" y="5876925"/>
                  </a:lnTo>
                  <a:lnTo>
                    <a:pt x="0" y="5876925"/>
                  </a:lnTo>
                  <a:lnTo>
                    <a:pt x="0" y="0"/>
                  </a:lnTo>
                  <a:close/>
                </a:path>
              </a:pathLst>
            </a:custGeom>
            <a:blipFill>
              <a:blip r:embed="rId4"/>
              <a:stretch>
                <a:fillRect t="-157" b="-157"/>
              </a:stretch>
            </a:blipFill>
          </p:spPr>
        </p:sp>
      </p:grpSp>
      <p:sp>
        <p:nvSpPr>
          <p:cNvPr id="8" name="TextBox 8"/>
          <p:cNvSpPr txBox="1"/>
          <p:nvPr/>
        </p:nvSpPr>
        <p:spPr>
          <a:xfrm>
            <a:off x="642938" y="490537"/>
            <a:ext cx="8931040" cy="566737"/>
          </a:xfrm>
          <a:prstGeom prst="rect">
            <a:avLst/>
          </a:prstGeom>
        </p:spPr>
        <p:txBody>
          <a:bodyPr lIns="0" tIns="0" rIns="0" bIns="0" rtlCol="0" anchor="t">
            <a:spAutoFit/>
          </a:bodyPr>
          <a:lstStyle/>
          <a:p>
            <a:pPr algn="l">
              <a:lnSpc>
                <a:spcPts val="4320"/>
              </a:lnSpc>
            </a:pPr>
            <a:r>
              <a:rPr lang="en-US" sz="3600" b="1">
                <a:solidFill>
                  <a:srgbClr val="064E3B"/>
                </a:solidFill>
                <a:latin typeface="Inter Bold"/>
                <a:ea typeface="Inter Bold"/>
                <a:cs typeface="Inter Bold"/>
                <a:sym typeface="Inter Bold"/>
              </a:rPr>
              <a:t>Proposed Solution &amp; Platform Overview</a:t>
            </a:r>
          </a:p>
        </p:txBody>
      </p:sp>
      <p:grpSp>
        <p:nvGrpSpPr>
          <p:cNvPr id="9" name="Group 9"/>
          <p:cNvGrpSpPr/>
          <p:nvPr/>
        </p:nvGrpSpPr>
        <p:grpSpPr>
          <a:xfrm>
            <a:off x="14288167" y="628650"/>
            <a:ext cx="3356896" cy="428625"/>
            <a:chOff x="0" y="0"/>
            <a:chExt cx="4475861" cy="571500"/>
          </a:xfrm>
        </p:grpSpPr>
        <p:sp>
          <p:nvSpPr>
            <p:cNvPr id="10" name="Freeform 10" descr="image.png"/>
            <p:cNvSpPr/>
            <p:nvPr/>
          </p:nvSpPr>
          <p:spPr>
            <a:xfrm>
              <a:off x="0" y="0"/>
              <a:ext cx="4475861" cy="571500"/>
            </a:xfrm>
            <a:custGeom>
              <a:avLst/>
              <a:gdLst/>
              <a:ahLst/>
              <a:cxnLst/>
              <a:rect l="l" t="t" r="r" b="b"/>
              <a:pathLst>
                <a:path w="4475861" h="571500">
                  <a:moveTo>
                    <a:pt x="0" y="0"/>
                  </a:moveTo>
                  <a:lnTo>
                    <a:pt x="4475861" y="0"/>
                  </a:lnTo>
                  <a:lnTo>
                    <a:pt x="4475861" y="571500"/>
                  </a:lnTo>
                  <a:lnTo>
                    <a:pt x="0" y="571500"/>
                  </a:lnTo>
                  <a:lnTo>
                    <a:pt x="0" y="0"/>
                  </a:lnTo>
                  <a:close/>
                </a:path>
              </a:pathLst>
            </a:custGeom>
            <a:blipFill>
              <a:blip r:embed="rId5"/>
              <a:stretch>
                <a:fillRect l="-9" r="-9"/>
              </a:stretch>
            </a:blipFill>
          </p:spPr>
        </p:sp>
      </p:grpSp>
      <p:grpSp>
        <p:nvGrpSpPr>
          <p:cNvPr id="11" name="Group 11"/>
          <p:cNvGrpSpPr/>
          <p:nvPr/>
        </p:nvGrpSpPr>
        <p:grpSpPr>
          <a:xfrm>
            <a:off x="1357312" y="3782616"/>
            <a:ext cx="7650956" cy="328612"/>
            <a:chOff x="0" y="0"/>
            <a:chExt cx="10201275" cy="438150"/>
          </a:xfrm>
        </p:grpSpPr>
        <p:sp>
          <p:nvSpPr>
            <p:cNvPr id="12" name="Freeform 12"/>
            <p:cNvSpPr/>
            <p:nvPr/>
          </p:nvSpPr>
          <p:spPr>
            <a:xfrm>
              <a:off x="0" y="0"/>
              <a:ext cx="10201274" cy="438150"/>
            </a:xfrm>
            <a:custGeom>
              <a:avLst/>
              <a:gdLst/>
              <a:ahLst/>
              <a:cxnLst/>
              <a:rect l="l" t="t" r="r" b="b"/>
              <a:pathLst>
                <a:path w="10201274" h="438150">
                  <a:moveTo>
                    <a:pt x="0" y="0"/>
                  </a:moveTo>
                  <a:lnTo>
                    <a:pt x="10201274" y="0"/>
                  </a:lnTo>
                  <a:lnTo>
                    <a:pt x="10201274" y="438150"/>
                  </a:lnTo>
                  <a:lnTo>
                    <a:pt x="0" y="438150"/>
                  </a:lnTo>
                  <a:close/>
                </a:path>
              </a:pathLst>
            </a:custGeom>
            <a:blipFill>
              <a:blip r:embed="rId6">
                <a:alphaModFix amt="0"/>
              </a:blip>
              <a:stretch>
                <a:fillRect t="-403662" b="-403662"/>
              </a:stretch>
            </a:blipFill>
          </p:spPr>
        </p:sp>
        <p:sp>
          <p:nvSpPr>
            <p:cNvPr id="13" name="TextBox 13"/>
            <p:cNvSpPr txBox="1"/>
            <p:nvPr/>
          </p:nvSpPr>
          <p:spPr>
            <a:xfrm>
              <a:off x="0" y="0"/>
              <a:ext cx="10201275" cy="438150"/>
            </a:xfrm>
            <a:prstGeom prst="rect">
              <a:avLst/>
            </a:prstGeom>
          </p:spPr>
          <p:txBody>
            <a:bodyPr lIns="0" tIns="0" rIns="0" bIns="0" rtlCol="0" anchor="ctr"/>
            <a:lstStyle/>
            <a:p>
              <a:pPr algn="l">
                <a:lnSpc>
                  <a:spcPts val="2565"/>
                </a:lnSpc>
              </a:pPr>
              <a:r>
                <a:rPr lang="en-US" sz="2137">
                  <a:solidFill>
                    <a:srgbClr val="064E3B"/>
                  </a:solidFill>
                  <a:latin typeface="Inter"/>
                  <a:ea typeface="Inter"/>
                  <a:cs typeface="Inter"/>
                  <a:sym typeface="Inter"/>
                </a:rPr>
                <a:t>End-to-End System Pipeline</a:t>
              </a:r>
            </a:p>
          </p:txBody>
        </p:sp>
      </p:grpSp>
      <p:sp>
        <p:nvSpPr>
          <p:cNvPr id="14" name="TextBox 14"/>
          <p:cNvSpPr txBox="1"/>
          <p:nvPr/>
        </p:nvSpPr>
        <p:spPr>
          <a:xfrm>
            <a:off x="971550" y="4196953"/>
            <a:ext cx="7672388" cy="721519"/>
          </a:xfrm>
          <a:prstGeom prst="rect">
            <a:avLst/>
          </a:prstGeom>
        </p:spPr>
        <p:txBody>
          <a:bodyPr lIns="0" tIns="0" rIns="0" bIns="0" rtlCol="0" anchor="t">
            <a:spAutoFit/>
          </a:bodyPr>
          <a:lstStyle/>
          <a:p>
            <a:pPr algn="l">
              <a:lnSpc>
                <a:spcPts val="2614"/>
              </a:lnSpc>
            </a:pPr>
            <a:r>
              <a:rPr lang="en-US" sz="1743">
                <a:solidFill>
                  <a:srgbClr val="64748B"/>
                </a:solidFill>
                <a:latin typeface="Inter"/>
                <a:ea typeface="Inter"/>
                <a:cs typeface="Inter"/>
                <a:sym typeface="Inter"/>
              </a:rPr>
              <a:t>The Smart Expense Pattern Analyzer executes 6 continuous data processing stages:</a:t>
            </a:r>
          </a:p>
        </p:txBody>
      </p:sp>
      <p:grpSp>
        <p:nvGrpSpPr>
          <p:cNvPr id="15" name="Group 15"/>
          <p:cNvGrpSpPr/>
          <p:nvPr/>
        </p:nvGrpSpPr>
        <p:grpSpPr>
          <a:xfrm>
            <a:off x="10029825" y="3782616"/>
            <a:ext cx="7650956" cy="328612"/>
            <a:chOff x="0" y="0"/>
            <a:chExt cx="10201275" cy="438150"/>
          </a:xfrm>
        </p:grpSpPr>
        <p:sp>
          <p:nvSpPr>
            <p:cNvPr id="16" name="Freeform 16"/>
            <p:cNvSpPr/>
            <p:nvPr/>
          </p:nvSpPr>
          <p:spPr>
            <a:xfrm>
              <a:off x="0" y="0"/>
              <a:ext cx="10201274" cy="438150"/>
            </a:xfrm>
            <a:custGeom>
              <a:avLst/>
              <a:gdLst/>
              <a:ahLst/>
              <a:cxnLst/>
              <a:rect l="l" t="t" r="r" b="b"/>
              <a:pathLst>
                <a:path w="10201274" h="438150">
                  <a:moveTo>
                    <a:pt x="0" y="0"/>
                  </a:moveTo>
                  <a:lnTo>
                    <a:pt x="10201274" y="0"/>
                  </a:lnTo>
                  <a:lnTo>
                    <a:pt x="10201274" y="438150"/>
                  </a:lnTo>
                  <a:lnTo>
                    <a:pt x="0" y="438150"/>
                  </a:lnTo>
                  <a:close/>
                </a:path>
              </a:pathLst>
            </a:custGeom>
            <a:blipFill>
              <a:blip r:embed="rId6">
                <a:alphaModFix amt="0"/>
              </a:blip>
              <a:stretch>
                <a:fillRect t="-403662" b="-403662"/>
              </a:stretch>
            </a:blipFill>
          </p:spPr>
        </p:sp>
        <p:sp>
          <p:nvSpPr>
            <p:cNvPr id="17" name="TextBox 17"/>
            <p:cNvSpPr txBox="1"/>
            <p:nvPr/>
          </p:nvSpPr>
          <p:spPr>
            <a:xfrm>
              <a:off x="0" y="0"/>
              <a:ext cx="10201275" cy="438150"/>
            </a:xfrm>
            <a:prstGeom prst="rect">
              <a:avLst/>
            </a:prstGeom>
          </p:spPr>
          <p:txBody>
            <a:bodyPr lIns="0" tIns="0" rIns="0" bIns="0" rtlCol="0" anchor="ctr"/>
            <a:lstStyle/>
            <a:p>
              <a:pPr algn="l">
                <a:lnSpc>
                  <a:spcPts val="2565"/>
                </a:lnSpc>
              </a:pPr>
              <a:r>
                <a:rPr lang="en-US" sz="2137">
                  <a:solidFill>
                    <a:srgbClr val="064E3B"/>
                  </a:solidFill>
                  <a:latin typeface="Inter"/>
                  <a:ea typeface="Inter"/>
                  <a:cs typeface="Inter"/>
                  <a:sym typeface="Inter"/>
                </a:rPr>
                <a:t>Core System Modules</a:t>
              </a:r>
            </a:p>
          </p:txBody>
        </p:sp>
      </p:grpSp>
      <p:grpSp>
        <p:nvGrpSpPr>
          <p:cNvPr id="18" name="Group 18"/>
          <p:cNvGrpSpPr/>
          <p:nvPr/>
        </p:nvGrpSpPr>
        <p:grpSpPr>
          <a:xfrm>
            <a:off x="971550" y="3811191"/>
            <a:ext cx="271462" cy="271462"/>
            <a:chOff x="0" y="0"/>
            <a:chExt cx="361950" cy="361950"/>
          </a:xfrm>
        </p:grpSpPr>
        <p:sp>
          <p:nvSpPr>
            <p:cNvPr id="19" name="Freeform 19" descr="image.png"/>
            <p:cNvSpPr/>
            <p:nvPr/>
          </p:nvSpPr>
          <p:spPr>
            <a:xfrm>
              <a:off x="0" y="0"/>
              <a:ext cx="361950" cy="361950"/>
            </a:xfrm>
            <a:custGeom>
              <a:avLst/>
              <a:gdLst/>
              <a:ahLst/>
              <a:cxnLst/>
              <a:rect l="l" t="t" r="r" b="b"/>
              <a:pathLst>
                <a:path w="361950" h="361950">
                  <a:moveTo>
                    <a:pt x="0" y="0"/>
                  </a:moveTo>
                  <a:lnTo>
                    <a:pt x="361950" y="0"/>
                  </a:lnTo>
                  <a:lnTo>
                    <a:pt x="361950" y="361950"/>
                  </a:lnTo>
                  <a:lnTo>
                    <a:pt x="0" y="361950"/>
                  </a:lnTo>
                  <a:lnTo>
                    <a:pt x="0" y="0"/>
                  </a:lnTo>
                  <a:close/>
                </a:path>
              </a:pathLst>
            </a:custGeom>
            <a:blipFill>
              <a:blip r:embed="rId7"/>
              <a:stretch>
                <a:fillRect t="-2631" b="-2631"/>
              </a:stretch>
            </a:blipFill>
          </p:spPr>
        </p:sp>
      </p:grpSp>
      <p:sp>
        <p:nvSpPr>
          <p:cNvPr id="20" name="TextBox 20"/>
          <p:cNvSpPr txBox="1"/>
          <p:nvPr/>
        </p:nvSpPr>
        <p:spPr>
          <a:xfrm>
            <a:off x="971550" y="5089922"/>
            <a:ext cx="7672388" cy="271462"/>
          </a:xfrm>
          <a:prstGeom prst="rect">
            <a:avLst/>
          </a:prstGeom>
        </p:spPr>
        <p:txBody>
          <a:bodyPr lIns="0" tIns="0" rIns="0" bIns="0" rtlCol="0" anchor="t">
            <a:spAutoFit/>
          </a:bodyPr>
          <a:lstStyle/>
          <a:p>
            <a:pPr algn="l">
              <a:lnSpc>
                <a:spcPts val="2025"/>
              </a:lnSpc>
            </a:pPr>
            <a:r>
              <a:rPr lang="en-US" sz="1687" b="1">
                <a:solidFill>
                  <a:srgbClr val="059669"/>
                </a:solidFill>
                <a:latin typeface="Inter Bold"/>
                <a:ea typeface="Inter Bold"/>
                <a:cs typeface="Inter Bold"/>
                <a:sym typeface="Inter Bold"/>
              </a:rPr>
              <a:t>1. Ingestion:</a:t>
            </a:r>
            <a:r>
              <a:rPr lang="en-US" sz="1687" b="1">
                <a:solidFill>
                  <a:srgbClr val="064E3B"/>
                </a:solidFill>
                <a:latin typeface="Inter Medium"/>
                <a:ea typeface="Inter Medium"/>
                <a:cs typeface="Inter Medium"/>
                <a:sym typeface="Inter Medium"/>
              </a:rPr>
              <a:t> Capture manual entries or import statement CSVs.</a:t>
            </a:r>
          </a:p>
        </p:txBody>
      </p:sp>
      <p:sp>
        <p:nvSpPr>
          <p:cNvPr id="21" name="TextBox 21"/>
          <p:cNvSpPr txBox="1"/>
          <p:nvPr/>
        </p:nvSpPr>
        <p:spPr>
          <a:xfrm>
            <a:off x="971550" y="5475684"/>
            <a:ext cx="7672388" cy="271462"/>
          </a:xfrm>
          <a:prstGeom prst="rect">
            <a:avLst/>
          </a:prstGeom>
        </p:spPr>
        <p:txBody>
          <a:bodyPr lIns="0" tIns="0" rIns="0" bIns="0" rtlCol="0" anchor="t">
            <a:spAutoFit/>
          </a:bodyPr>
          <a:lstStyle/>
          <a:p>
            <a:pPr algn="l">
              <a:lnSpc>
                <a:spcPts val="2025"/>
              </a:lnSpc>
            </a:pPr>
            <a:r>
              <a:rPr lang="en-US" sz="1687" b="1">
                <a:solidFill>
                  <a:srgbClr val="059669"/>
                </a:solidFill>
                <a:latin typeface="Inter Bold"/>
                <a:ea typeface="Inter Bold"/>
                <a:cs typeface="Inter Bold"/>
                <a:sym typeface="Inter Bold"/>
              </a:rPr>
              <a:t>2. Preprocessing:</a:t>
            </a:r>
            <a:r>
              <a:rPr lang="en-US" sz="1687" b="1">
                <a:solidFill>
                  <a:srgbClr val="064E3B"/>
                </a:solidFill>
                <a:latin typeface="Inter Medium"/>
                <a:ea typeface="Inter Medium"/>
                <a:cs typeface="Inter Medium"/>
                <a:sym typeface="Inter Medium"/>
              </a:rPr>
              <a:t> Standardize dates, clean text &amp; format numeric fields.</a:t>
            </a:r>
          </a:p>
        </p:txBody>
      </p:sp>
      <p:sp>
        <p:nvSpPr>
          <p:cNvPr id="22" name="TextBox 22"/>
          <p:cNvSpPr txBox="1"/>
          <p:nvPr/>
        </p:nvSpPr>
        <p:spPr>
          <a:xfrm>
            <a:off x="971550" y="5861447"/>
            <a:ext cx="7672388" cy="271462"/>
          </a:xfrm>
          <a:prstGeom prst="rect">
            <a:avLst/>
          </a:prstGeom>
        </p:spPr>
        <p:txBody>
          <a:bodyPr lIns="0" tIns="0" rIns="0" bIns="0" rtlCol="0" anchor="t">
            <a:spAutoFit/>
          </a:bodyPr>
          <a:lstStyle/>
          <a:p>
            <a:pPr algn="l">
              <a:lnSpc>
                <a:spcPts val="2025"/>
              </a:lnSpc>
            </a:pPr>
            <a:r>
              <a:rPr lang="en-US" sz="1687" b="1">
                <a:solidFill>
                  <a:srgbClr val="059669"/>
                </a:solidFill>
                <a:latin typeface="Inter Bold"/>
                <a:ea typeface="Inter Bold"/>
                <a:cs typeface="Inter Bold"/>
                <a:sym typeface="Inter Bold"/>
              </a:rPr>
              <a:t>3. Persistence:</a:t>
            </a:r>
            <a:r>
              <a:rPr lang="en-US" sz="1687" b="1">
                <a:solidFill>
                  <a:srgbClr val="064E3B"/>
                </a:solidFill>
                <a:latin typeface="Inter Medium"/>
                <a:ea typeface="Inter Medium"/>
                <a:cs typeface="Inter Medium"/>
                <a:sym typeface="Inter Medium"/>
              </a:rPr>
              <a:t> Commit structured records into local SQLite storage.</a:t>
            </a:r>
          </a:p>
        </p:txBody>
      </p:sp>
      <p:sp>
        <p:nvSpPr>
          <p:cNvPr id="23" name="TextBox 23"/>
          <p:cNvSpPr txBox="1"/>
          <p:nvPr/>
        </p:nvSpPr>
        <p:spPr>
          <a:xfrm>
            <a:off x="971550" y="6247209"/>
            <a:ext cx="7672388" cy="542925"/>
          </a:xfrm>
          <a:prstGeom prst="rect">
            <a:avLst/>
          </a:prstGeom>
        </p:spPr>
        <p:txBody>
          <a:bodyPr lIns="0" tIns="0" rIns="0" bIns="0" rtlCol="0" anchor="t">
            <a:spAutoFit/>
          </a:bodyPr>
          <a:lstStyle/>
          <a:p>
            <a:pPr algn="l">
              <a:lnSpc>
                <a:spcPts val="2025"/>
              </a:lnSpc>
            </a:pPr>
            <a:r>
              <a:rPr lang="en-US" sz="1687" b="1">
                <a:solidFill>
                  <a:srgbClr val="059669"/>
                </a:solidFill>
                <a:latin typeface="Inter Bold"/>
                <a:ea typeface="Inter Bold"/>
                <a:cs typeface="Inter Bold"/>
                <a:sym typeface="Inter Bold"/>
              </a:rPr>
              <a:t>4. Analytics Engine:</a:t>
            </a:r>
            <a:r>
              <a:rPr lang="en-US" sz="1687" b="1">
                <a:solidFill>
                  <a:srgbClr val="064E3B"/>
                </a:solidFill>
                <a:latin typeface="Inter Medium"/>
                <a:ea typeface="Inter Medium"/>
                <a:cs typeface="Inter Medium"/>
                <a:sym typeface="Inter Medium"/>
              </a:rPr>
              <a:t> Aggregate daily burn rates, savings &amp; categorical splits.</a:t>
            </a:r>
          </a:p>
        </p:txBody>
      </p:sp>
      <p:sp>
        <p:nvSpPr>
          <p:cNvPr id="24" name="TextBox 24"/>
          <p:cNvSpPr txBox="1"/>
          <p:nvPr/>
        </p:nvSpPr>
        <p:spPr>
          <a:xfrm>
            <a:off x="971550" y="6904434"/>
            <a:ext cx="7672388" cy="271462"/>
          </a:xfrm>
          <a:prstGeom prst="rect">
            <a:avLst/>
          </a:prstGeom>
        </p:spPr>
        <p:txBody>
          <a:bodyPr lIns="0" tIns="0" rIns="0" bIns="0" rtlCol="0" anchor="t">
            <a:spAutoFit/>
          </a:bodyPr>
          <a:lstStyle/>
          <a:p>
            <a:pPr algn="l">
              <a:lnSpc>
                <a:spcPts val="2025"/>
              </a:lnSpc>
            </a:pPr>
            <a:r>
              <a:rPr lang="en-US" sz="1687" b="1">
                <a:solidFill>
                  <a:srgbClr val="059669"/>
                </a:solidFill>
                <a:latin typeface="Inter Bold"/>
                <a:ea typeface="Inter Bold"/>
                <a:cs typeface="Inter Bold"/>
                <a:sym typeface="Inter Bold"/>
              </a:rPr>
              <a:t>5. ML Inference:</a:t>
            </a:r>
            <a:r>
              <a:rPr lang="en-US" sz="1687" b="1">
                <a:solidFill>
                  <a:srgbClr val="064E3B"/>
                </a:solidFill>
                <a:latin typeface="Inter Medium"/>
                <a:ea typeface="Inter Medium"/>
                <a:cs typeface="Inter Medium"/>
                <a:sym typeface="Inter Medium"/>
              </a:rPr>
              <a:t> Classify tags, detect outliers &amp; compute forecasts.</a:t>
            </a:r>
          </a:p>
        </p:txBody>
      </p:sp>
      <p:sp>
        <p:nvSpPr>
          <p:cNvPr id="25" name="TextBox 25"/>
          <p:cNvSpPr txBox="1"/>
          <p:nvPr/>
        </p:nvSpPr>
        <p:spPr>
          <a:xfrm>
            <a:off x="971550" y="7290197"/>
            <a:ext cx="7672388" cy="271462"/>
          </a:xfrm>
          <a:prstGeom prst="rect">
            <a:avLst/>
          </a:prstGeom>
        </p:spPr>
        <p:txBody>
          <a:bodyPr lIns="0" tIns="0" rIns="0" bIns="0" rtlCol="0" anchor="t">
            <a:spAutoFit/>
          </a:bodyPr>
          <a:lstStyle/>
          <a:p>
            <a:pPr algn="l">
              <a:lnSpc>
                <a:spcPts val="2025"/>
              </a:lnSpc>
            </a:pPr>
            <a:r>
              <a:rPr lang="en-US" sz="1687" b="1">
                <a:solidFill>
                  <a:srgbClr val="059669"/>
                </a:solidFill>
                <a:latin typeface="Inter Bold"/>
                <a:ea typeface="Inter Bold"/>
                <a:cs typeface="Inter Bold"/>
                <a:sym typeface="Inter Bold"/>
              </a:rPr>
              <a:t>6. Visualization:</a:t>
            </a:r>
            <a:r>
              <a:rPr lang="en-US" sz="1687" b="1">
                <a:solidFill>
                  <a:srgbClr val="064E3B"/>
                </a:solidFill>
                <a:latin typeface="Inter Medium"/>
                <a:ea typeface="Inter Medium"/>
                <a:cs typeface="Inter Medium"/>
                <a:sym typeface="Inter Medium"/>
              </a:rPr>
              <a:t> Render interactive dashboards and budget alerts.</a:t>
            </a:r>
          </a:p>
        </p:txBody>
      </p:sp>
      <p:grpSp>
        <p:nvGrpSpPr>
          <p:cNvPr id="26" name="Group 26"/>
          <p:cNvGrpSpPr/>
          <p:nvPr/>
        </p:nvGrpSpPr>
        <p:grpSpPr>
          <a:xfrm>
            <a:off x="9644062" y="3811191"/>
            <a:ext cx="271462" cy="271462"/>
            <a:chOff x="0" y="0"/>
            <a:chExt cx="361950" cy="361950"/>
          </a:xfrm>
        </p:grpSpPr>
        <p:sp>
          <p:nvSpPr>
            <p:cNvPr id="27" name="Freeform 27" descr="image.png"/>
            <p:cNvSpPr/>
            <p:nvPr/>
          </p:nvSpPr>
          <p:spPr>
            <a:xfrm>
              <a:off x="0" y="0"/>
              <a:ext cx="361950" cy="361950"/>
            </a:xfrm>
            <a:custGeom>
              <a:avLst/>
              <a:gdLst/>
              <a:ahLst/>
              <a:cxnLst/>
              <a:rect l="l" t="t" r="r" b="b"/>
              <a:pathLst>
                <a:path w="361950" h="361950">
                  <a:moveTo>
                    <a:pt x="0" y="0"/>
                  </a:moveTo>
                  <a:lnTo>
                    <a:pt x="361950" y="0"/>
                  </a:lnTo>
                  <a:lnTo>
                    <a:pt x="361950" y="361950"/>
                  </a:lnTo>
                  <a:lnTo>
                    <a:pt x="0" y="361950"/>
                  </a:lnTo>
                  <a:lnTo>
                    <a:pt x="0" y="0"/>
                  </a:lnTo>
                  <a:close/>
                </a:path>
              </a:pathLst>
            </a:custGeom>
            <a:blipFill>
              <a:blip r:embed="rId8"/>
              <a:stretch>
                <a:fillRect t="-2631" b="-2631"/>
              </a:stretch>
            </a:blipFill>
          </p:spPr>
        </p:sp>
      </p:grpSp>
      <p:sp>
        <p:nvSpPr>
          <p:cNvPr id="28" name="TextBox 28"/>
          <p:cNvSpPr txBox="1"/>
          <p:nvPr/>
        </p:nvSpPr>
        <p:spPr>
          <a:xfrm>
            <a:off x="9986962" y="4320778"/>
            <a:ext cx="7329488" cy="689667"/>
          </a:xfrm>
          <a:prstGeom prst="rect">
            <a:avLst/>
          </a:prstGeom>
        </p:spPr>
        <p:txBody>
          <a:bodyPr lIns="0" tIns="0" rIns="0" bIns="0" rtlCol="0" anchor="t">
            <a:spAutoFit/>
          </a:bodyPr>
          <a:lstStyle/>
          <a:p>
            <a:pPr algn="l">
              <a:lnSpc>
                <a:spcPts val="2527"/>
              </a:lnSpc>
            </a:pPr>
            <a:r>
              <a:rPr lang="en-US" sz="1743">
                <a:solidFill>
                  <a:srgbClr val="0F172A"/>
                </a:solidFill>
                <a:latin typeface="Inter"/>
                <a:ea typeface="Inter"/>
                <a:cs typeface="Inter"/>
                <a:sym typeface="Inter"/>
              </a:rPr>
              <a:t>Dual Ingestion Engine:</a:t>
            </a:r>
            <a:r>
              <a:rPr lang="en-US" sz="1743">
                <a:solidFill>
                  <a:srgbClr val="334155"/>
                </a:solidFill>
                <a:latin typeface="Inter"/>
                <a:ea typeface="Inter"/>
                <a:cs typeface="Inter"/>
                <a:sym typeface="Inter"/>
              </a:rPr>
              <a:t> Flexible CSV upload pipeline with schema mapping alongside instant manual transaction logging.</a:t>
            </a:r>
          </a:p>
        </p:txBody>
      </p:sp>
      <p:sp>
        <p:nvSpPr>
          <p:cNvPr id="29" name="TextBox 29"/>
          <p:cNvSpPr txBox="1"/>
          <p:nvPr/>
        </p:nvSpPr>
        <p:spPr>
          <a:xfrm>
            <a:off x="9986962" y="5105695"/>
            <a:ext cx="7329488" cy="689667"/>
          </a:xfrm>
          <a:prstGeom prst="rect">
            <a:avLst/>
          </a:prstGeom>
        </p:spPr>
        <p:txBody>
          <a:bodyPr lIns="0" tIns="0" rIns="0" bIns="0" rtlCol="0" anchor="t">
            <a:spAutoFit/>
          </a:bodyPr>
          <a:lstStyle/>
          <a:p>
            <a:pPr algn="l">
              <a:lnSpc>
                <a:spcPts val="2527"/>
              </a:lnSpc>
            </a:pPr>
            <a:r>
              <a:rPr lang="en-US" sz="1743">
                <a:solidFill>
                  <a:srgbClr val="0F172A"/>
                </a:solidFill>
                <a:latin typeface="Inter"/>
                <a:ea typeface="Inter"/>
                <a:cs typeface="Inter"/>
                <a:sym typeface="Inter"/>
              </a:rPr>
              <a:t>Embedded Relational Storage:</a:t>
            </a:r>
            <a:r>
              <a:rPr lang="en-US" sz="1743">
                <a:solidFill>
                  <a:srgbClr val="334155"/>
                </a:solidFill>
                <a:latin typeface="Inter"/>
                <a:ea typeface="Inter"/>
                <a:cs typeface="Inter"/>
                <a:sym typeface="Inter"/>
              </a:rPr>
              <a:t> Zero-configuration SQLite database preserving transactional ACID integrity locally.</a:t>
            </a:r>
          </a:p>
        </p:txBody>
      </p:sp>
      <p:sp>
        <p:nvSpPr>
          <p:cNvPr id="30" name="TextBox 30"/>
          <p:cNvSpPr txBox="1"/>
          <p:nvPr/>
        </p:nvSpPr>
        <p:spPr>
          <a:xfrm>
            <a:off x="9986962" y="5890612"/>
            <a:ext cx="7329488" cy="689667"/>
          </a:xfrm>
          <a:prstGeom prst="rect">
            <a:avLst/>
          </a:prstGeom>
        </p:spPr>
        <p:txBody>
          <a:bodyPr lIns="0" tIns="0" rIns="0" bIns="0" rtlCol="0" anchor="t">
            <a:spAutoFit/>
          </a:bodyPr>
          <a:lstStyle/>
          <a:p>
            <a:pPr algn="l">
              <a:lnSpc>
                <a:spcPts val="2527"/>
              </a:lnSpc>
            </a:pPr>
            <a:r>
              <a:rPr lang="en-US" sz="1743">
                <a:solidFill>
                  <a:srgbClr val="0F172A"/>
                </a:solidFill>
                <a:latin typeface="Inter"/>
                <a:ea typeface="Inter"/>
                <a:cs typeface="Inter"/>
                <a:sym typeface="Inter"/>
              </a:rPr>
              <a:t>Interactive Streamlit UI:</a:t>
            </a:r>
            <a:r>
              <a:rPr lang="en-US" sz="1743">
                <a:solidFill>
                  <a:srgbClr val="334155"/>
                </a:solidFill>
                <a:latin typeface="Inter"/>
                <a:ea typeface="Inter"/>
                <a:cs typeface="Inter"/>
                <a:sym typeface="Inter"/>
              </a:rPr>
              <a:t> Responsive web interface featuring dynamic KPI scorecards, trend graphs, and data export.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sp>
      </p:grpSp>
      <p:grpSp>
        <p:nvGrpSpPr>
          <p:cNvPr id="4" name="Group 4"/>
          <p:cNvGrpSpPr/>
          <p:nvPr/>
        </p:nvGrpSpPr>
        <p:grpSpPr>
          <a:xfrm>
            <a:off x="642938" y="4255884"/>
            <a:ext cx="5476799" cy="3375422"/>
            <a:chOff x="0" y="0"/>
            <a:chExt cx="7302398" cy="4500562"/>
          </a:xfrm>
        </p:grpSpPr>
        <p:sp>
          <p:nvSpPr>
            <p:cNvPr id="5" name="Freeform 5" descr="image.png"/>
            <p:cNvSpPr/>
            <p:nvPr/>
          </p:nvSpPr>
          <p:spPr>
            <a:xfrm>
              <a:off x="0" y="0"/>
              <a:ext cx="7302373" cy="4500499"/>
            </a:xfrm>
            <a:custGeom>
              <a:avLst/>
              <a:gdLst/>
              <a:ahLst/>
              <a:cxnLst/>
              <a:rect l="l" t="t" r="r" b="b"/>
              <a:pathLst>
                <a:path w="7302373" h="4500499">
                  <a:moveTo>
                    <a:pt x="0" y="0"/>
                  </a:moveTo>
                  <a:lnTo>
                    <a:pt x="7302373" y="0"/>
                  </a:lnTo>
                  <a:lnTo>
                    <a:pt x="7302373" y="4500499"/>
                  </a:lnTo>
                  <a:lnTo>
                    <a:pt x="0" y="4500499"/>
                  </a:lnTo>
                  <a:lnTo>
                    <a:pt x="0" y="0"/>
                  </a:lnTo>
                  <a:close/>
                </a:path>
              </a:pathLst>
            </a:custGeom>
            <a:blipFill>
              <a:blip r:embed="rId3"/>
              <a:stretch>
                <a:fillRect t="-282" b="-283"/>
              </a:stretch>
            </a:blipFill>
          </p:spPr>
        </p:sp>
      </p:grpSp>
      <p:grpSp>
        <p:nvGrpSpPr>
          <p:cNvPr id="6" name="Group 6"/>
          <p:cNvGrpSpPr/>
          <p:nvPr/>
        </p:nvGrpSpPr>
        <p:grpSpPr>
          <a:xfrm>
            <a:off x="6405486" y="4255884"/>
            <a:ext cx="5476799" cy="3375422"/>
            <a:chOff x="0" y="0"/>
            <a:chExt cx="7302398" cy="4500562"/>
          </a:xfrm>
        </p:grpSpPr>
        <p:sp>
          <p:nvSpPr>
            <p:cNvPr id="7" name="Freeform 7" descr="image.png"/>
            <p:cNvSpPr/>
            <p:nvPr/>
          </p:nvSpPr>
          <p:spPr>
            <a:xfrm>
              <a:off x="0" y="0"/>
              <a:ext cx="7302373" cy="4500499"/>
            </a:xfrm>
            <a:custGeom>
              <a:avLst/>
              <a:gdLst/>
              <a:ahLst/>
              <a:cxnLst/>
              <a:rect l="l" t="t" r="r" b="b"/>
              <a:pathLst>
                <a:path w="7302373" h="4500499">
                  <a:moveTo>
                    <a:pt x="0" y="0"/>
                  </a:moveTo>
                  <a:lnTo>
                    <a:pt x="7302373" y="0"/>
                  </a:lnTo>
                  <a:lnTo>
                    <a:pt x="7302373" y="4500499"/>
                  </a:lnTo>
                  <a:lnTo>
                    <a:pt x="0" y="4500499"/>
                  </a:lnTo>
                  <a:lnTo>
                    <a:pt x="0" y="0"/>
                  </a:lnTo>
                  <a:close/>
                </a:path>
              </a:pathLst>
            </a:custGeom>
            <a:blipFill>
              <a:blip r:embed="rId4"/>
              <a:stretch>
                <a:fillRect t="-282" b="-283"/>
              </a:stretch>
            </a:blipFill>
          </p:spPr>
        </p:sp>
      </p:grpSp>
      <p:grpSp>
        <p:nvGrpSpPr>
          <p:cNvPr id="8" name="Group 8"/>
          <p:cNvGrpSpPr/>
          <p:nvPr/>
        </p:nvGrpSpPr>
        <p:grpSpPr>
          <a:xfrm>
            <a:off x="12168035" y="4255884"/>
            <a:ext cx="5477027" cy="3375422"/>
            <a:chOff x="0" y="0"/>
            <a:chExt cx="7302703" cy="4500562"/>
          </a:xfrm>
        </p:grpSpPr>
        <p:sp>
          <p:nvSpPr>
            <p:cNvPr id="9" name="Freeform 9" descr="image.png"/>
            <p:cNvSpPr/>
            <p:nvPr/>
          </p:nvSpPr>
          <p:spPr>
            <a:xfrm>
              <a:off x="0" y="0"/>
              <a:ext cx="7302754" cy="4500499"/>
            </a:xfrm>
            <a:custGeom>
              <a:avLst/>
              <a:gdLst/>
              <a:ahLst/>
              <a:cxnLst/>
              <a:rect l="l" t="t" r="r" b="b"/>
              <a:pathLst>
                <a:path w="7302754" h="4500499">
                  <a:moveTo>
                    <a:pt x="0" y="0"/>
                  </a:moveTo>
                  <a:lnTo>
                    <a:pt x="7302754" y="0"/>
                  </a:lnTo>
                  <a:lnTo>
                    <a:pt x="7302754" y="4500499"/>
                  </a:lnTo>
                  <a:lnTo>
                    <a:pt x="0" y="4500499"/>
                  </a:lnTo>
                  <a:lnTo>
                    <a:pt x="0" y="0"/>
                  </a:lnTo>
                  <a:close/>
                </a:path>
              </a:pathLst>
            </a:custGeom>
            <a:blipFill>
              <a:blip r:embed="rId3"/>
              <a:stretch>
                <a:fillRect t="-284" b="-285"/>
              </a:stretch>
            </a:blipFill>
          </p:spPr>
        </p:sp>
      </p:grpSp>
      <p:grpSp>
        <p:nvGrpSpPr>
          <p:cNvPr id="10" name="Group 10"/>
          <p:cNvGrpSpPr/>
          <p:nvPr/>
        </p:nvGrpSpPr>
        <p:grpSpPr>
          <a:xfrm>
            <a:off x="971550" y="6563316"/>
            <a:ext cx="4819574" cy="457200"/>
            <a:chOff x="0" y="0"/>
            <a:chExt cx="6426098" cy="609600"/>
          </a:xfrm>
        </p:grpSpPr>
        <p:sp>
          <p:nvSpPr>
            <p:cNvPr id="11" name="Freeform 11" descr="image.png"/>
            <p:cNvSpPr/>
            <p:nvPr/>
          </p:nvSpPr>
          <p:spPr>
            <a:xfrm>
              <a:off x="0" y="0"/>
              <a:ext cx="6426073" cy="609600"/>
            </a:xfrm>
            <a:custGeom>
              <a:avLst/>
              <a:gdLst/>
              <a:ahLst/>
              <a:cxnLst/>
              <a:rect l="l" t="t" r="r" b="b"/>
              <a:pathLst>
                <a:path w="6426073" h="609600">
                  <a:moveTo>
                    <a:pt x="0" y="0"/>
                  </a:moveTo>
                  <a:lnTo>
                    <a:pt x="6426073" y="0"/>
                  </a:lnTo>
                  <a:lnTo>
                    <a:pt x="6426073" y="609600"/>
                  </a:lnTo>
                  <a:lnTo>
                    <a:pt x="0" y="609600"/>
                  </a:lnTo>
                  <a:lnTo>
                    <a:pt x="0" y="0"/>
                  </a:lnTo>
                  <a:close/>
                </a:path>
              </a:pathLst>
            </a:custGeom>
            <a:blipFill>
              <a:blip r:embed="rId5"/>
              <a:stretch>
                <a:fillRect t="-1158" b="-1156"/>
              </a:stretch>
            </a:blipFill>
          </p:spPr>
        </p:sp>
      </p:grpSp>
      <p:grpSp>
        <p:nvGrpSpPr>
          <p:cNvPr id="12" name="Group 12"/>
          <p:cNvGrpSpPr/>
          <p:nvPr/>
        </p:nvGrpSpPr>
        <p:grpSpPr>
          <a:xfrm>
            <a:off x="6734099" y="6874069"/>
            <a:ext cx="4819574" cy="457200"/>
            <a:chOff x="0" y="0"/>
            <a:chExt cx="6426098" cy="609600"/>
          </a:xfrm>
        </p:grpSpPr>
        <p:sp>
          <p:nvSpPr>
            <p:cNvPr id="13" name="Freeform 13" descr="image.png"/>
            <p:cNvSpPr/>
            <p:nvPr/>
          </p:nvSpPr>
          <p:spPr>
            <a:xfrm>
              <a:off x="0" y="0"/>
              <a:ext cx="6426073" cy="609600"/>
            </a:xfrm>
            <a:custGeom>
              <a:avLst/>
              <a:gdLst/>
              <a:ahLst/>
              <a:cxnLst/>
              <a:rect l="l" t="t" r="r" b="b"/>
              <a:pathLst>
                <a:path w="6426073" h="609600">
                  <a:moveTo>
                    <a:pt x="0" y="0"/>
                  </a:moveTo>
                  <a:lnTo>
                    <a:pt x="6426073" y="0"/>
                  </a:lnTo>
                  <a:lnTo>
                    <a:pt x="6426073" y="609600"/>
                  </a:lnTo>
                  <a:lnTo>
                    <a:pt x="0" y="609600"/>
                  </a:lnTo>
                  <a:lnTo>
                    <a:pt x="0" y="0"/>
                  </a:lnTo>
                  <a:close/>
                </a:path>
              </a:pathLst>
            </a:custGeom>
            <a:blipFill>
              <a:blip r:embed="rId6"/>
              <a:stretch>
                <a:fillRect t="-1158" b="-1156"/>
              </a:stretch>
            </a:blipFill>
          </p:spPr>
        </p:sp>
      </p:grpSp>
      <p:grpSp>
        <p:nvGrpSpPr>
          <p:cNvPr id="14" name="Group 14"/>
          <p:cNvGrpSpPr/>
          <p:nvPr/>
        </p:nvGrpSpPr>
        <p:grpSpPr>
          <a:xfrm>
            <a:off x="12496648" y="6563316"/>
            <a:ext cx="4819802" cy="457200"/>
            <a:chOff x="0" y="0"/>
            <a:chExt cx="6426403" cy="609600"/>
          </a:xfrm>
        </p:grpSpPr>
        <p:sp>
          <p:nvSpPr>
            <p:cNvPr id="15" name="Freeform 15" descr="image.png"/>
            <p:cNvSpPr/>
            <p:nvPr/>
          </p:nvSpPr>
          <p:spPr>
            <a:xfrm>
              <a:off x="0" y="0"/>
              <a:ext cx="6426454" cy="609600"/>
            </a:xfrm>
            <a:custGeom>
              <a:avLst/>
              <a:gdLst/>
              <a:ahLst/>
              <a:cxnLst/>
              <a:rect l="l" t="t" r="r" b="b"/>
              <a:pathLst>
                <a:path w="6426454" h="609600">
                  <a:moveTo>
                    <a:pt x="0" y="0"/>
                  </a:moveTo>
                  <a:lnTo>
                    <a:pt x="6426454" y="0"/>
                  </a:lnTo>
                  <a:lnTo>
                    <a:pt x="6426454" y="609600"/>
                  </a:lnTo>
                  <a:lnTo>
                    <a:pt x="0" y="609600"/>
                  </a:lnTo>
                  <a:lnTo>
                    <a:pt x="0" y="0"/>
                  </a:lnTo>
                  <a:close/>
                </a:path>
              </a:pathLst>
            </a:custGeom>
            <a:blipFill>
              <a:blip r:embed="rId7"/>
              <a:stretch>
                <a:fillRect t="-1160" b="-1158"/>
              </a:stretch>
            </a:blipFill>
          </p:spPr>
        </p:sp>
      </p:grpSp>
      <p:sp>
        <p:nvSpPr>
          <p:cNvPr id="16" name="TextBox 16"/>
          <p:cNvSpPr txBox="1"/>
          <p:nvPr/>
        </p:nvSpPr>
        <p:spPr>
          <a:xfrm>
            <a:off x="642938" y="490537"/>
            <a:ext cx="7121909" cy="566737"/>
          </a:xfrm>
          <a:prstGeom prst="rect">
            <a:avLst/>
          </a:prstGeom>
        </p:spPr>
        <p:txBody>
          <a:bodyPr lIns="0" tIns="0" rIns="0" bIns="0" rtlCol="0" anchor="t">
            <a:spAutoFit/>
          </a:bodyPr>
          <a:lstStyle/>
          <a:p>
            <a:pPr algn="l">
              <a:lnSpc>
                <a:spcPts val="4320"/>
              </a:lnSpc>
            </a:pPr>
            <a:r>
              <a:rPr lang="en-US" sz="3600" b="1">
                <a:solidFill>
                  <a:srgbClr val="064E3B"/>
                </a:solidFill>
                <a:latin typeface="Inter Bold"/>
                <a:ea typeface="Inter Bold"/>
                <a:cs typeface="Inter Bold"/>
                <a:sym typeface="Inter Bold"/>
              </a:rPr>
              <a:t>Machine Learning Components</a:t>
            </a:r>
          </a:p>
        </p:txBody>
      </p:sp>
      <p:grpSp>
        <p:nvGrpSpPr>
          <p:cNvPr id="17" name="Group 17"/>
          <p:cNvGrpSpPr/>
          <p:nvPr/>
        </p:nvGrpSpPr>
        <p:grpSpPr>
          <a:xfrm>
            <a:off x="15098087" y="628650"/>
            <a:ext cx="2546966" cy="428625"/>
            <a:chOff x="0" y="0"/>
            <a:chExt cx="3395955" cy="571500"/>
          </a:xfrm>
        </p:grpSpPr>
        <p:sp>
          <p:nvSpPr>
            <p:cNvPr id="18" name="Freeform 18" descr="image.png"/>
            <p:cNvSpPr/>
            <p:nvPr/>
          </p:nvSpPr>
          <p:spPr>
            <a:xfrm>
              <a:off x="0" y="0"/>
              <a:ext cx="3395980" cy="571500"/>
            </a:xfrm>
            <a:custGeom>
              <a:avLst/>
              <a:gdLst/>
              <a:ahLst/>
              <a:cxnLst/>
              <a:rect l="l" t="t" r="r" b="b"/>
              <a:pathLst>
                <a:path w="3395980" h="571500">
                  <a:moveTo>
                    <a:pt x="0" y="0"/>
                  </a:moveTo>
                  <a:lnTo>
                    <a:pt x="3395980" y="0"/>
                  </a:lnTo>
                  <a:lnTo>
                    <a:pt x="3395980" y="571500"/>
                  </a:lnTo>
                  <a:lnTo>
                    <a:pt x="0" y="571500"/>
                  </a:lnTo>
                  <a:lnTo>
                    <a:pt x="0" y="0"/>
                  </a:lnTo>
                  <a:close/>
                </a:path>
              </a:pathLst>
            </a:custGeom>
            <a:blipFill>
              <a:blip r:embed="rId8"/>
              <a:stretch>
                <a:fillRect l="-206" r="-205"/>
              </a:stretch>
            </a:blipFill>
          </p:spPr>
        </p:sp>
      </p:grpSp>
      <p:sp>
        <p:nvSpPr>
          <p:cNvPr id="19" name="TextBox 19"/>
          <p:cNvSpPr txBox="1"/>
          <p:nvPr/>
        </p:nvSpPr>
        <p:spPr>
          <a:xfrm>
            <a:off x="642938" y="3674859"/>
            <a:ext cx="17002125" cy="295275"/>
          </a:xfrm>
          <a:prstGeom prst="rect">
            <a:avLst/>
          </a:prstGeom>
        </p:spPr>
        <p:txBody>
          <a:bodyPr lIns="0" tIns="0" rIns="0" bIns="0" rtlCol="0" anchor="t">
            <a:spAutoFit/>
          </a:bodyPr>
          <a:lstStyle/>
          <a:p>
            <a:pPr algn="l">
              <a:lnSpc>
                <a:spcPts val="2226"/>
              </a:lnSpc>
            </a:pPr>
            <a:r>
              <a:rPr lang="en-US" sz="1855">
                <a:solidFill>
                  <a:srgbClr val="475569"/>
                </a:solidFill>
                <a:latin typeface="Inter"/>
                <a:ea typeface="Inter"/>
                <a:cs typeface="Inter"/>
                <a:sym typeface="Inter"/>
              </a:rPr>
              <a:t>The platform deploys three distinct Machine Learning algorithms, each tailored to solve a specific financial intelligence problem:</a:t>
            </a:r>
          </a:p>
        </p:txBody>
      </p:sp>
      <p:grpSp>
        <p:nvGrpSpPr>
          <p:cNvPr id="20" name="Group 20"/>
          <p:cNvGrpSpPr/>
          <p:nvPr/>
        </p:nvGrpSpPr>
        <p:grpSpPr>
          <a:xfrm>
            <a:off x="1357312" y="4584497"/>
            <a:ext cx="4655506" cy="328612"/>
            <a:chOff x="0" y="0"/>
            <a:chExt cx="6207341" cy="438150"/>
          </a:xfrm>
        </p:grpSpPr>
        <p:sp>
          <p:nvSpPr>
            <p:cNvPr id="21" name="Freeform 21"/>
            <p:cNvSpPr/>
            <p:nvPr/>
          </p:nvSpPr>
          <p:spPr>
            <a:xfrm>
              <a:off x="0" y="0"/>
              <a:ext cx="6207338" cy="438150"/>
            </a:xfrm>
            <a:custGeom>
              <a:avLst/>
              <a:gdLst/>
              <a:ahLst/>
              <a:cxnLst/>
              <a:rect l="l" t="t" r="r" b="b"/>
              <a:pathLst>
                <a:path w="6207338" h="438150">
                  <a:moveTo>
                    <a:pt x="0" y="0"/>
                  </a:moveTo>
                  <a:lnTo>
                    <a:pt x="6207338" y="0"/>
                  </a:lnTo>
                  <a:lnTo>
                    <a:pt x="6207338" y="438150"/>
                  </a:lnTo>
                  <a:lnTo>
                    <a:pt x="0" y="438150"/>
                  </a:lnTo>
                  <a:close/>
                </a:path>
              </a:pathLst>
            </a:custGeom>
            <a:blipFill>
              <a:blip r:embed="rId9">
                <a:alphaModFix amt="0"/>
              </a:blip>
              <a:stretch>
                <a:fillRect t="-226047" b="-226047"/>
              </a:stretch>
            </a:blipFill>
          </p:spPr>
        </p:sp>
        <p:sp>
          <p:nvSpPr>
            <p:cNvPr id="22" name="TextBox 22"/>
            <p:cNvSpPr txBox="1"/>
            <p:nvPr/>
          </p:nvSpPr>
          <p:spPr>
            <a:xfrm>
              <a:off x="0" y="0"/>
              <a:ext cx="6207341" cy="438150"/>
            </a:xfrm>
            <a:prstGeom prst="rect">
              <a:avLst/>
            </a:prstGeom>
          </p:spPr>
          <p:txBody>
            <a:bodyPr lIns="0" tIns="0" rIns="0" bIns="0" rtlCol="0" anchor="ctr"/>
            <a:lstStyle/>
            <a:p>
              <a:pPr algn="l">
                <a:lnSpc>
                  <a:spcPts val="2565"/>
                </a:lnSpc>
              </a:pPr>
              <a:r>
                <a:rPr lang="en-US" sz="2137">
                  <a:solidFill>
                    <a:srgbClr val="064E3B"/>
                  </a:solidFill>
                  <a:latin typeface="Inter"/>
                  <a:ea typeface="Inter"/>
                  <a:cs typeface="Inter"/>
                  <a:sym typeface="Inter"/>
                </a:rPr>
                <a:t>1. Categorization</a:t>
              </a:r>
            </a:p>
          </p:txBody>
        </p:sp>
      </p:grpSp>
      <p:sp>
        <p:nvSpPr>
          <p:cNvPr id="23" name="TextBox 23"/>
          <p:cNvSpPr txBox="1"/>
          <p:nvPr/>
        </p:nvSpPr>
        <p:spPr>
          <a:xfrm>
            <a:off x="971550" y="5008359"/>
            <a:ext cx="4819574" cy="336947"/>
          </a:xfrm>
          <a:prstGeom prst="rect">
            <a:avLst/>
          </a:prstGeom>
        </p:spPr>
        <p:txBody>
          <a:bodyPr lIns="0" tIns="0" rIns="0" bIns="0" rtlCol="0" anchor="t">
            <a:spAutoFit/>
          </a:bodyPr>
          <a:lstStyle/>
          <a:p>
            <a:pPr algn="l">
              <a:lnSpc>
                <a:spcPts val="2277"/>
              </a:lnSpc>
            </a:pPr>
            <a:r>
              <a:rPr lang="en-US" sz="1518">
                <a:solidFill>
                  <a:srgbClr val="047857"/>
                </a:solidFill>
                <a:latin typeface="Inter"/>
                <a:ea typeface="Inter"/>
                <a:cs typeface="Inter"/>
                <a:sym typeface="Inter"/>
              </a:rPr>
              <a:t>TF-IDF + LOGISTIC REGRESSION</a:t>
            </a:r>
          </a:p>
        </p:txBody>
      </p:sp>
      <p:sp>
        <p:nvSpPr>
          <p:cNvPr id="24" name="TextBox 24"/>
          <p:cNvSpPr txBox="1"/>
          <p:nvPr/>
        </p:nvSpPr>
        <p:spPr>
          <a:xfrm>
            <a:off x="971550" y="5421506"/>
            <a:ext cx="4819574" cy="970359"/>
          </a:xfrm>
          <a:prstGeom prst="rect">
            <a:avLst/>
          </a:prstGeom>
        </p:spPr>
        <p:txBody>
          <a:bodyPr lIns="0" tIns="0" rIns="0" bIns="0" rtlCol="0" anchor="t">
            <a:spAutoFit/>
          </a:bodyPr>
          <a:lstStyle/>
          <a:p>
            <a:pPr algn="l">
              <a:lnSpc>
                <a:spcPts val="2446"/>
              </a:lnSpc>
            </a:pPr>
            <a:r>
              <a:rPr lang="en-US" sz="1687">
                <a:solidFill>
                  <a:srgbClr val="475569"/>
                </a:solidFill>
                <a:latin typeface="Inter"/>
                <a:ea typeface="Inter"/>
                <a:cs typeface="Inter"/>
                <a:sym typeface="Inter"/>
              </a:rPr>
              <a:t>Transforms raw merchant descriptions into n-gram term vectors, predicting standard categories (Food, Travel, Bills, Entertainment).</a:t>
            </a:r>
          </a:p>
        </p:txBody>
      </p:sp>
      <p:grpSp>
        <p:nvGrpSpPr>
          <p:cNvPr id="25" name="Group 25"/>
          <p:cNvGrpSpPr/>
          <p:nvPr/>
        </p:nvGrpSpPr>
        <p:grpSpPr>
          <a:xfrm>
            <a:off x="7119861" y="4584497"/>
            <a:ext cx="4655506" cy="328612"/>
            <a:chOff x="0" y="0"/>
            <a:chExt cx="6207341" cy="438150"/>
          </a:xfrm>
        </p:grpSpPr>
        <p:sp>
          <p:nvSpPr>
            <p:cNvPr id="26" name="Freeform 26"/>
            <p:cNvSpPr/>
            <p:nvPr/>
          </p:nvSpPr>
          <p:spPr>
            <a:xfrm>
              <a:off x="0" y="0"/>
              <a:ext cx="6207338" cy="438150"/>
            </a:xfrm>
            <a:custGeom>
              <a:avLst/>
              <a:gdLst/>
              <a:ahLst/>
              <a:cxnLst/>
              <a:rect l="l" t="t" r="r" b="b"/>
              <a:pathLst>
                <a:path w="6207338" h="438150">
                  <a:moveTo>
                    <a:pt x="0" y="0"/>
                  </a:moveTo>
                  <a:lnTo>
                    <a:pt x="6207338" y="0"/>
                  </a:lnTo>
                  <a:lnTo>
                    <a:pt x="6207338" y="438150"/>
                  </a:lnTo>
                  <a:lnTo>
                    <a:pt x="0" y="438150"/>
                  </a:lnTo>
                  <a:close/>
                </a:path>
              </a:pathLst>
            </a:custGeom>
            <a:blipFill>
              <a:blip r:embed="rId9">
                <a:alphaModFix amt="0"/>
              </a:blip>
              <a:stretch>
                <a:fillRect t="-226047" b="-226047"/>
              </a:stretch>
            </a:blipFill>
          </p:spPr>
        </p:sp>
        <p:sp>
          <p:nvSpPr>
            <p:cNvPr id="27" name="TextBox 27"/>
            <p:cNvSpPr txBox="1"/>
            <p:nvPr/>
          </p:nvSpPr>
          <p:spPr>
            <a:xfrm>
              <a:off x="0" y="0"/>
              <a:ext cx="6207341" cy="438150"/>
            </a:xfrm>
            <a:prstGeom prst="rect">
              <a:avLst/>
            </a:prstGeom>
          </p:spPr>
          <p:txBody>
            <a:bodyPr lIns="0" tIns="0" rIns="0" bIns="0" rtlCol="0" anchor="ctr"/>
            <a:lstStyle/>
            <a:p>
              <a:pPr algn="l">
                <a:lnSpc>
                  <a:spcPts val="2565"/>
                </a:lnSpc>
              </a:pPr>
              <a:r>
                <a:rPr lang="en-US" sz="2137">
                  <a:solidFill>
                    <a:srgbClr val="064E3B"/>
                  </a:solidFill>
                  <a:latin typeface="Inter"/>
                  <a:ea typeface="Inter"/>
                  <a:cs typeface="Inter"/>
                  <a:sym typeface="Inter"/>
                </a:rPr>
                <a:t>2. Anomaly Detection</a:t>
              </a:r>
            </a:p>
          </p:txBody>
        </p:sp>
      </p:grpSp>
      <p:sp>
        <p:nvSpPr>
          <p:cNvPr id="28" name="TextBox 28"/>
          <p:cNvSpPr txBox="1"/>
          <p:nvPr/>
        </p:nvSpPr>
        <p:spPr>
          <a:xfrm>
            <a:off x="6734099" y="5008359"/>
            <a:ext cx="4819574" cy="336947"/>
          </a:xfrm>
          <a:prstGeom prst="rect">
            <a:avLst/>
          </a:prstGeom>
        </p:spPr>
        <p:txBody>
          <a:bodyPr lIns="0" tIns="0" rIns="0" bIns="0" rtlCol="0" anchor="t">
            <a:spAutoFit/>
          </a:bodyPr>
          <a:lstStyle/>
          <a:p>
            <a:pPr algn="l">
              <a:lnSpc>
                <a:spcPts val="2277"/>
              </a:lnSpc>
            </a:pPr>
            <a:r>
              <a:rPr lang="en-US" sz="1518">
                <a:solidFill>
                  <a:srgbClr val="92400E"/>
                </a:solidFill>
                <a:latin typeface="Inter"/>
                <a:ea typeface="Inter"/>
                <a:cs typeface="Inter"/>
                <a:sym typeface="Inter"/>
              </a:rPr>
              <a:t>ISOLATION FOREST ALGORITHM</a:t>
            </a:r>
          </a:p>
        </p:txBody>
      </p:sp>
      <p:sp>
        <p:nvSpPr>
          <p:cNvPr id="29" name="TextBox 29"/>
          <p:cNvSpPr txBox="1"/>
          <p:nvPr/>
        </p:nvSpPr>
        <p:spPr>
          <a:xfrm>
            <a:off x="6734099" y="5421506"/>
            <a:ext cx="4819574" cy="1281112"/>
          </a:xfrm>
          <a:prstGeom prst="rect">
            <a:avLst/>
          </a:prstGeom>
        </p:spPr>
        <p:txBody>
          <a:bodyPr lIns="0" tIns="0" rIns="0" bIns="0" rtlCol="0" anchor="t">
            <a:spAutoFit/>
          </a:bodyPr>
          <a:lstStyle/>
          <a:p>
            <a:pPr algn="l">
              <a:lnSpc>
                <a:spcPts val="2446"/>
              </a:lnSpc>
            </a:pPr>
            <a:r>
              <a:rPr lang="en-US" sz="1687">
                <a:solidFill>
                  <a:srgbClr val="475569"/>
                </a:solidFill>
                <a:latin typeface="Inter"/>
                <a:ea typeface="Inter"/>
                <a:cs typeface="Inter"/>
                <a:sym typeface="Inter"/>
              </a:rPr>
              <a:t>Tree-based unsupervised algorithm that isolates spending anomalies based on path length without confusing high-value regular bills.</a:t>
            </a:r>
          </a:p>
        </p:txBody>
      </p:sp>
      <p:grpSp>
        <p:nvGrpSpPr>
          <p:cNvPr id="30" name="Group 30"/>
          <p:cNvGrpSpPr/>
          <p:nvPr/>
        </p:nvGrpSpPr>
        <p:grpSpPr>
          <a:xfrm>
            <a:off x="12882410" y="4584497"/>
            <a:ext cx="4655734" cy="328612"/>
            <a:chOff x="0" y="0"/>
            <a:chExt cx="6207646" cy="438150"/>
          </a:xfrm>
        </p:grpSpPr>
        <p:sp>
          <p:nvSpPr>
            <p:cNvPr id="31" name="Freeform 31"/>
            <p:cNvSpPr/>
            <p:nvPr/>
          </p:nvSpPr>
          <p:spPr>
            <a:xfrm>
              <a:off x="0" y="0"/>
              <a:ext cx="6207650" cy="438150"/>
            </a:xfrm>
            <a:custGeom>
              <a:avLst/>
              <a:gdLst/>
              <a:ahLst/>
              <a:cxnLst/>
              <a:rect l="l" t="t" r="r" b="b"/>
              <a:pathLst>
                <a:path w="6207650" h="438150">
                  <a:moveTo>
                    <a:pt x="0" y="0"/>
                  </a:moveTo>
                  <a:lnTo>
                    <a:pt x="6207650" y="0"/>
                  </a:lnTo>
                  <a:lnTo>
                    <a:pt x="6207650" y="438150"/>
                  </a:lnTo>
                  <a:lnTo>
                    <a:pt x="0" y="438150"/>
                  </a:lnTo>
                  <a:close/>
                </a:path>
              </a:pathLst>
            </a:custGeom>
            <a:blipFill>
              <a:blip r:embed="rId9">
                <a:alphaModFix amt="0"/>
              </a:blip>
              <a:stretch>
                <a:fillRect t="-226061" b="-226061"/>
              </a:stretch>
            </a:blipFill>
          </p:spPr>
        </p:sp>
        <p:sp>
          <p:nvSpPr>
            <p:cNvPr id="32" name="TextBox 32"/>
            <p:cNvSpPr txBox="1"/>
            <p:nvPr/>
          </p:nvSpPr>
          <p:spPr>
            <a:xfrm>
              <a:off x="0" y="0"/>
              <a:ext cx="6207646" cy="438150"/>
            </a:xfrm>
            <a:prstGeom prst="rect">
              <a:avLst/>
            </a:prstGeom>
          </p:spPr>
          <p:txBody>
            <a:bodyPr lIns="0" tIns="0" rIns="0" bIns="0" rtlCol="0" anchor="ctr"/>
            <a:lstStyle/>
            <a:p>
              <a:pPr algn="l">
                <a:lnSpc>
                  <a:spcPts val="2565"/>
                </a:lnSpc>
              </a:pPr>
              <a:r>
                <a:rPr lang="en-US" sz="2137">
                  <a:solidFill>
                    <a:srgbClr val="064E3B"/>
                  </a:solidFill>
                  <a:latin typeface="Inter"/>
                  <a:ea typeface="Inter"/>
                  <a:cs typeface="Inter"/>
                  <a:sym typeface="Inter"/>
                </a:rPr>
                <a:t>3. Expense Forecasting</a:t>
              </a:r>
            </a:p>
          </p:txBody>
        </p:sp>
      </p:grpSp>
      <p:sp>
        <p:nvSpPr>
          <p:cNvPr id="33" name="TextBox 33"/>
          <p:cNvSpPr txBox="1"/>
          <p:nvPr/>
        </p:nvSpPr>
        <p:spPr>
          <a:xfrm>
            <a:off x="12496648" y="5008359"/>
            <a:ext cx="4819802" cy="336947"/>
          </a:xfrm>
          <a:prstGeom prst="rect">
            <a:avLst/>
          </a:prstGeom>
        </p:spPr>
        <p:txBody>
          <a:bodyPr lIns="0" tIns="0" rIns="0" bIns="0" rtlCol="0" anchor="t">
            <a:spAutoFit/>
          </a:bodyPr>
          <a:lstStyle/>
          <a:p>
            <a:pPr algn="l">
              <a:lnSpc>
                <a:spcPts val="2277"/>
              </a:lnSpc>
            </a:pPr>
            <a:r>
              <a:rPr lang="en-US" sz="1518">
                <a:solidFill>
                  <a:srgbClr val="047857"/>
                </a:solidFill>
                <a:latin typeface="Inter"/>
                <a:ea typeface="Inter"/>
                <a:cs typeface="Inter"/>
                <a:sym typeface="Inter"/>
              </a:rPr>
              <a:t>LINEAR REGRESSION MODELING</a:t>
            </a:r>
          </a:p>
        </p:txBody>
      </p:sp>
      <p:sp>
        <p:nvSpPr>
          <p:cNvPr id="34" name="TextBox 34"/>
          <p:cNvSpPr txBox="1"/>
          <p:nvPr/>
        </p:nvSpPr>
        <p:spPr>
          <a:xfrm>
            <a:off x="12496648" y="5421506"/>
            <a:ext cx="4819802" cy="970359"/>
          </a:xfrm>
          <a:prstGeom prst="rect">
            <a:avLst/>
          </a:prstGeom>
        </p:spPr>
        <p:txBody>
          <a:bodyPr lIns="0" tIns="0" rIns="0" bIns="0" rtlCol="0" anchor="t">
            <a:spAutoFit/>
          </a:bodyPr>
          <a:lstStyle/>
          <a:p>
            <a:pPr algn="l">
              <a:lnSpc>
                <a:spcPts val="2446"/>
              </a:lnSpc>
            </a:pPr>
            <a:r>
              <a:rPr lang="en-US" sz="1687">
                <a:solidFill>
                  <a:srgbClr val="475569"/>
                </a:solidFill>
                <a:latin typeface="Inter"/>
                <a:ea typeface="Inter"/>
                <a:cs typeface="Inter"/>
                <a:sym typeface="Inter"/>
              </a:rPr>
              <a:t>Analyzes cumulative historical burn rates across days of the month to project estimated end-of-month total expenditure.</a:t>
            </a:r>
          </a:p>
        </p:txBody>
      </p:sp>
      <p:grpSp>
        <p:nvGrpSpPr>
          <p:cNvPr id="35" name="Group 35"/>
          <p:cNvGrpSpPr/>
          <p:nvPr/>
        </p:nvGrpSpPr>
        <p:grpSpPr>
          <a:xfrm>
            <a:off x="971550" y="4613072"/>
            <a:ext cx="271462" cy="271462"/>
            <a:chOff x="0" y="0"/>
            <a:chExt cx="361950" cy="361950"/>
          </a:xfrm>
        </p:grpSpPr>
        <p:sp>
          <p:nvSpPr>
            <p:cNvPr id="36" name="Freeform 36" descr="image.png"/>
            <p:cNvSpPr/>
            <p:nvPr/>
          </p:nvSpPr>
          <p:spPr>
            <a:xfrm>
              <a:off x="0" y="0"/>
              <a:ext cx="361950" cy="361950"/>
            </a:xfrm>
            <a:custGeom>
              <a:avLst/>
              <a:gdLst/>
              <a:ahLst/>
              <a:cxnLst/>
              <a:rect l="l" t="t" r="r" b="b"/>
              <a:pathLst>
                <a:path w="361950" h="361950">
                  <a:moveTo>
                    <a:pt x="0" y="0"/>
                  </a:moveTo>
                  <a:lnTo>
                    <a:pt x="361950" y="0"/>
                  </a:lnTo>
                  <a:lnTo>
                    <a:pt x="361950" y="361950"/>
                  </a:lnTo>
                  <a:lnTo>
                    <a:pt x="0" y="361950"/>
                  </a:lnTo>
                  <a:lnTo>
                    <a:pt x="0" y="0"/>
                  </a:lnTo>
                  <a:close/>
                </a:path>
              </a:pathLst>
            </a:custGeom>
            <a:blipFill>
              <a:blip r:embed="rId10"/>
              <a:stretch>
                <a:fillRect t="-2631" b="-2631"/>
              </a:stretch>
            </a:blipFill>
          </p:spPr>
        </p:sp>
      </p:grpSp>
      <p:grpSp>
        <p:nvGrpSpPr>
          <p:cNvPr id="37" name="Group 37"/>
          <p:cNvGrpSpPr/>
          <p:nvPr/>
        </p:nvGrpSpPr>
        <p:grpSpPr>
          <a:xfrm>
            <a:off x="1143000" y="6706191"/>
            <a:ext cx="200025" cy="192881"/>
            <a:chOff x="0" y="0"/>
            <a:chExt cx="266700" cy="257175"/>
          </a:xfrm>
        </p:grpSpPr>
        <p:sp>
          <p:nvSpPr>
            <p:cNvPr id="38" name="Freeform 38" descr="image.png"/>
            <p:cNvSpPr/>
            <p:nvPr/>
          </p:nvSpPr>
          <p:spPr>
            <a:xfrm>
              <a:off x="0" y="0"/>
              <a:ext cx="266700" cy="257175"/>
            </a:xfrm>
            <a:custGeom>
              <a:avLst/>
              <a:gdLst/>
              <a:ahLst/>
              <a:cxnLst/>
              <a:rect l="l" t="t" r="r" b="b"/>
              <a:pathLst>
                <a:path w="266700" h="257175">
                  <a:moveTo>
                    <a:pt x="0" y="0"/>
                  </a:moveTo>
                  <a:lnTo>
                    <a:pt x="266700" y="0"/>
                  </a:lnTo>
                  <a:lnTo>
                    <a:pt x="266700" y="257175"/>
                  </a:lnTo>
                  <a:lnTo>
                    <a:pt x="0" y="257175"/>
                  </a:lnTo>
                  <a:lnTo>
                    <a:pt x="0" y="0"/>
                  </a:lnTo>
                  <a:close/>
                </a:path>
              </a:pathLst>
            </a:custGeom>
            <a:blipFill>
              <a:blip r:embed="rId11"/>
              <a:stretch>
                <a:fillRect t="-1851" b="-1851"/>
              </a:stretch>
            </a:blipFill>
          </p:spPr>
        </p:sp>
      </p:grpSp>
      <p:grpSp>
        <p:nvGrpSpPr>
          <p:cNvPr id="39" name="Group 39"/>
          <p:cNvGrpSpPr/>
          <p:nvPr/>
        </p:nvGrpSpPr>
        <p:grpSpPr>
          <a:xfrm>
            <a:off x="6734099" y="4613072"/>
            <a:ext cx="271462" cy="271462"/>
            <a:chOff x="0" y="0"/>
            <a:chExt cx="361950" cy="361950"/>
          </a:xfrm>
        </p:grpSpPr>
        <p:sp>
          <p:nvSpPr>
            <p:cNvPr id="40" name="Freeform 40" descr="image.png"/>
            <p:cNvSpPr/>
            <p:nvPr/>
          </p:nvSpPr>
          <p:spPr>
            <a:xfrm>
              <a:off x="0" y="0"/>
              <a:ext cx="361950" cy="361950"/>
            </a:xfrm>
            <a:custGeom>
              <a:avLst/>
              <a:gdLst/>
              <a:ahLst/>
              <a:cxnLst/>
              <a:rect l="l" t="t" r="r" b="b"/>
              <a:pathLst>
                <a:path w="361950" h="361950">
                  <a:moveTo>
                    <a:pt x="0" y="0"/>
                  </a:moveTo>
                  <a:lnTo>
                    <a:pt x="361950" y="0"/>
                  </a:lnTo>
                  <a:lnTo>
                    <a:pt x="361950" y="361950"/>
                  </a:lnTo>
                  <a:lnTo>
                    <a:pt x="0" y="361950"/>
                  </a:lnTo>
                  <a:lnTo>
                    <a:pt x="0" y="0"/>
                  </a:lnTo>
                  <a:close/>
                </a:path>
              </a:pathLst>
            </a:custGeom>
            <a:blipFill>
              <a:blip r:embed="rId12"/>
              <a:stretch>
                <a:fillRect t="-2631" b="-2631"/>
              </a:stretch>
            </a:blipFill>
          </p:spPr>
        </p:sp>
      </p:grpSp>
      <p:grpSp>
        <p:nvGrpSpPr>
          <p:cNvPr id="41" name="Group 41"/>
          <p:cNvGrpSpPr/>
          <p:nvPr/>
        </p:nvGrpSpPr>
        <p:grpSpPr>
          <a:xfrm>
            <a:off x="6905549" y="7016944"/>
            <a:ext cx="200025" cy="192881"/>
            <a:chOff x="0" y="0"/>
            <a:chExt cx="266700" cy="257175"/>
          </a:xfrm>
        </p:grpSpPr>
        <p:sp>
          <p:nvSpPr>
            <p:cNvPr id="42" name="Freeform 42" descr="image.png"/>
            <p:cNvSpPr/>
            <p:nvPr/>
          </p:nvSpPr>
          <p:spPr>
            <a:xfrm>
              <a:off x="0" y="0"/>
              <a:ext cx="266700" cy="257175"/>
            </a:xfrm>
            <a:custGeom>
              <a:avLst/>
              <a:gdLst/>
              <a:ahLst/>
              <a:cxnLst/>
              <a:rect l="l" t="t" r="r" b="b"/>
              <a:pathLst>
                <a:path w="266700" h="257175">
                  <a:moveTo>
                    <a:pt x="0" y="0"/>
                  </a:moveTo>
                  <a:lnTo>
                    <a:pt x="266700" y="0"/>
                  </a:lnTo>
                  <a:lnTo>
                    <a:pt x="266700" y="257175"/>
                  </a:lnTo>
                  <a:lnTo>
                    <a:pt x="0" y="257175"/>
                  </a:lnTo>
                  <a:lnTo>
                    <a:pt x="0" y="0"/>
                  </a:lnTo>
                  <a:close/>
                </a:path>
              </a:pathLst>
            </a:custGeom>
            <a:blipFill>
              <a:blip r:embed="rId13"/>
              <a:stretch>
                <a:fillRect t="-1851" b="-1851"/>
              </a:stretch>
            </a:blipFill>
          </p:spPr>
        </p:sp>
      </p:grpSp>
      <p:grpSp>
        <p:nvGrpSpPr>
          <p:cNvPr id="43" name="Group 43"/>
          <p:cNvGrpSpPr/>
          <p:nvPr/>
        </p:nvGrpSpPr>
        <p:grpSpPr>
          <a:xfrm>
            <a:off x="12496648" y="4613072"/>
            <a:ext cx="271462" cy="271462"/>
            <a:chOff x="0" y="0"/>
            <a:chExt cx="361950" cy="361950"/>
          </a:xfrm>
        </p:grpSpPr>
        <p:sp>
          <p:nvSpPr>
            <p:cNvPr id="44" name="Freeform 44" descr="image.png"/>
            <p:cNvSpPr/>
            <p:nvPr/>
          </p:nvSpPr>
          <p:spPr>
            <a:xfrm>
              <a:off x="0" y="0"/>
              <a:ext cx="361950" cy="361950"/>
            </a:xfrm>
            <a:custGeom>
              <a:avLst/>
              <a:gdLst/>
              <a:ahLst/>
              <a:cxnLst/>
              <a:rect l="l" t="t" r="r" b="b"/>
              <a:pathLst>
                <a:path w="361950" h="361950">
                  <a:moveTo>
                    <a:pt x="0" y="0"/>
                  </a:moveTo>
                  <a:lnTo>
                    <a:pt x="361950" y="0"/>
                  </a:lnTo>
                  <a:lnTo>
                    <a:pt x="361950" y="361950"/>
                  </a:lnTo>
                  <a:lnTo>
                    <a:pt x="0" y="361950"/>
                  </a:lnTo>
                  <a:lnTo>
                    <a:pt x="0" y="0"/>
                  </a:lnTo>
                  <a:close/>
                </a:path>
              </a:pathLst>
            </a:custGeom>
            <a:blipFill>
              <a:blip r:embed="rId14"/>
              <a:stretch>
                <a:fillRect t="-2631" b="-2631"/>
              </a:stretch>
            </a:blipFill>
          </p:spPr>
        </p:sp>
      </p:grpSp>
      <p:grpSp>
        <p:nvGrpSpPr>
          <p:cNvPr id="45" name="Group 45"/>
          <p:cNvGrpSpPr/>
          <p:nvPr/>
        </p:nvGrpSpPr>
        <p:grpSpPr>
          <a:xfrm>
            <a:off x="12668098" y="6706191"/>
            <a:ext cx="171450" cy="192881"/>
            <a:chOff x="0" y="0"/>
            <a:chExt cx="228600" cy="257175"/>
          </a:xfrm>
        </p:grpSpPr>
        <p:sp>
          <p:nvSpPr>
            <p:cNvPr id="46" name="Freeform 46" descr="image.png"/>
            <p:cNvSpPr/>
            <p:nvPr/>
          </p:nvSpPr>
          <p:spPr>
            <a:xfrm>
              <a:off x="0" y="0"/>
              <a:ext cx="228600" cy="257175"/>
            </a:xfrm>
            <a:custGeom>
              <a:avLst/>
              <a:gdLst/>
              <a:ahLst/>
              <a:cxnLst/>
              <a:rect l="l" t="t" r="r" b="b"/>
              <a:pathLst>
                <a:path w="228600" h="257175">
                  <a:moveTo>
                    <a:pt x="0" y="0"/>
                  </a:moveTo>
                  <a:lnTo>
                    <a:pt x="228600" y="0"/>
                  </a:lnTo>
                  <a:lnTo>
                    <a:pt x="228600" y="257175"/>
                  </a:lnTo>
                  <a:lnTo>
                    <a:pt x="0" y="257175"/>
                  </a:lnTo>
                  <a:lnTo>
                    <a:pt x="0" y="0"/>
                  </a:lnTo>
                  <a:close/>
                </a:path>
              </a:pathLst>
            </a:custGeom>
            <a:blipFill>
              <a:blip r:embed="rId15"/>
              <a:stretch>
                <a:fillRect t="-1851" b="-1851"/>
              </a:stretch>
            </a:blipFill>
          </p:spPr>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sp>
      </p:grpSp>
      <p:grpSp>
        <p:nvGrpSpPr>
          <p:cNvPr id="4" name="Group 4"/>
          <p:cNvGrpSpPr/>
          <p:nvPr/>
        </p:nvGrpSpPr>
        <p:grpSpPr>
          <a:xfrm>
            <a:off x="9315450" y="1985296"/>
            <a:ext cx="8329612" cy="5429250"/>
            <a:chOff x="0" y="0"/>
            <a:chExt cx="11106150" cy="7239000"/>
          </a:xfrm>
        </p:grpSpPr>
        <p:sp>
          <p:nvSpPr>
            <p:cNvPr id="5" name="Freeform 5" descr="image.png"/>
            <p:cNvSpPr/>
            <p:nvPr/>
          </p:nvSpPr>
          <p:spPr>
            <a:xfrm>
              <a:off x="0" y="0"/>
              <a:ext cx="11106150" cy="7239000"/>
            </a:xfrm>
            <a:custGeom>
              <a:avLst/>
              <a:gdLst/>
              <a:ahLst/>
              <a:cxnLst/>
              <a:rect l="l" t="t" r="r" b="b"/>
              <a:pathLst>
                <a:path w="11106150" h="7239000">
                  <a:moveTo>
                    <a:pt x="0" y="0"/>
                  </a:moveTo>
                  <a:lnTo>
                    <a:pt x="11106150" y="0"/>
                  </a:lnTo>
                  <a:lnTo>
                    <a:pt x="11106150" y="7239000"/>
                  </a:lnTo>
                  <a:lnTo>
                    <a:pt x="0" y="7239000"/>
                  </a:lnTo>
                  <a:lnTo>
                    <a:pt x="0" y="0"/>
                  </a:lnTo>
                  <a:close/>
                </a:path>
              </a:pathLst>
            </a:custGeom>
            <a:blipFill>
              <a:blip r:embed="rId3"/>
              <a:stretch>
                <a:fillRect t="-45" b="-45"/>
              </a:stretch>
            </a:blipFill>
          </p:spPr>
        </p:sp>
      </p:grpSp>
      <p:grpSp>
        <p:nvGrpSpPr>
          <p:cNvPr id="6" name="Group 6"/>
          <p:cNvGrpSpPr/>
          <p:nvPr/>
        </p:nvGrpSpPr>
        <p:grpSpPr>
          <a:xfrm>
            <a:off x="642938" y="1985296"/>
            <a:ext cx="8329612" cy="5084121"/>
            <a:chOff x="0" y="0"/>
            <a:chExt cx="11106150" cy="6778828"/>
          </a:xfrm>
        </p:grpSpPr>
        <p:sp>
          <p:nvSpPr>
            <p:cNvPr id="7" name="Freeform 7" descr="image.png"/>
            <p:cNvSpPr/>
            <p:nvPr/>
          </p:nvSpPr>
          <p:spPr>
            <a:xfrm>
              <a:off x="0" y="0"/>
              <a:ext cx="11106150" cy="6778879"/>
            </a:xfrm>
            <a:custGeom>
              <a:avLst/>
              <a:gdLst/>
              <a:ahLst/>
              <a:cxnLst/>
              <a:rect l="l" t="t" r="r" b="b"/>
              <a:pathLst>
                <a:path w="11106150" h="6778879">
                  <a:moveTo>
                    <a:pt x="0" y="0"/>
                  </a:moveTo>
                  <a:lnTo>
                    <a:pt x="11106150" y="0"/>
                  </a:lnTo>
                  <a:lnTo>
                    <a:pt x="11106150" y="6778879"/>
                  </a:lnTo>
                  <a:lnTo>
                    <a:pt x="0" y="6778879"/>
                  </a:lnTo>
                  <a:lnTo>
                    <a:pt x="0" y="0"/>
                  </a:lnTo>
                  <a:close/>
                </a:path>
              </a:pathLst>
            </a:custGeom>
            <a:blipFill>
              <a:blip r:embed="rId4"/>
              <a:stretch>
                <a:fillRect t="-76" b="-75"/>
              </a:stretch>
            </a:blipFill>
          </p:spPr>
        </p:sp>
      </p:grpSp>
      <p:grpSp>
        <p:nvGrpSpPr>
          <p:cNvPr id="8" name="Group 8"/>
          <p:cNvGrpSpPr/>
          <p:nvPr/>
        </p:nvGrpSpPr>
        <p:grpSpPr>
          <a:xfrm>
            <a:off x="642938" y="7298007"/>
            <a:ext cx="8329612" cy="2032397"/>
            <a:chOff x="0" y="0"/>
            <a:chExt cx="11106150" cy="2709862"/>
          </a:xfrm>
        </p:grpSpPr>
        <p:sp>
          <p:nvSpPr>
            <p:cNvPr id="9" name="Freeform 9" descr="image.png"/>
            <p:cNvSpPr/>
            <p:nvPr/>
          </p:nvSpPr>
          <p:spPr>
            <a:xfrm>
              <a:off x="0" y="0"/>
              <a:ext cx="11106150" cy="2709799"/>
            </a:xfrm>
            <a:custGeom>
              <a:avLst/>
              <a:gdLst/>
              <a:ahLst/>
              <a:cxnLst/>
              <a:rect l="l" t="t" r="r" b="b"/>
              <a:pathLst>
                <a:path w="11106150" h="2709799">
                  <a:moveTo>
                    <a:pt x="0" y="0"/>
                  </a:moveTo>
                  <a:lnTo>
                    <a:pt x="11106150" y="0"/>
                  </a:lnTo>
                  <a:lnTo>
                    <a:pt x="11106150" y="2709799"/>
                  </a:lnTo>
                  <a:lnTo>
                    <a:pt x="0" y="2709799"/>
                  </a:lnTo>
                  <a:lnTo>
                    <a:pt x="0" y="0"/>
                  </a:lnTo>
                  <a:close/>
                </a:path>
              </a:pathLst>
            </a:custGeom>
            <a:blipFill>
              <a:blip r:embed="rId5"/>
              <a:stretch>
                <a:fillRect t="-528" b="-530"/>
              </a:stretch>
            </a:blipFill>
          </p:spPr>
        </p:sp>
      </p:grpSp>
      <p:grpSp>
        <p:nvGrpSpPr>
          <p:cNvPr id="10" name="Group 10"/>
          <p:cNvGrpSpPr/>
          <p:nvPr/>
        </p:nvGrpSpPr>
        <p:grpSpPr>
          <a:xfrm>
            <a:off x="971550" y="3621214"/>
            <a:ext cx="7672388" cy="3148165"/>
            <a:chOff x="0" y="0"/>
            <a:chExt cx="10229850" cy="4197553"/>
          </a:xfrm>
        </p:grpSpPr>
        <p:sp>
          <p:nvSpPr>
            <p:cNvPr id="11" name="Freeform 11" descr="image.png"/>
            <p:cNvSpPr/>
            <p:nvPr/>
          </p:nvSpPr>
          <p:spPr>
            <a:xfrm>
              <a:off x="0" y="0"/>
              <a:ext cx="10229850" cy="4197604"/>
            </a:xfrm>
            <a:custGeom>
              <a:avLst/>
              <a:gdLst/>
              <a:ahLst/>
              <a:cxnLst/>
              <a:rect l="l" t="t" r="r" b="b"/>
              <a:pathLst>
                <a:path w="10229850" h="4197604">
                  <a:moveTo>
                    <a:pt x="0" y="0"/>
                  </a:moveTo>
                  <a:lnTo>
                    <a:pt x="10229850" y="0"/>
                  </a:lnTo>
                  <a:lnTo>
                    <a:pt x="10229850" y="4197604"/>
                  </a:lnTo>
                  <a:lnTo>
                    <a:pt x="0" y="4197604"/>
                  </a:lnTo>
                  <a:lnTo>
                    <a:pt x="0" y="0"/>
                  </a:lnTo>
                  <a:close/>
                </a:path>
              </a:pathLst>
            </a:custGeom>
            <a:blipFill>
              <a:blip r:embed="rId6"/>
              <a:stretch>
                <a:fillRect l="-129" r="-130" b="1"/>
              </a:stretch>
            </a:blipFill>
          </p:spPr>
        </p:sp>
      </p:grpSp>
      <p:sp>
        <p:nvSpPr>
          <p:cNvPr id="12" name="TextBox 12"/>
          <p:cNvSpPr txBox="1"/>
          <p:nvPr/>
        </p:nvSpPr>
        <p:spPr>
          <a:xfrm>
            <a:off x="642938" y="490537"/>
            <a:ext cx="7733938" cy="566737"/>
          </a:xfrm>
          <a:prstGeom prst="rect">
            <a:avLst/>
          </a:prstGeom>
        </p:spPr>
        <p:txBody>
          <a:bodyPr lIns="0" tIns="0" rIns="0" bIns="0" rtlCol="0" anchor="t">
            <a:spAutoFit/>
          </a:bodyPr>
          <a:lstStyle/>
          <a:p>
            <a:pPr algn="l">
              <a:lnSpc>
                <a:spcPts val="4320"/>
              </a:lnSpc>
            </a:pPr>
            <a:r>
              <a:rPr lang="en-US" sz="3600" b="1">
                <a:solidFill>
                  <a:srgbClr val="064E3B"/>
                </a:solidFill>
                <a:latin typeface="Inter Bold"/>
                <a:ea typeface="Inter Bold"/>
                <a:cs typeface="Inter Bold"/>
                <a:sym typeface="Inter Bold"/>
              </a:rPr>
              <a:t>System Architecture &amp; Tech Stack</a:t>
            </a:r>
          </a:p>
        </p:txBody>
      </p:sp>
      <p:grpSp>
        <p:nvGrpSpPr>
          <p:cNvPr id="13" name="Group 13"/>
          <p:cNvGrpSpPr/>
          <p:nvPr/>
        </p:nvGrpSpPr>
        <p:grpSpPr>
          <a:xfrm>
            <a:off x="15557078" y="628650"/>
            <a:ext cx="2087985" cy="428625"/>
            <a:chOff x="0" y="0"/>
            <a:chExt cx="2783980" cy="571500"/>
          </a:xfrm>
        </p:grpSpPr>
        <p:sp>
          <p:nvSpPr>
            <p:cNvPr id="14" name="Freeform 14" descr="image.png"/>
            <p:cNvSpPr/>
            <p:nvPr/>
          </p:nvSpPr>
          <p:spPr>
            <a:xfrm>
              <a:off x="0" y="0"/>
              <a:ext cx="2783967" cy="571500"/>
            </a:xfrm>
            <a:custGeom>
              <a:avLst/>
              <a:gdLst/>
              <a:ahLst/>
              <a:cxnLst/>
              <a:rect l="l" t="t" r="r" b="b"/>
              <a:pathLst>
                <a:path w="2783967" h="571500">
                  <a:moveTo>
                    <a:pt x="0" y="0"/>
                  </a:moveTo>
                  <a:lnTo>
                    <a:pt x="2783967" y="0"/>
                  </a:lnTo>
                  <a:lnTo>
                    <a:pt x="2783967" y="571500"/>
                  </a:lnTo>
                  <a:lnTo>
                    <a:pt x="0" y="571500"/>
                  </a:lnTo>
                  <a:lnTo>
                    <a:pt x="0" y="0"/>
                  </a:lnTo>
                  <a:close/>
                </a:path>
              </a:pathLst>
            </a:custGeom>
            <a:blipFill>
              <a:blip r:embed="rId7"/>
              <a:stretch>
                <a:fillRect l="-294" r="-294"/>
              </a:stretch>
            </a:blipFill>
          </p:spPr>
        </p:sp>
      </p:grpSp>
      <p:grpSp>
        <p:nvGrpSpPr>
          <p:cNvPr id="15" name="Group 15"/>
          <p:cNvGrpSpPr/>
          <p:nvPr/>
        </p:nvGrpSpPr>
        <p:grpSpPr>
          <a:xfrm>
            <a:off x="9329738" y="1999583"/>
            <a:ext cx="8301038" cy="5400675"/>
            <a:chOff x="0" y="0"/>
            <a:chExt cx="11068050" cy="7200900"/>
          </a:xfrm>
        </p:grpSpPr>
        <p:sp>
          <p:nvSpPr>
            <p:cNvPr id="16" name="Freeform 16" descr="image.png"/>
            <p:cNvSpPr/>
            <p:nvPr/>
          </p:nvSpPr>
          <p:spPr>
            <a:xfrm>
              <a:off x="0" y="0"/>
              <a:ext cx="11068050" cy="7200900"/>
            </a:xfrm>
            <a:custGeom>
              <a:avLst/>
              <a:gdLst/>
              <a:ahLst/>
              <a:cxnLst/>
              <a:rect l="l" t="t" r="r" b="b"/>
              <a:pathLst>
                <a:path w="11068050" h="7200900">
                  <a:moveTo>
                    <a:pt x="0" y="0"/>
                  </a:moveTo>
                  <a:lnTo>
                    <a:pt x="11068050" y="0"/>
                  </a:lnTo>
                  <a:lnTo>
                    <a:pt x="11068050" y="7200900"/>
                  </a:lnTo>
                  <a:lnTo>
                    <a:pt x="0" y="7200900"/>
                  </a:lnTo>
                  <a:lnTo>
                    <a:pt x="0" y="0"/>
                  </a:lnTo>
                  <a:close/>
                </a:path>
              </a:pathLst>
            </a:custGeom>
            <a:blipFill>
              <a:blip r:embed="rId8"/>
              <a:stretch>
                <a:fillRect t="-137" b="-137"/>
              </a:stretch>
            </a:blipFill>
          </p:spPr>
        </p:sp>
      </p:grpSp>
      <p:grpSp>
        <p:nvGrpSpPr>
          <p:cNvPr id="17" name="Group 17"/>
          <p:cNvGrpSpPr/>
          <p:nvPr/>
        </p:nvGrpSpPr>
        <p:grpSpPr>
          <a:xfrm>
            <a:off x="1385888" y="2313908"/>
            <a:ext cx="7620953" cy="328612"/>
            <a:chOff x="0" y="0"/>
            <a:chExt cx="10161270" cy="438150"/>
          </a:xfrm>
        </p:grpSpPr>
        <p:sp>
          <p:nvSpPr>
            <p:cNvPr id="18" name="Freeform 18"/>
            <p:cNvSpPr/>
            <p:nvPr/>
          </p:nvSpPr>
          <p:spPr>
            <a:xfrm>
              <a:off x="0" y="0"/>
              <a:ext cx="10161270" cy="438150"/>
            </a:xfrm>
            <a:custGeom>
              <a:avLst/>
              <a:gdLst/>
              <a:ahLst/>
              <a:cxnLst/>
              <a:rect l="l" t="t" r="r" b="b"/>
              <a:pathLst>
                <a:path w="10161270" h="438150">
                  <a:moveTo>
                    <a:pt x="0" y="0"/>
                  </a:moveTo>
                  <a:lnTo>
                    <a:pt x="10161270" y="0"/>
                  </a:lnTo>
                  <a:lnTo>
                    <a:pt x="10161270" y="438150"/>
                  </a:lnTo>
                  <a:lnTo>
                    <a:pt x="0" y="438150"/>
                  </a:lnTo>
                  <a:close/>
                </a:path>
              </a:pathLst>
            </a:custGeom>
            <a:blipFill>
              <a:blip r:embed="rId9">
                <a:alphaModFix amt="0"/>
              </a:blip>
              <a:stretch>
                <a:fillRect t="-401883" b="-401883"/>
              </a:stretch>
            </a:blipFill>
          </p:spPr>
        </p:sp>
        <p:sp>
          <p:nvSpPr>
            <p:cNvPr id="19" name="TextBox 19"/>
            <p:cNvSpPr txBox="1"/>
            <p:nvPr/>
          </p:nvSpPr>
          <p:spPr>
            <a:xfrm>
              <a:off x="0" y="0"/>
              <a:ext cx="10161270" cy="438150"/>
            </a:xfrm>
            <a:prstGeom prst="rect">
              <a:avLst/>
            </a:prstGeom>
          </p:spPr>
          <p:txBody>
            <a:bodyPr lIns="0" tIns="0" rIns="0" bIns="0" rtlCol="0" anchor="ctr"/>
            <a:lstStyle/>
            <a:p>
              <a:pPr algn="l">
                <a:lnSpc>
                  <a:spcPts val="2565"/>
                </a:lnSpc>
              </a:pPr>
              <a:r>
                <a:rPr lang="en-US" sz="2137">
                  <a:solidFill>
                    <a:srgbClr val="064E3B"/>
                  </a:solidFill>
                  <a:latin typeface="Inter"/>
                  <a:ea typeface="Inter"/>
                  <a:cs typeface="Inter"/>
                  <a:sym typeface="Inter"/>
                </a:rPr>
                <a:t>Layered Modular Architecture</a:t>
              </a:r>
            </a:p>
          </p:txBody>
        </p:sp>
      </p:grpSp>
      <p:sp>
        <p:nvSpPr>
          <p:cNvPr id="20" name="TextBox 20"/>
          <p:cNvSpPr txBox="1"/>
          <p:nvPr/>
        </p:nvSpPr>
        <p:spPr>
          <a:xfrm>
            <a:off x="971550" y="2728246"/>
            <a:ext cx="7672388" cy="721519"/>
          </a:xfrm>
          <a:prstGeom prst="rect">
            <a:avLst/>
          </a:prstGeom>
        </p:spPr>
        <p:txBody>
          <a:bodyPr lIns="0" tIns="0" rIns="0" bIns="0" rtlCol="0" anchor="t">
            <a:spAutoFit/>
          </a:bodyPr>
          <a:lstStyle/>
          <a:p>
            <a:pPr algn="l">
              <a:lnSpc>
                <a:spcPts val="2614"/>
              </a:lnSpc>
            </a:pPr>
            <a:r>
              <a:rPr lang="en-US" sz="1743">
                <a:solidFill>
                  <a:srgbClr val="475569"/>
                </a:solidFill>
                <a:latin typeface="Inter"/>
                <a:ea typeface="Inter"/>
                <a:cs typeface="Inter"/>
                <a:sym typeface="Inter"/>
              </a:rPr>
              <a:t>The application follows a decoupled 5-tier architecture connecting the presentation layer to persistent storage and ML pipelines:</a:t>
            </a:r>
          </a:p>
        </p:txBody>
      </p:sp>
      <p:grpSp>
        <p:nvGrpSpPr>
          <p:cNvPr id="21" name="Group 21"/>
          <p:cNvGrpSpPr/>
          <p:nvPr/>
        </p:nvGrpSpPr>
        <p:grpSpPr>
          <a:xfrm>
            <a:off x="1328738" y="7626620"/>
            <a:ext cx="7680960" cy="328612"/>
            <a:chOff x="0" y="0"/>
            <a:chExt cx="10241280" cy="438150"/>
          </a:xfrm>
        </p:grpSpPr>
        <p:sp>
          <p:nvSpPr>
            <p:cNvPr id="22" name="Freeform 22"/>
            <p:cNvSpPr/>
            <p:nvPr/>
          </p:nvSpPr>
          <p:spPr>
            <a:xfrm>
              <a:off x="0" y="0"/>
              <a:ext cx="10241280" cy="438150"/>
            </a:xfrm>
            <a:custGeom>
              <a:avLst/>
              <a:gdLst/>
              <a:ahLst/>
              <a:cxnLst/>
              <a:rect l="l" t="t" r="r" b="b"/>
              <a:pathLst>
                <a:path w="10241280" h="438150">
                  <a:moveTo>
                    <a:pt x="0" y="0"/>
                  </a:moveTo>
                  <a:lnTo>
                    <a:pt x="10241280" y="0"/>
                  </a:lnTo>
                  <a:lnTo>
                    <a:pt x="10241280" y="438150"/>
                  </a:lnTo>
                  <a:lnTo>
                    <a:pt x="0" y="438150"/>
                  </a:lnTo>
                  <a:close/>
                </a:path>
              </a:pathLst>
            </a:custGeom>
            <a:blipFill>
              <a:blip r:embed="rId9">
                <a:alphaModFix amt="0"/>
              </a:blip>
              <a:stretch>
                <a:fillRect t="-405441" b="-405441"/>
              </a:stretch>
            </a:blipFill>
          </p:spPr>
        </p:sp>
        <p:sp>
          <p:nvSpPr>
            <p:cNvPr id="23" name="TextBox 23"/>
            <p:cNvSpPr txBox="1"/>
            <p:nvPr/>
          </p:nvSpPr>
          <p:spPr>
            <a:xfrm>
              <a:off x="0" y="0"/>
              <a:ext cx="10241280" cy="438150"/>
            </a:xfrm>
            <a:prstGeom prst="rect">
              <a:avLst/>
            </a:prstGeom>
          </p:spPr>
          <p:txBody>
            <a:bodyPr lIns="0" tIns="0" rIns="0" bIns="0" rtlCol="0" anchor="ctr"/>
            <a:lstStyle/>
            <a:p>
              <a:pPr algn="l">
                <a:lnSpc>
                  <a:spcPts val="2565"/>
                </a:lnSpc>
              </a:pPr>
              <a:r>
                <a:rPr lang="en-US" sz="2137">
                  <a:solidFill>
                    <a:srgbClr val="064E3B"/>
                  </a:solidFill>
                  <a:latin typeface="Inter"/>
                  <a:ea typeface="Inter"/>
                  <a:cs typeface="Inter"/>
                  <a:sym typeface="Inter"/>
                </a:rPr>
                <a:t>Technology Stack</a:t>
              </a:r>
            </a:p>
          </p:txBody>
        </p:sp>
      </p:grpSp>
      <p:sp>
        <p:nvSpPr>
          <p:cNvPr id="24" name="TextBox 24"/>
          <p:cNvSpPr txBox="1"/>
          <p:nvPr/>
        </p:nvSpPr>
        <p:spPr>
          <a:xfrm>
            <a:off x="971550" y="8040957"/>
            <a:ext cx="7672388" cy="989409"/>
          </a:xfrm>
          <a:prstGeom prst="rect">
            <a:avLst/>
          </a:prstGeom>
        </p:spPr>
        <p:txBody>
          <a:bodyPr lIns="0" tIns="0" rIns="0" bIns="0" rtlCol="0" anchor="t">
            <a:spAutoFit/>
          </a:bodyPr>
          <a:lstStyle/>
          <a:p>
            <a:pPr algn="l">
              <a:lnSpc>
                <a:spcPts val="2446"/>
              </a:lnSpc>
            </a:pPr>
            <a:r>
              <a:rPr lang="en-US" sz="1630" b="1">
                <a:solidFill>
                  <a:srgbClr val="334155"/>
                </a:solidFill>
                <a:latin typeface="Inter Bold"/>
                <a:ea typeface="Inter Bold"/>
                <a:cs typeface="Inter Bold"/>
                <a:sym typeface="Inter Bold"/>
              </a:rPr>
              <a:t>Frontend:</a:t>
            </a:r>
            <a:r>
              <a:rPr lang="en-US" sz="1630">
                <a:solidFill>
                  <a:srgbClr val="334155"/>
                </a:solidFill>
                <a:latin typeface="Inter"/>
                <a:ea typeface="Inter"/>
                <a:cs typeface="Inter"/>
                <a:sym typeface="Inter"/>
              </a:rPr>
              <a:t> Streamlit • </a:t>
            </a:r>
            <a:r>
              <a:rPr lang="en-US" sz="1630" b="1">
                <a:solidFill>
                  <a:srgbClr val="334155"/>
                </a:solidFill>
                <a:latin typeface="Inter Bold"/>
                <a:ea typeface="Inter Bold"/>
                <a:cs typeface="Inter Bold"/>
                <a:sym typeface="Inter Bold"/>
              </a:rPr>
              <a:t>Core Logic:</a:t>
            </a:r>
            <a:r>
              <a:rPr lang="en-US" sz="1630">
                <a:solidFill>
                  <a:srgbClr val="334155"/>
                </a:solidFill>
                <a:latin typeface="Inter"/>
                <a:ea typeface="Inter"/>
                <a:cs typeface="Inter"/>
                <a:sym typeface="Inter"/>
              </a:rPr>
              <a:t> Python 3.x • </a:t>
            </a:r>
            <a:r>
              <a:rPr lang="en-US" sz="1630" b="1">
                <a:solidFill>
                  <a:srgbClr val="334155"/>
                </a:solidFill>
                <a:latin typeface="Inter Bold"/>
                <a:ea typeface="Inter Bold"/>
                <a:cs typeface="Inter Bold"/>
                <a:sym typeface="Inter Bold"/>
              </a:rPr>
              <a:t>Data:</a:t>
            </a:r>
            <a:r>
              <a:rPr lang="en-US" sz="1630">
                <a:solidFill>
                  <a:srgbClr val="334155"/>
                </a:solidFill>
                <a:latin typeface="Inter"/>
                <a:ea typeface="Inter"/>
                <a:cs typeface="Inter"/>
                <a:sym typeface="Inter"/>
              </a:rPr>
              <a:t> Pandas &amp; NumPy • </a:t>
            </a:r>
            <a:r>
              <a:rPr lang="en-US" sz="1630" b="1">
                <a:solidFill>
                  <a:srgbClr val="334155"/>
                </a:solidFill>
                <a:latin typeface="Inter Bold"/>
                <a:ea typeface="Inter Bold"/>
                <a:cs typeface="Inter Bold"/>
                <a:sym typeface="Inter Bold"/>
              </a:rPr>
              <a:t>Machine Learning:</a:t>
            </a:r>
            <a:r>
              <a:rPr lang="en-US" sz="1630">
                <a:solidFill>
                  <a:srgbClr val="334155"/>
                </a:solidFill>
                <a:latin typeface="Inter"/>
                <a:ea typeface="Inter"/>
                <a:cs typeface="Inter"/>
                <a:sym typeface="Inter"/>
              </a:rPr>
              <a:t> Scikit-learn • </a:t>
            </a:r>
            <a:r>
              <a:rPr lang="en-US" sz="1630" b="1">
                <a:solidFill>
                  <a:srgbClr val="334155"/>
                </a:solidFill>
                <a:latin typeface="Inter Bold"/>
                <a:ea typeface="Inter Bold"/>
                <a:cs typeface="Inter Bold"/>
                <a:sym typeface="Inter Bold"/>
              </a:rPr>
              <a:t>Database:</a:t>
            </a:r>
            <a:r>
              <a:rPr lang="en-US" sz="1630">
                <a:solidFill>
                  <a:srgbClr val="334155"/>
                </a:solidFill>
                <a:latin typeface="Inter"/>
                <a:ea typeface="Inter"/>
                <a:cs typeface="Inter"/>
                <a:sym typeface="Inter"/>
              </a:rPr>
              <a:t> SQLite3 • </a:t>
            </a:r>
            <a:r>
              <a:rPr lang="en-US" sz="1630" b="1">
                <a:solidFill>
                  <a:srgbClr val="334155"/>
                </a:solidFill>
                <a:latin typeface="Inter Bold"/>
                <a:ea typeface="Inter Bold"/>
                <a:cs typeface="Inter Bold"/>
                <a:sym typeface="Inter Bold"/>
              </a:rPr>
              <a:t>Visualization:</a:t>
            </a:r>
            <a:r>
              <a:rPr lang="en-US" sz="1630">
                <a:solidFill>
                  <a:srgbClr val="334155"/>
                </a:solidFill>
                <a:latin typeface="Inter"/>
                <a:ea typeface="Inter"/>
                <a:cs typeface="Inter"/>
                <a:sym typeface="Inter"/>
              </a:rPr>
              <a:t> Matplotlib &amp; Seaborn</a:t>
            </a:r>
          </a:p>
        </p:txBody>
      </p:sp>
      <p:grpSp>
        <p:nvGrpSpPr>
          <p:cNvPr id="25" name="Group 25"/>
          <p:cNvGrpSpPr/>
          <p:nvPr/>
        </p:nvGrpSpPr>
        <p:grpSpPr>
          <a:xfrm>
            <a:off x="971550" y="2342483"/>
            <a:ext cx="300038" cy="271462"/>
            <a:chOff x="0" y="0"/>
            <a:chExt cx="400050" cy="361950"/>
          </a:xfrm>
        </p:grpSpPr>
        <p:sp>
          <p:nvSpPr>
            <p:cNvPr id="26" name="Freeform 26" descr="image.png"/>
            <p:cNvSpPr/>
            <p:nvPr/>
          </p:nvSpPr>
          <p:spPr>
            <a:xfrm>
              <a:off x="0" y="0"/>
              <a:ext cx="400050" cy="361950"/>
            </a:xfrm>
            <a:custGeom>
              <a:avLst/>
              <a:gdLst/>
              <a:ahLst/>
              <a:cxnLst/>
              <a:rect l="l" t="t" r="r" b="b"/>
              <a:pathLst>
                <a:path w="400050" h="361950">
                  <a:moveTo>
                    <a:pt x="0" y="0"/>
                  </a:moveTo>
                  <a:lnTo>
                    <a:pt x="400050" y="0"/>
                  </a:lnTo>
                  <a:lnTo>
                    <a:pt x="400050" y="361950"/>
                  </a:lnTo>
                  <a:lnTo>
                    <a:pt x="0" y="361950"/>
                  </a:lnTo>
                  <a:lnTo>
                    <a:pt x="0" y="0"/>
                  </a:lnTo>
                  <a:close/>
                </a:path>
              </a:pathLst>
            </a:custGeom>
            <a:blipFill>
              <a:blip r:embed="rId10"/>
              <a:stretch>
                <a:fillRect t="-2631" b="-2631"/>
              </a:stretch>
            </a:blipFill>
          </p:spPr>
        </p:sp>
      </p:grpSp>
      <p:grpSp>
        <p:nvGrpSpPr>
          <p:cNvPr id="27" name="Group 27"/>
          <p:cNvGrpSpPr/>
          <p:nvPr/>
        </p:nvGrpSpPr>
        <p:grpSpPr>
          <a:xfrm>
            <a:off x="971550" y="7655195"/>
            <a:ext cx="242888" cy="271462"/>
            <a:chOff x="0" y="0"/>
            <a:chExt cx="323850" cy="361950"/>
          </a:xfrm>
        </p:grpSpPr>
        <p:sp>
          <p:nvSpPr>
            <p:cNvPr id="28" name="Freeform 28" descr="image.png"/>
            <p:cNvSpPr/>
            <p:nvPr/>
          </p:nvSpPr>
          <p:spPr>
            <a:xfrm>
              <a:off x="0" y="0"/>
              <a:ext cx="323850" cy="361950"/>
            </a:xfrm>
            <a:custGeom>
              <a:avLst/>
              <a:gdLst/>
              <a:ahLst/>
              <a:cxnLst/>
              <a:rect l="l" t="t" r="r" b="b"/>
              <a:pathLst>
                <a:path w="323850" h="361950">
                  <a:moveTo>
                    <a:pt x="0" y="0"/>
                  </a:moveTo>
                  <a:lnTo>
                    <a:pt x="323850" y="0"/>
                  </a:lnTo>
                  <a:lnTo>
                    <a:pt x="323850" y="361950"/>
                  </a:lnTo>
                  <a:lnTo>
                    <a:pt x="0" y="361950"/>
                  </a:lnTo>
                  <a:lnTo>
                    <a:pt x="0" y="0"/>
                  </a:lnTo>
                  <a:close/>
                </a:path>
              </a:pathLst>
            </a:custGeom>
            <a:blipFill>
              <a:blip r:embed="rId11"/>
              <a:stretch>
                <a:fillRect t="-2631" b="-2631"/>
              </a:stretch>
            </a:blipFill>
          </p:spPr>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sp>
      </p:grpSp>
      <p:grpSp>
        <p:nvGrpSpPr>
          <p:cNvPr id="4" name="Group 4"/>
          <p:cNvGrpSpPr/>
          <p:nvPr/>
        </p:nvGrpSpPr>
        <p:grpSpPr>
          <a:xfrm>
            <a:off x="642938" y="7250906"/>
            <a:ext cx="17002125" cy="800100"/>
            <a:chOff x="0" y="0"/>
            <a:chExt cx="22669500" cy="1066800"/>
          </a:xfrm>
        </p:grpSpPr>
        <p:sp>
          <p:nvSpPr>
            <p:cNvPr id="5" name="Freeform 5" descr="image.png"/>
            <p:cNvSpPr/>
            <p:nvPr/>
          </p:nvSpPr>
          <p:spPr>
            <a:xfrm>
              <a:off x="0" y="0"/>
              <a:ext cx="22669500" cy="1066800"/>
            </a:xfrm>
            <a:custGeom>
              <a:avLst/>
              <a:gdLst/>
              <a:ahLst/>
              <a:cxnLst/>
              <a:rect l="l" t="t" r="r" b="b"/>
              <a:pathLst>
                <a:path w="22669500" h="1066800">
                  <a:moveTo>
                    <a:pt x="0" y="0"/>
                  </a:moveTo>
                  <a:lnTo>
                    <a:pt x="22669500" y="0"/>
                  </a:lnTo>
                  <a:lnTo>
                    <a:pt x="22669500" y="1066800"/>
                  </a:lnTo>
                  <a:lnTo>
                    <a:pt x="0" y="1066800"/>
                  </a:lnTo>
                  <a:lnTo>
                    <a:pt x="0" y="0"/>
                  </a:lnTo>
                  <a:close/>
                </a:path>
              </a:pathLst>
            </a:custGeom>
            <a:blipFill>
              <a:blip r:embed="rId3"/>
              <a:stretch>
                <a:fillRect t="-807" b="-808"/>
              </a:stretch>
            </a:blipFill>
          </p:spPr>
        </p:sp>
      </p:grpSp>
      <p:grpSp>
        <p:nvGrpSpPr>
          <p:cNvPr id="6" name="Group 6"/>
          <p:cNvGrpSpPr/>
          <p:nvPr/>
        </p:nvGrpSpPr>
        <p:grpSpPr>
          <a:xfrm>
            <a:off x="642938" y="3264694"/>
            <a:ext cx="5533949" cy="1764506"/>
            <a:chOff x="0" y="0"/>
            <a:chExt cx="7378598" cy="2352675"/>
          </a:xfrm>
        </p:grpSpPr>
        <p:sp>
          <p:nvSpPr>
            <p:cNvPr id="7" name="Freeform 7" descr="image.png"/>
            <p:cNvSpPr/>
            <p:nvPr/>
          </p:nvSpPr>
          <p:spPr>
            <a:xfrm>
              <a:off x="0" y="0"/>
              <a:ext cx="7378573" cy="2352675"/>
            </a:xfrm>
            <a:custGeom>
              <a:avLst/>
              <a:gdLst/>
              <a:ahLst/>
              <a:cxnLst/>
              <a:rect l="l" t="t" r="r" b="b"/>
              <a:pathLst>
                <a:path w="7378573" h="2352675">
                  <a:moveTo>
                    <a:pt x="0" y="0"/>
                  </a:moveTo>
                  <a:lnTo>
                    <a:pt x="7378573" y="0"/>
                  </a:lnTo>
                  <a:lnTo>
                    <a:pt x="7378573" y="2352675"/>
                  </a:lnTo>
                  <a:lnTo>
                    <a:pt x="0" y="2352675"/>
                  </a:lnTo>
                  <a:lnTo>
                    <a:pt x="0" y="0"/>
                  </a:lnTo>
                  <a:close/>
                </a:path>
              </a:pathLst>
            </a:custGeom>
            <a:blipFill>
              <a:blip r:embed="rId4"/>
              <a:stretch>
                <a:fillRect t="-115" b="-115"/>
              </a:stretch>
            </a:blipFill>
          </p:spPr>
        </p:sp>
      </p:grpSp>
      <p:grpSp>
        <p:nvGrpSpPr>
          <p:cNvPr id="8" name="Group 8"/>
          <p:cNvGrpSpPr/>
          <p:nvPr/>
        </p:nvGrpSpPr>
        <p:grpSpPr>
          <a:xfrm>
            <a:off x="6376911" y="3264694"/>
            <a:ext cx="5533949" cy="1764506"/>
            <a:chOff x="0" y="0"/>
            <a:chExt cx="7378598" cy="2352675"/>
          </a:xfrm>
        </p:grpSpPr>
        <p:sp>
          <p:nvSpPr>
            <p:cNvPr id="9" name="Freeform 9" descr="image.png"/>
            <p:cNvSpPr/>
            <p:nvPr/>
          </p:nvSpPr>
          <p:spPr>
            <a:xfrm>
              <a:off x="0" y="0"/>
              <a:ext cx="7378573" cy="2352675"/>
            </a:xfrm>
            <a:custGeom>
              <a:avLst/>
              <a:gdLst/>
              <a:ahLst/>
              <a:cxnLst/>
              <a:rect l="l" t="t" r="r" b="b"/>
              <a:pathLst>
                <a:path w="7378573" h="2352675">
                  <a:moveTo>
                    <a:pt x="0" y="0"/>
                  </a:moveTo>
                  <a:lnTo>
                    <a:pt x="7378573" y="0"/>
                  </a:lnTo>
                  <a:lnTo>
                    <a:pt x="7378573" y="2352675"/>
                  </a:lnTo>
                  <a:lnTo>
                    <a:pt x="0" y="2352675"/>
                  </a:lnTo>
                  <a:lnTo>
                    <a:pt x="0" y="0"/>
                  </a:lnTo>
                  <a:close/>
                </a:path>
              </a:pathLst>
            </a:custGeom>
            <a:blipFill>
              <a:blip r:embed="rId5"/>
              <a:stretch>
                <a:fillRect t="-115" b="-115"/>
              </a:stretch>
            </a:blipFill>
          </p:spPr>
        </p:sp>
      </p:grpSp>
      <p:grpSp>
        <p:nvGrpSpPr>
          <p:cNvPr id="10" name="Group 10"/>
          <p:cNvGrpSpPr/>
          <p:nvPr/>
        </p:nvGrpSpPr>
        <p:grpSpPr>
          <a:xfrm>
            <a:off x="12110885" y="3264694"/>
            <a:ext cx="5534177" cy="1764506"/>
            <a:chOff x="0" y="0"/>
            <a:chExt cx="7378903" cy="2352675"/>
          </a:xfrm>
        </p:grpSpPr>
        <p:sp>
          <p:nvSpPr>
            <p:cNvPr id="11" name="Freeform 11" descr="image.png"/>
            <p:cNvSpPr/>
            <p:nvPr/>
          </p:nvSpPr>
          <p:spPr>
            <a:xfrm>
              <a:off x="0" y="0"/>
              <a:ext cx="7378954" cy="2352675"/>
            </a:xfrm>
            <a:custGeom>
              <a:avLst/>
              <a:gdLst/>
              <a:ahLst/>
              <a:cxnLst/>
              <a:rect l="l" t="t" r="r" b="b"/>
              <a:pathLst>
                <a:path w="7378954" h="2352675">
                  <a:moveTo>
                    <a:pt x="0" y="0"/>
                  </a:moveTo>
                  <a:lnTo>
                    <a:pt x="7378954" y="0"/>
                  </a:lnTo>
                  <a:lnTo>
                    <a:pt x="7378954" y="2352675"/>
                  </a:lnTo>
                  <a:lnTo>
                    <a:pt x="0" y="2352675"/>
                  </a:lnTo>
                  <a:lnTo>
                    <a:pt x="0" y="0"/>
                  </a:lnTo>
                  <a:close/>
                </a:path>
              </a:pathLst>
            </a:custGeom>
            <a:blipFill>
              <a:blip r:embed="rId6"/>
              <a:stretch>
                <a:fillRect t="-117" b="-117"/>
              </a:stretch>
            </a:blipFill>
          </p:spPr>
        </p:sp>
      </p:grpSp>
      <p:grpSp>
        <p:nvGrpSpPr>
          <p:cNvPr id="12" name="Group 12"/>
          <p:cNvGrpSpPr/>
          <p:nvPr/>
        </p:nvGrpSpPr>
        <p:grpSpPr>
          <a:xfrm>
            <a:off x="642938" y="5229225"/>
            <a:ext cx="5533949" cy="1764506"/>
            <a:chOff x="0" y="0"/>
            <a:chExt cx="7378598" cy="2352675"/>
          </a:xfrm>
        </p:grpSpPr>
        <p:sp>
          <p:nvSpPr>
            <p:cNvPr id="13" name="Freeform 13" descr="image.png"/>
            <p:cNvSpPr/>
            <p:nvPr/>
          </p:nvSpPr>
          <p:spPr>
            <a:xfrm>
              <a:off x="0" y="0"/>
              <a:ext cx="7378573" cy="2352675"/>
            </a:xfrm>
            <a:custGeom>
              <a:avLst/>
              <a:gdLst/>
              <a:ahLst/>
              <a:cxnLst/>
              <a:rect l="l" t="t" r="r" b="b"/>
              <a:pathLst>
                <a:path w="7378573" h="2352675">
                  <a:moveTo>
                    <a:pt x="0" y="0"/>
                  </a:moveTo>
                  <a:lnTo>
                    <a:pt x="7378573" y="0"/>
                  </a:lnTo>
                  <a:lnTo>
                    <a:pt x="7378573" y="2352675"/>
                  </a:lnTo>
                  <a:lnTo>
                    <a:pt x="0" y="2352675"/>
                  </a:lnTo>
                  <a:lnTo>
                    <a:pt x="0" y="0"/>
                  </a:lnTo>
                  <a:close/>
                </a:path>
              </a:pathLst>
            </a:custGeom>
            <a:blipFill>
              <a:blip r:embed="rId7"/>
              <a:stretch>
                <a:fillRect t="-115" b="-115"/>
              </a:stretch>
            </a:blipFill>
          </p:spPr>
        </p:sp>
      </p:grpSp>
      <p:grpSp>
        <p:nvGrpSpPr>
          <p:cNvPr id="14" name="Group 14"/>
          <p:cNvGrpSpPr/>
          <p:nvPr/>
        </p:nvGrpSpPr>
        <p:grpSpPr>
          <a:xfrm>
            <a:off x="6376911" y="5229225"/>
            <a:ext cx="5533949" cy="1764506"/>
            <a:chOff x="0" y="0"/>
            <a:chExt cx="7378598" cy="2352675"/>
          </a:xfrm>
        </p:grpSpPr>
        <p:sp>
          <p:nvSpPr>
            <p:cNvPr id="15" name="Freeform 15" descr="image.png"/>
            <p:cNvSpPr/>
            <p:nvPr/>
          </p:nvSpPr>
          <p:spPr>
            <a:xfrm>
              <a:off x="0" y="0"/>
              <a:ext cx="7378573" cy="2352675"/>
            </a:xfrm>
            <a:custGeom>
              <a:avLst/>
              <a:gdLst/>
              <a:ahLst/>
              <a:cxnLst/>
              <a:rect l="l" t="t" r="r" b="b"/>
              <a:pathLst>
                <a:path w="7378573" h="2352675">
                  <a:moveTo>
                    <a:pt x="0" y="0"/>
                  </a:moveTo>
                  <a:lnTo>
                    <a:pt x="7378573" y="0"/>
                  </a:lnTo>
                  <a:lnTo>
                    <a:pt x="7378573" y="2352675"/>
                  </a:lnTo>
                  <a:lnTo>
                    <a:pt x="0" y="2352675"/>
                  </a:lnTo>
                  <a:lnTo>
                    <a:pt x="0" y="0"/>
                  </a:lnTo>
                  <a:close/>
                </a:path>
              </a:pathLst>
            </a:custGeom>
            <a:blipFill>
              <a:blip r:embed="rId8"/>
              <a:stretch>
                <a:fillRect t="-115" b="-115"/>
              </a:stretch>
            </a:blipFill>
          </p:spPr>
        </p:sp>
      </p:grpSp>
      <p:grpSp>
        <p:nvGrpSpPr>
          <p:cNvPr id="16" name="Group 16"/>
          <p:cNvGrpSpPr/>
          <p:nvPr/>
        </p:nvGrpSpPr>
        <p:grpSpPr>
          <a:xfrm>
            <a:off x="12110885" y="5229225"/>
            <a:ext cx="5534177" cy="1764506"/>
            <a:chOff x="0" y="0"/>
            <a:chExt cx="7378903" cy="2352675"/>
          </a:xfrm>
        </p:grpSpPr>
        <p:sp>
          <p:nvSpPr>
            <p:cNvPr id="17" name="Freeform 17" descr="image.png"/>
            <p:cNvSpPr/>
            <p:nvPr/>
          </p:nvSpPr>
          <p:spPr>
            <a:xfrm>
              <a:off x="0" y="0"/>
              <a:ext cx="7378954" cy="2352675"/>
            </a:xfrm>
            <a:custGeom>
              <a:avLst/>
              <a:gdLst/>
              <a:ahLst/>
              <a:cxnLst/>
              <a:rect l="l" t="t" r="r" b="b"/>
              <a:pathLst>
                <a:path w="7378954" h="2352675">
                  <a:moveTo>
                    <a:pt x="0" y="0"/>
                  </a:moveTo>
                  <a:lnTo>
                    <a:pt x="7378954" y="0"/>
                  </a:lnTo>
                  <a:lnTo>
                    <a:pt x="7378954" y="2352675"/>
                  </a:lnTo>
                  <a:lnTo>
                    <a:pt x="0" y="2352675"/>
                  </a:lnTo>
                  <a:lnTo>
                    <a:pt x="0" y="0"/>
                  </a:lnTo>
                  <a:close/>
                </a:path>
              </a:pathLst>
            </a:custGeom>
            <a:blipFill>
              <a:blip r:embed="rId7"/>
              <a:stretch>
                <a:fillRect t="-117" b="-117"/>
              </a:stretch>
            </a:blipFill>
          </p:spPr>
        </p:sp>
      </p:grpSp>
      <p:sp>
        <p:nvSpPr>
          <p:cNvPr id="18" name="TextBox 18"/>
          <p:cNvSpPr txBox="1"/>
          <p:nvPr/>
        </p:nvSpPr>
        <p:spPr>
          <a:xfrm>
            <a:off x="642938" y="490537"/>
            <a:ext cx="5184086" cy="566737"/>
          </a:xfrm>
          <a:prstGeom prst="rect">
            <a:avLst/>
          </a:prstGeom>
        </p:spPr>
        <p:txBody>
          <a:bodyPr lIns="0" tIns="0" rIns="0" bIns="0" rtlCol="0" anchor="t">
            <a:spAutoFit/>
          </a:bodyPr>
          <a:lstStyle/>
          <a:p>
            <a:pPr algn="l">
              <a:lnSpc>
                <a:spcPts val="4320"/>
              </a:lnSpc>
            </a:pPr>
            <a:r>
              <a:rPr lang="en-US" sz="3600" b="1">
                <a:solidFill>
                  <a:srgbClr val="064E3B"/>
                </a:solidFill>
                <a:latin typeface="Inter Bold"/>
                <a:ea typeface="Inter Bold"/>
                <a:cs typeface="Inter Bold"/>
                <a:sym typeface="Inter Bold"/>
              </a:rPr>
              <a:t>Working of the System</a:t>
            </a:r>
          </a:p>
        </p:txBody>
      </p:sp>
      <p:grpSp>
        <p:nvGrpSpPr>
          <p:cNvPr id="19" name="Group 19"/>
          <p:cNvGrpSpPr/>
          <p:nvPr/>
        </p:nvGrpSpPr>
        <p:grpSpPr>
          <a:xfrm>
            <a:off x="14535969" y="628650"/>
            <a:ext cx="3109093" cy="428625"/>
            <a:chOff x="0" y="0"/>
            <a:chExt cx="4145458" cy="571500"/>
          </a:xfrm>
        </p:grpSpPr>
        <p:sp>
          <p:nvSpPr>
            <p:cNvPr id="20" name="Freeform 20" descr="image.png"/>
            <p:cNvSpPr/>
            <p:nvPr/>
          </p:nvSpPr>
          <p:spPr>
            <a:xfrm>
              <a:off x="0" y="0"/>
              <a:ext cx="4145407" cy="571500"/>
            </a:xfrm>
            <a:custGeom>
              <a:avLst/>
              <a:gdLst/>
              <a:ahLst/>
              <a:cxnLst/>
              <a:rect l="l" t="t" r="r" b="b"/>
              <a:pathLst>
                <a:path w="4145407" h="571500">
                  <a:moveTo>
                    <a:pt x="0" y="0"/>
                  </a:moveTo>
                  <a:lnTo>
                    <a:pt x="4145407" y="0"/>
                  </a:lnTo>
                  <a:lnTo>
                    <a:pt x="4145407" y="571500"/>
                  </a:lnTo>
                  <a:lnTo>
                    <a:pt x="0" y="571500"/>
                  </a:lnTo>
                  <a:lnTo>
                    <a:pt x="0" y="0"/>
                  </a:lnTo>
                  <a:close/>
                </a:path>
              </a:pathLst>
            </a:custGeom>
            <a:blipFill>
              <a:blip r:embed="rId9"/>
              <a:stretch>
                <a:fillRect l="-89" r="-90"/>
              </a:stretch>
            </a:blipFill>
          </p:spPr>
        </p:sp>
      </p:grpSp>
      <p:sp>
        <p:nvSpPr>
          <p:cNvPr id="21" name="TextBox 21"/>
          <p:cNvSpPr txBox="1"/>
          <p:nvPr/>
        </p:nvSpPr>
        <p:spPr>
          <a:xfrm>
            <a:off x="942975" y="7422356"/>
            <a:ext cx="16402050" cy="400050"/>
          </a:xfrm>
          <a:prstGeom prst="rect">
            <a:avLst/>
          </a:prstGeom>
        </p:spPr>
        <p:txBody>
          <a:bodyPr lIns="0" tIns="0" rIns="0" bIns="0" rtlCol="0" anchor="t">
            <a:spAutoFit/>
          </a:bodyPr>
          <a:lstStyle/>
          <a:p>
            <a:pPr algn="ctr">
              <a:lnSpc>
                <a:spcPts val="2700"/>
              </a:lnSpc>
            </a:pPr>
            <a:r>
              <a:rPr lang="en-US" sz="1800">
                <a:solidFill>
                  <a:srgbClr val="064E3B"/>
                </a:solidFill>
                <a:latin typeface="Inter"/>
                <a:ea typeface="Inter"/>
                <a:cs typeface="Inter"/>
                <a:sym typeface="Inter"/>
              </a:rPr>
              <a:t>Input Data  →  Validate &amp; Store  →  Analyze  →  ML Inference  →  Actionable Insights</a:t>
            </a:r>
          </a:p>
        </p:txBody>
      </p:sp>
      <p:sp>
        <p:nvSpPr>
          <p:cNvPr id="22" name="TextBox 22"/>
          <p:cNvSpPr txBox="1"/>
          <p:nvPr/>
        </p:nvSpPr>
        <p:spPr>
          <a:xfrm>
            <a:off x="914400" y="3507581"/>
            <a:ext cx="4991024" cy="228600"/>
          </a:xfrm>
          <a:prstGeom prst="rect">
            <a:avLst/>
          </a:prstGeom>
        </p:spPr>
        <p:txBody>
          <a:bodyPr lIns="0" tIns="0" rIns="0" bIns="0" rtlCol="0" anchor="t">
            <a:spAutoFit/>
          </a:bodyPr>
          <a:lstStyle/>
          <a:p>
            <a:pPr algn="l">
              <a:lnSpc>
                <a:spcPts val="1755"/>
              </a:lnSpc>
            </a:pPr>
            <a:r>
              <a:rPr lang="en-US" sz="1462" b="1">
                <a:solidFill>
                  <a:srgbClr val="059669"/>
                </a:solidFill>
                <a:latin typeface="Inter Bold"/>
                <a:ea typeface="Inter Bold"/>
                <a:cs typeface="Inter Bold"/>
                <a:sym typeface="Inter Bold"/>
              </a:rPr>
              <a:t>STEP 1</a:t>
            </a:r>
          </a:p>
        </p:txBody>
      </p:sp>
      <p:sp>
        <p:nvSpPr>
          <p:cNvPr id="23" name="TextBox 23"/>
          <p:cNvSpPr txBox="1"/>
          <p:nvPr/>
        </p:nvSpPr>
        <p:spPr>
          <a:xfrm>
            <a:off x="914400" y="3798094"/>
            <a:ext cx="5240579" cy="295275"/>
          </a:xfrm>
          <a:prstGeom prst="rect">
            <a:avLst/>
          </a:prstGeom>
        </p:spPr>
        <p:txBody>
          <a:bodyPr lIns="0" tIns="0" rIns="0" bIns="0" rtlCol="0" anchor="t">
            <a:spAutoFit/>
          </a:bodyPr>
          <a:lstStyle/>
          <a:p>
            <a:pPr algn="l">
              <a:lnSpc>
                <a:spcPts val="2226"/>
              </a:lnSpc>
            </a:pPr>
            <a:r>
              <a:rPr lang="en-US" sz="1855" b="1">
                <a:solidFill>
                  <a:srgbClr val="064E3B"/>
                </a:solidFill>
                <a:latin typeface="Inter Bold"/>
                <a:ea typeface="Inter Bold"/>
                <a:cs typeface="Inter Bold"/>
                <a:sym typeface="Inter Bold"/>
              </a:rPr>
              <a:t>Add / Import Data</a:t>
            </a:r>
          </a:p>
        </p:txBody>
      </p:sp>
      <p:sp>
        <p:nvSpPr>
          <p:cNvPr id="24" name="TextBox 24"/>
          <p:cNvSpPr txBox="1"/>
          <p:nvPr/>
        </p:nvSpPr>
        <p:spPr>
          <a:xfrm>
            <a:off x="914400" y="4107656"/>
            <a:ext cx="4991024" cy="678656"/>
          </a:xfrm>
          <a:prstGeom prst="rect">
            <a:avLst/>
          </a:prstGeom>
        </p:spPr>
        <p:txBody>
          <a:bodyPr lIns="0" tIns="0" rIns="0" bIns="0" rtlCol="0" anchor="t">
            <a:spAutoFit/>
          </a:bodyPr>
          <a:lstStyle/>
          <a:p>
            <a:pPr algn="l">
              <a:lnSpc>
                <a:spcPts val="2446"/>
              </a:lnSpc>
            </a:pPr>
            <a:r>
              <a:rPr lang="en-US" sz="1630">
                <a:solidFill>
                  <a:srgbClr val="475569"/>
                </a:solidFill>
                <a:latin typeface="Inter"/>
                <a:ea typeface="Inter"/>
                <a:cs typeface="Inter"/>
                <a:sym typeface="Inter"/>
              </a:rPr>
              <a:t>Users log manual records or upload bank CSV files directly.</a:t>
            </a:r>
          </a:p>
        </p:txBody>
      </p:sp>
      <p:sp>
        <p:nvSpPr>
          <p:cNvPr id="25" name="TextBox 25"/>
          <p:cNvSpPr txBox="1"/>
          <p:nvPr/>
        </p:nvSpPr>
        <p:spPr>
          <a:xfrm>
            <a:off x="6648374" y="3507581"/>
            <a:ext cx="4991024" cy="228600"/>
          </a:xfrm>
          <a:prstGeom prst="rect">
            <a:avLst/>
          </a:prstGeom>
        </p:spPr>
        <p:txBody>
          <a:bodyPr lIns="0" tIns="0" rIns="0" bIns="0" rtlCol="0" anchor="t">
            <a:spAutoFit/>
          </a:bodyPr>
          <a:lstStyle/>
          <a:p>
            <a:pPr algn="l">
              <a:lnSpc>
                <a:spcPts val="1755"/>
              </a:lnSpc>
            </a:pPr>
            <a:r>
              <a:rPr lang="en-US" sz="1462" b="1">
                <a:solidFill>
                  <a:srgbClr val="059669"/>
                </a:solidFill>
                <a:latin typeface="Inter Bold"/>
                <a:ea typeface="Inter Bold"/>
                <a:cs typeface="Inter Bold"/>
                <a:sym typeface="Inter Bold"/>
              </a:rPr>
              <a:t>STEP 2</a:t>
            </a:r>
          </a:p>
        </p:txBody>
      </p:sp>
      <p:sp>
        <p:nvSpPr>
          <p:cNvPr id="26" name="TextBox 26"/>
          <p:cNvSpPr txBox="1"/>
          <p:nvPr/>
        </p:nvSpPr>
        <p:spPr>
          <a:xfrm>
            <a:off x="6648374" y="3798094"/>
            <a:ext cx="5240579" cy="295275"/>
          </a:xfrm>
          <a:prstGeom prst="rect">
            <a:avLst/>
          </a:prstGeom>
        </p:spPr>
        <p:txBody>
          <a:bodyPr lIns="0" tIns="0" rIns="0" bIns="0" rtlCol="0" anchor="t">
            <a:spAutoFit/>
          </a:bodyPr>
          <a:lstStyle/>
          <a:p>
            <a:pPr algn="l">
              <a:lnSpc>
                <a:spcPts val="2226"/>
              </a:lnSpc>
            </a:pPr>
            <a:r>
              <a:rPr lang="en-US" sz="1855" b="1">
                <a:solidFill>
                  <a:srgbClr val="064E3B"/>
                </a:solidFill>
                <a:latin typeface="Inter Bold"/>
                <a:ea typeface="Inter Bold"/>
                <a:cs typeface="Inter Bold"/>
                <a:sym typeface="Inter Bold"/>
              </a:rPr>
              <a:t>Preprocess</a:t>
            </a:r>
          </a:p>
        </p:txBody>
      </p:sp>
      <p:sp>
        <p:nvSpPr>
          <p:cNvPr id="27" name="TextBox 27"/>
          <p:cNvSpPr txBox="1"/>
          <p:nvPr/>
        </p:nvSpPr>
        <p:spPr>
          <a:xfrm>
            <a:off x="6648374" y="4107656"/>
            <a:ext cx="4991024" cy="678656"/>
          </a:xfrm>
          <a:prstGeom prst="rect">
            <a:avLst/>
          </a:prstGeom>
        </p:spPr>
        <p:txBody>
          <a:bodyPr lIns="0" tIns="0" rIns="0" bIns="0" rtlCol="0" anchor="t">
            <a:spAutoFit/>
          </a:bodyPr>
          <a:lstStyle/>
          <a:p>
            <a:pPr algn="l">
              <a:lnSpc>
                <a:spcPts val="2446"/>
              </a:lnSpc>
            </a:pPr>
            <a:r>
              <a:rPr lang="en-US" sz="1630">
                <a:solidFill>
                  <a:srgbClr val="475569"/>
                </a:solidFill>
                <a:latin typeface="Inter"/>
                <a:ea typeface="Inter"/>
                <a:cs typeface="Inter"/>
                <a:sym typeface="Inter"/>
              </a:rPr>
              <a:t>Validates formats, normalizes timestamps &amp; cleans merchant text.</a:t>
            </a:r>
          </a:p>
        </p:txBody>
      </p:sp>
      <p:sp>
        <p:nvSpPr>
          <p:cNvPr id="28" name="TextBox 28"/>
          <p:cNvSpPr txBox="1"/>
          <p:nvPr/>
        </p:nvSpPr>
        <p:spPr>
          <a:xfrm>
            <a:off x="12382348" y="3507581"/>
            <a:ext cx="4991252" cy="228600"/>
          </a:xfrm>
          <a:prstGeom prst="rect">
            <a:avLst/>
          </a:prstGeom>
        </p:spPr>
        <p:txBody>
          <a:bodyPr lIns="0" tIns="0" rIns="0" bIns="0" rtlCol="0" anchor="t">
            <a:spAutoFit/>
          </a:bodyPr>
          <a:lstStyle/>
          <a:p>
            <a:pPr algn="l">
              <a:lnSpc>
                <a:spcPts val="1755"/>
              </a:lnSpc>
            </a:pPr>
            <a:r>
              <a:rPr lang="en-US" sz="1462" b="1">
                <a:solidFill>
                  <a:srgbClr val="059669"/>
                </a:solidFill>
                <a:latin typeface="Inter Bold"/>
                <a:ea typeface="Inter Bold"/>
                <a:cs typeface="Inter Bold"/>
                <a:sym typeface="Inter Bold"/>
              </a:rPr>
              <a:t>STEP 3</a:t>
            </a:r>
          </a:p>
        </p:txBody>
      </p:sp>
      <p:sp>
        <p:nvSpPr>
          <p:cNvPr id="29" name="TextBox 29"/>
          <p:cNvSpPr txBox="1"/>
          <p:nvPr/>
        </p:nvSpPr>
        <p:spPr>
          <a:xfrm>
            <a:off x="12382348" y="3798094"/>
            <a:ext cx="5240807" cy="295275"/>
          </a:xfrm>
          <a:prstGeom prst="rect">
            <a:avLst/>
          </a:prstGeom>
        </p:spPr>
        <p:txBody>
          <a:bodyPr lIns="0" tIns="0" rIns="0" bIns="0" rtlCol="0" anchor="t">
            <a:spAutoFit/>
          </a:bodyPr>
          <a:lstStyle/>
          <a:p>
            <a:pPr algn="l">
              <a:lnSpc>
                <a:spcPts val="2226"/>
              </a:lnSpc>
            </a:pPr>
            <a:r>
              <a:rPr lang="en-US" sz="1855" b="1">
                <a:solidFill>
                  <a:srgbClr val="064E3B"/>
                </a:solidFill>
                <a:latin typeface="Inter Bold"/>
                <a:ea typeface="Inter Bold"/>
                <a:cs typeface="Inter Bold"/>
                <a:sym typeface="Inter Bold"/>
              </a:rPr>
              <a:t>Store in SQLite</a:t>
            </a:r>
          </a:p>
        </p:txBody>
      </p:sp>
      <p:sp>
        <p:nvSpPr>
          <p:cNvPr id="30" name="TextBox 30"/>
          <p:cNvSpPr txBox="1"/>
          <p:nvPr/>
        </p:nvSpPr>
        <p:spPr>
          <a:xfrm>
            <a:off x="12382348" y="4107656"/>
            <a:ext cx="4991252" cy="678656"/>
          </a:xfrm>
          <a:prstGeom prst="rect">
            <a:avLst/>
          </a:prstGeom>
        </p:spPr>
        <p:txBody>
          <a:bodyPr lIns="0" tIns="0" rIns="0" bIns="0" rtlCol="0" anchor="t">
            <a:spAutoFit/>
          </a:bodyPr>
          <a:lstStyle/>
          <a:p>
            <a:pPr algn="l">
              <a:lnSpc>
                <a:spcPts val="2446"/>
              </a:lnSpc>
            </a:pPr>
            <a:r>
              <a:rPr lang="en-US" sz="1630">
                <a:solidFill>
                  <a:srgbClr val="475569"/>
                </a:solidFill>
                <a:latin typeface="Inter"/>
                <a:ea typeface="Inter"/>
                <a:cs typeface="Inter"/>
                <a:sym typeface="Inter"/>
              </a:rPr>
              <a:t>Commits structured entries into relational transaction tables.</a:t>
            </a:r>
          </a:p>
        </p:txBody>
      </p:sp>
      <p:sp>
        <p:nvSpPr>
          <p:cNvPr id="31" name="TextBox 31"/>
          <p:cNvSpPr txBox="1"/>
          <p:nvPr/>
        </p:nvSpPr>
        <p:spPr>
          <a:xfrm>
            <a:off x="914400" y="5472112"/>
            <a:ext cx="4991024" cy="228600"/>
          </a:xfrm>
          <a:prstGeom prst="rect">
            <a:avLst/>
          </a:prstGeom>
        </p:spPr>
        <p:txBody>
          <a:bodyPr lIns="0" tIns="0" rIns="0" bIns="0" rtlCol="0" anchor="t">
            <a:spAutoFit/>
          </a:bodyPr>
          <a:lstStyle/>
          <a:p>
            <a:pPr algn="l">
              <a:lnSpc>
                <a:spcPts val="1755"/>
              </a:lnSpc>
            </a:pPr>
            <a:r>
              <a:rPr lang="en-US" sz="1462" b="1">
                <a:solidFill>
                  <a:srgbClr val="059669"/>
                </a:solidFill>
                <a:latin typeface="Inter Bold"/>
                <a:ea typeface="Inter Bold"/>
                <a:cs typeface="Inter Bold"/>
                <a:sym typeface="Inter Bold"/>
              </a:rPr>
              <a:t>STEP 4</a:t>
            </a:r>
          </a:p>
        </p:txBody>
      </p:sp>
      <p:sp>
        <p:nvSpPr>
          <p:cNvPr id="32" name="TextBox 32"/>
          <p:cNvSpPr txBox="1"/>
          <p:nvPr/>
        </p:nvSpPr>
        <p:spPr>
          <a:xfrm>
            <a:off x="914400" y="5762625"/>
            <a:ext cx="5240579" cy="295275"/>
          </a:xfrm>
          <a:prstGeom prst="rect">
            <a:avLst/>
          </a:prstGeom>
        </p:spPr>
        <p:txBody>
          <a:bodyPr lIns="0" tIns="0" rIns="0" bIns="0" rtlCol="0" anchor="t">
            <a:spAutoFit/>
          </a:bodyPr>
          <a:lstStyle/>
          <a:p>
            <a:pPr algn="l">
              <a:lnSpc>
                <a:spcPts val="2226"/>
              </a:lnSpc>
            </a:pPr>
            <a:r>
              <a:rPr lang="en-US" sz="1855" b="1">
                <a:solidFill>
                  <a:srgbClr val="064E3B"/>
                </a:solidFill>
                <a:latin typeface="Inter Bold"/>
                <a:ea typeface="Inter Bold"/>
                <a:cs typeface="Inter Bold"/>
                <a:sym typeface="Inter Bold"/>
              </a:rPr>
              <a:t>Aggregate Metrics</a:t>
            </a:r>
          </a:p>
        </p:txBody>
      </p:sp>
      <p:sp>
        <p:nvSpPr>
          <p:cNvPr id="33" name="TextBox 33"/>
          <p:cNvSpPr txBox="1"/>
          <p:nvPr/>
        </p:nvSpPr>
        <p:spPr>
          <a:xfrm>
            <a:off x="914400" y="6072188"/>
            <a:ext cx="4991024" cy="678656"/>
          </a:xfrm>
          <a:prstGeom prst="rect">
            <a:avLst/>
          </a:prstGeom>
        </p:spPr>
        <p:txBody>
          <a:bodyPr lIns="0" tIns="0" rIns="0" bIns="0" rtlCol="0" anchor="t">
            <a:spAutoFit/>
          </a:bodyPr>
          <a:lstStyle/>
          <a:p>
            <a:pPr algn="l">
              <a:lnSpc>
                <a:spcPts val="2446"/>
              </a:lnSpc>
            </a:pPr>
            <a:r>
              <a:rPr lang="en-US" sz="1630">
                <a:solidFill>
                  <a:srgbClr val="475569"/>
                </a:solidFill>
                <a:latin typeface="Inter"/>
                <a:ea typeface="Inter"/>
                <a:cs typeface="Inter"/>
                <a:sym typeface="Inter"/>
              </a:rPr>
              <a:t>Pandas computes category totals, daily averages &amp; savings rates.</a:t>
            </a:r>
          </a:p>
        </p:txBody>
      </p:sp>
      <p:sp>
        <p:nvSpPr>
          <p:cNvPr id="34" name="TextBox 34"/>
          <p:cNvSpPr txBox="1"/>
          <p:nvPr/>
        </p:nvSpPr>
        <p:spPr>
          <a:xfrm>
            <a:off x="6648374" y="5472112"/>
            <a:ext cx="4991024" cy="228600"/>
          </a:xfrm>
          <a:prstGeom prst="rect">
            <a:avLst/>
          </a:prstGeom>
        </p:spPr>
        <p:txBody>
          <a:bodyPr lIns="0" tIns="0" rIns="0" bIns="0" rtlCol="0" anchor="t">
            <a:spAutoFit/>
          </a:bodyPr>
          <a:lstStyle/>
          <a:p>
            <a:pPr algn="l">
              <a:lnSpc>
                <a:spcPts val="1755"/>
              </a:lnSpc>
            </a:pPr>
            <a:r>
              <a:rPr lang="en-US" sz="1462" b="1">
                <a:solidFill>
                  <a:srgbClr val="059669"/>
                </a:solidFill>
                <a:latin typeface="Inter Bold"/>
                <a:ea typeface="Inter Bold"/>
                <a:cs typeface="Inter Bold"/>
                <a:sym typeface="Inter Bold"/>
              </a:rPr>
              <a:t>STEP 5</a:t>
            </a:r>
          </a:p>
        </p:txBody>
      </p:sp>
      <p:sp>
        <p:nvSpPr>
          <p:cNvPr id="35" name="TextBox 35"/>
          <p:cNvSpPr txBox="1"/>
          <p:nvPr/>
        </p:nvSpPr>
        <p:spPr>
          <a:xfrm>
            <a:off x="6648374" y="5762625"/>
            <a:ext cx="5240579" cy="295275"/>
          </a:xfrm>
          <a:prstGeom prst="rect">
            <a:avLst/>
          </a:prstGeom>
        </p:spPr>
        <p:txBody>
          <a:bodyPr lIns="0" tIns="0" rIns="0" bIns="0" rtlCol="0" anchor="t">
            <a:spAutoFit/>
          </a:bodyPr>
          <a:lstStyle/>
          <a:p>
            <a:pPr algn="l">
              <a:lnSpc>
                <a:spcPts val="2226"/>
              </a:lnSpc>
            </a:pPr>
            <a:r>
              <a:rPr lang="en-US" sz="1855" b="1">
                <a:solidFill>
                  <a:srgbClr val="064E3B"/>
                </a:solidFill>
                <a:latin typeface="Inter Bold"/>
                <a:ea typeface="Inter Bold"/>
                <a:cs typeface="Inter Bold"/>
                <a:sym typeface="Inter Bold"/>
              </a:rPr>
              <a:t>Apply ML Models</a:t>
            </a:r>
          </a:p>
        </p:txBody>
      </p:sp>
      <p:sp>
        <p:nvSpPr>
          <p:cNvPr id="36" name="TextBox 36"/>
          <p:cNvSpPr txBox="1"/>
          <p:nvPr/>
        </p:nvSpPr>
        <p:spPr>
          <a:xfrm>
            <a:off x="6648374" y="6072188"/>
            <a:ext cx="4991024" cy="678656"/>
          </a:xfrm>
          <a:prstGeom prst="rect">
            <a:avLst/>
          </a:prstGeom>
        </p:spPr>
        <p:txBody>
          <a:bodyPr lIns="0" tIns="0" rIns="0" bIns="0" rtlCol="0" anchor="t">
            <a:spAutoFit/>
          </a:bodyPr>
          <a:lstStyle/>
          <a:p>
            <a:pPr algn="l">
              <a:lnSpc>
                <a:spcPts val="2446"/>
              </a:lnSpc>
            </a:pPr>
            <a:r>
              <a:rPr lang="en-US" sz="1630">
                <a:solidFill>
                  <a:srgbClr val="475569"/>
                </a:solidFill>
                <a:latin typeface="Inter"/>
                <a:ea typeface="Inter"/>
                <a:cs typeface="Inter"/>
                <a:sym typeface="Inter"/>
              </a:rPr>
              <a:t>Categorizes unlabelled entries, flags anomalies &amp; forecasts spend.</a:t>
            </a:r>
          </a:p>
        </p:txBody>
      </p:sp>
      <p:sp>
        <p:nvSpPr>
          <p:cNvPr id="37" name="TextBox 37"/>
          <p:cNvSpPr txBox="1"/>
          <p:nvPr/>
        </p:nvSpPr>
        <p:spPr>
          <a:xfrm>
            <a:off x="12382348" y="5472112"/>
            <a:ext cx="4991252" cy="228600"/>
          </a:xfrm>
          <a:prstGeom prst="rect">
            <a:avLst/>
          </a:prstGeom>
        </p:spPr>
        <p:txBody>
          <a:bodyPr lIns="0" tIns="0" rIns="0" bIns="0" rtlCol="0" anchor="t">
            <a:spAutoFit/>
          </a:bodyPr>
          <a:lstStyle/>
          <a:p>
            <a:pPr algn="l">
              <a:lnSpc>
                <a:spcPts val="1755"/>
              </a:lnSpc>
            </a:pPr>
            <a:r>
              <a:rPr lang="en-US" sz="1462" b="1">
                <a:solidFill>
                  <a:srgbClr val="059669"/>
                </a:solidFill>
                <a:latin typeface="Inter Bold"/>
                <a:ea typeface="Inter Bold"/>
                <a:cs typeface="Inter Bold"/>
                <a:sym typeface="Inter Bold"/>
              </a:rPr>
              <a:t>STEP 6</a:t>
            </a:r>
          </a:p>
        </p:txBody>
      </p:sp>
      <p:sp>
        <p:nvSpPr>
          <p:cNvPr id="38" name="TextBox 38"/>
          <p:cNvSpPr txBox="1"/>
          <p:nvPr/>
        </p:nvSpPr>
        <p:spPr>
          <a:xfrm>
            <a:off x="12382348" y="5762625"/>
            <a:ext cx="5240807" cy="295275"/>
          </a:xfrm>
          <a:prstGeom prst="rect">
            <a:avLst/>
          </a:prstGeom>
        </p:spPr>
        <p:txBody>
          <a:bodyPr lIns="0" tIns="0" rIns="0" bIns="0" rtlCol="0" anchor="t">
            <a:spAutoFit/>
          </a:bodyPr>
          <a:lstStyle/>
          <a:p>
            <a:pPr algn="l">
              <a:lnSpc>
                <a:spcPts val="2226"/>
              </a:lnSpc>
            </a:pPr>
            <a:r>
              <a:rPr lang="en-US" sz="1855" b="1">
                <a:solidFill>
                  <a:srgbClr val="064E3B"/>
                </a:solidFill>
                <a:latin typeface="Inter Bold"/>
                <a:ea typeface="Inter Bold"/>
                <a:cs typeface="Inter Bold"/>
                <a:sym typeface="Inter Bold"/>
              </a:rPr>
              <a:t>Render Insights</a:t>
            </a:r>
          </a:p>
        </p:txBody>
      </p:sp>
      <p:sp>
        <p:nvSpPr>
          <p:cNvPr id="39" name="TextBox 39"/>
          <p:cNvSpPr txBox="1"/>
          <p:nvPr/>
        </p:nvSpPr>
        <p:spPr>
          <a:xfrm>
            <a:off x="12382348" y="6072188"/>
            <a:ext cx="4991252" cy="678656"/>
          </a:xfrm>
          <a:prstGeom prst="rect">
            <a:avLst/>
          </a:prstGeom>
        </p:spPr>
        <p:txBody>
          <a:bodyPr lIns="0" tIns="0" rIns="0" bIns="0" rtlCol="0" anchor="t">
            <a:spAutoFit/>
          </a:bodyPr>
          <a:lstStyle/>
          <a:p>
            <a:pPr algn="l">
              <a:lnSpc>
                <a:spcPts val="2446"/>
              </a:lnSpc>
            </a:pPr>
            <a:r>
              <a:rPr lang="en-US" sz="1630">
                <a:solidFill>
                  <a:srgbClr val="475569"/>
                </a:solidFill>
                <a:latin typeface="Inter"/>
                <a:ea typeface="Inter"/>
                <a:cs typeface="Inter"/>
                <a:sym typeface="Inter"/>
              </a:rPr>
              <a:t>Interactive Streamlit dashboard presents charts, alerts &amp; KPIs.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sp>
      </p:grpSp>
      <p:grpSp>
        <p:nvGrpSpPr>
          <p:cNvPr id="4" name="Group 4"/>
          <p:cNvGrpSpPr/>
          <p:nvPr/>
        </p:nvGrpSpPr>
        <p:grpSpPr>
          <a:xfrm>
            <a:off x="642938" y="3436144"/>
            <a:ext cx="8329612" cy="4443412"/>
            <a:chOff x="0" y="0"/>
            <a:chExt cx="11106150" cy="5924550"/>
          </a:xfrm>
        </p:grpSpPr>
        <p:sp>
          <p:nvSpPr>
            <p:cNvPr id="5" name="Freeform 5" descr="image.png"/>
            <p:cNvSpPr/>
            <p:nvPr/>
          </p:nvSpPr>
          <p:spPr>
            <a:xfrm>
              <a:off x="0" y="0"/>
              <a:ext cx="11106150" cy="5924550"/>
            </a:xfrm>
            <a:custGeom>
              <a:avLst/>
              <a:gdLst/>
              <a:ahLst/>
              <a:cxnLst/>
              <a:rect l="l" t="t" r="r" b="b"/>
              <a:pathLst>
                <a:path w="11106150" h="5924550">
                  <a:moveTo>
                    <a:pt x="0" y="0"/>
                  </a:moveTo>
                  <a:lnTo>
                    <a:pt x="11106150" y="0"/>
                  </a:lnTo>
                  <a:lnTo>
                    <a:pt x="11106150" y="5924550"/>
                  </a:lnTo>
                  <a:lnTo>
                    <a:pt x="0" y="5924550"/>
                  </a:lnTo>
                  <a:lnTo>
                    <a:pt x="0" y="0"/>
                  </a:lnTo>
                  <a:close/>
                </a:path>
              </a:pathLst>
            </a:custGeom>
            <a:blipFill>
              <a:blip r:embed="rId3"/>
              <a:stretch>
                <a:fillRect t="-74" b="-75"/>
              </a:stretch>
            </a:blipFill>
          </p:spPr>
        </p:sp>
      </p:grpSp>
      <p:grpSp>
        <p:nvGrpSpPr>
          <p:cNvPr id="6" name="Group 6"/>
          <p:cNvGrpSpPr/>
          <p:nvPr/>
        </p:nvGrpSpPr>
        <p:grpSpPr>
          <a:xfrm>
            <a:off x="9315450" y="3436144"/>
            <a:ext cx="8329612" cy="4443412"/>
            <a:chOff x="0" y="0"/>
            <a:chExt cx="11106150" cy="5924550"/>
          </a:xfrm>
        </p:grpSpPr>
        <p:sp>
          <p:nvSpPr>
            <p:cNvPr id="7" name="Freeform 7" descr="image.png"/>
            <p:cNvSpPr/>
            <p:nvPr/>
          </p:nvSpPr>
          <p:spPr>
            <a:xfrm>
              <a:off x="0" y="0"/>
              <a:ext cx="11106150" cy="5924550"/>
            </a:xfrm>
            <a:custGeom>
              <a:avLst/>
              <a:gdLst/>
              <a:ahLst/>
              <a:cxnLst/>
              <a:rect l="l" t="t" r="r" b="b"/>
              <a:pathLst>
                <a:path w="11106150" h="5924550">
                  <a:moveTo>
                    <a:pt x="0" y="0"/>
                  </a:moveTo>
                  <a:lnTo>
                    <a:pt x="11106150" y="0"/>
                  </a:lnTo>
                  <a:lnTo>
                    <a:pt x="11106150" y="5924550"/>
                  </a:lnTo>
                  <a:lnTo>
                    <a:pt x="0" y="5924550"/>
                  </a:lnTo>
                  <a:lnTo>
                    <a:pt x="0" y="0"/>
                  </a:lnTo>
                  <a:close/>
                </a:path>
              </a:pathLst>
            </a:custGeom>
            <a:blipFill>
              <a:blip r:embed="rId4"/>
              <a:stretch>
                <a:fillRect t="-74" b="-75"/>
              </a:stretch>
            </a:blipFill>
          </p:spPr>
        </p:sp>
      </p:grpSp>
      <p:grpSp>
        <p:nvGrpSpPr>
          <p:cNvPr id="8" name="Group 8"/>
          <p:cNvGrpSpPr/>
          <p:nvPr/>
        </p:nvGrpSpPr>
        <p:grpSpPr>
          <a:xfrm>
            <a:off x="971550" y="5050631"/>
            <a:ext cx="7672388" cy="500062"/>
            <a:chOff x="0" y="0"/>
            <a:chExt cx="10229850" cy="666750"/>
          </a:xfrm>
        </p:grpSpPr>
        <p:sp>
          <p:nvSpPr>
            <p:cNvPr id="9" name="Freeform 9" descr="image.png"/>
            <p:cNvSpPr/>
            <p:nvPr/>
          </p:nvSpPr>
          <p:spPr>
            <a:xfrm>
              <a:off x="0" y="0"/>
              <a:ext cx="10229850" cy="666750"/>
            </a:xfrm>
            <a:custGeom>
              <a:avLst/>
              <a:gdLst/>
              <a:ahLst/>
              <a:cxnLst/>
              <a:rect l="l" t="t" r="r" b="b"/>
              <a:pathLst>
                <a:path w="10229850" h="666750">
                  <a:moveTo>
                    <a:pt x="0" y="0"/>
                  </a:moveTo>
                  <a:lnTo>
                    <a:pt x="10229850" y="0"/>
                  </a:lnTo>
                  <a:lnTo>
                    <a:pt x="10229850" y="666750"/>
                  </a:lnTo>
                  <a:lnTo>
                    <a:pt x="0" y="666750"/>
                  </a:lnTo>
                  <a:lnTo>
                    <a:pt x="0" y="0"/>
                  </a:lnTo>
                  <a:close/>
                </a:path>
              </a:pathLst>
            </a:custGeom>
            <a:blipFill>
              <a:blip r:embed="rId5"/>
              <a:stretch>
                <a:fillRect t="-1142" b="-1142"/>
              </a:stretch>
            </a:blipFill>
          </p:spPr>
        </p:sp>
      </p:grpSp>
      <p:grpSp>
        <p:nvGrpSpPr>
          <p:cNvPr id="10" name="Group 10"/>
          <p:cNvGrpSpPr/>
          <p:nvPr/>
        </p:nvGrpSpPr>
        <p:grpSpPr>
          <a:xfrm>
            <a:off x="971550" y="5664994"/>
            <a:ext cx="7672388" cy="500062"/>
            <a:chOff x="0" y="0"/>
            <a:chExt cx="10229850" cy="666750"/>
          </a:xfrm>
        </p:grpSpPr>
        <p:sp>
          <p:nvSpPr>
            <p:cNvPr id="11" name="Freeform 11" descr="image.png"/>
            <p:cNvSpPr/>
            <p:nvPr/>
          </p:nvSpPr>
          <p:spPr>
            <a:xfrm>
              <a:off x="0" y="0"/>
              <a:ext cx="10229850" cy="666750"/>
            </a:xfrm>
            <a:custGeom>
              <a:avLst/>
              <a:gdLst/>
              <a:ahLst/>
              <a:cxnLst/>
              <a:rect l="l" t="t" r="r" b="b"/>
              <a:pathLst>
                <a:path w="10229850" h="666750">
                  <a:moveTo>
                    <a:pt x="0" y="0"/>
                  </a:moveTo>
                  <a:lnTo>
                    <a:pt x="10229850" y="0"/>
                  </a:lnTo>
                  <a:lnTo>
                    <a:pt x="10229850" y="666750"/>
                  </a:lnTo>
                  <a:lnTo>
                    <a:pt x="0" y="666750"/>
                  </a:lnTo>
                  <a:lnTo>
                    <a:pt x="0" y="0"/>
                  </a:lnTo>
                  <a:close/>
                </a:path>
              </a:pathLst>
            </a:custGeom>
            <a:blipFill>
              <a:blip r:embed="rId5"/>
              <a:stretch>
                <a:fillRect t="-1142" b="-1142"/>
              </a:stretch>
            </a:blipFill>
          </p:spPr>
        </p:sp>
      </p:grpSp>
      <p:grpSp>
        <p:nvGrpSpPr>
          <p:cNvPr id="12" name="Group 12"/>
          <p:cNvGrpSpPr/>
          <p:nvPr/>
        </p:nvGrpSpPr>
        <p:grpSpPr>
          <a:xfrm>
            <a:off x="971550" y="6279356"/>
            <a:ext cx="7672388" cy="500062"/>
            <a:chOff x="0" y="0"/>
            <a:chExt cx="10229850" cy="666750"/>
          </a:xfrm>
        </p:grpSpPr>
        <p:sp>
          <p:nvSpPr>
            <p:cNvPr id="13" name="Freeform 13" descr="image.png"/>
            <p:cNvSpPr/>
            <p:nvPr/>
          </p:nvSpPr>
          <p:spPr>
            <a:xfrm>
              <a:off x="0" y="0"/>
              <a:ext cx="10229850" cy="666750"/>
            </a:xfrm>
            <a:custGeom>
              <a:avLst/>
              <a:gdLst/>
              <a:ahLst/>
              <a:cxnLst/>
              <a:rect l="l" t="t" r="r" b="b"/>
              <a:pathLst>
                <a:path w="10229850" h="666750">
                  <a:moveTo>
                    <a:pt x="0" y="0"/>
                  </a:moveTo>
                  <a:lnTo>
                    <a:pt x="10229850" y="0"/>
                  </a:lnTo>
                  <a:lnTo>
                    <a:pt x="10229850" y="666750"/>
                  </a:lnTo>
                  <a:lnTo>
                    <a:pt x="0" y="666750"/>
                  </a:lnTo>
                  <a:lnTo>
                    <a:pt x="0" y="0"/>
                  </a:lnTo>
                  <a:close/>
                </a:path>
              </a:pathLst>
            </a:custGeom>
            <a:blipFill>
              <a:blip r:embed="rId5"/>
              <a:stretch>
                <a:fillRect t="-1142" b="-1142"/>
              </a:stretch>
            </a:blipFill>
          </p:spPr>
        </p:sp>
      </p:grpSp>
      <p:sp>
        <p:nvSpPr>
          <p:cNvPr id="14" name="TextBox 14"/>
          <p:cNvSpPr txBox="1"/>
          <p:nvPr/>
        </p:nvSpPr>
        <p:spPr>
          <a:xfrm>
            <a:off x="642938" y="490537"/>
            <a:ext cx="6892661" cy="566737"/>
          </a:xfrm>
          <a:prstGeom prst="rect">
            <a:avLst/>
          </a:prstGeom>
        </p:spPr>
        <p:txBody>
          <a:bodyPr lIns="0" tIns="0" rIns="0" bIns="0" rtlCol="0" anchor="t">
            <a:spAutoFit/>
          </a:bodyPr>
          <a:lstStyle/>
          <a:p>
            <a:pPr algn="l">
              <a:lnSpc>
                <a:spcPts val="4320"/>
              </a:lnSpc>
            </a:pPr>
            <a:r>
              <a:rPr lang="en-US" sz="3600" b="1">
                <a:solidFill>
                  <a:srgbClr val="064E3B"/>
                </a:solidFill>
                <a:latin typeface="Inter Bold"/>
                <a:ea typeface="Inter Bold"/>
                <a:cs typeface="Inter Bold"/>
                <a:sym typeface="Inter Bold"/>
              </a:rPr>
              <a:t>ML Model Training &amp; Inference</a:t>
            </a:r>
          </a:p>
        </p:txBody>
      </p:sp>
      <p:grpSp>
        <p:nvGrpSpPr>
          <p:cNvPr id="15" name="Group 15"/>
          <p:cNvGrpSpPr/>
          <p:nvPr/>
        </p:nvGrpSpPr>
        <p:grpSpPr>
          <a:xfrm>
            <a:off x="14485068" y="628650"/>
            <a:ext cx="3159995" cy="428625"/>
            <a:chOff x="0" y="0"/>
            <a:chExt cx="4213327" cy="571500"/>
          </a:xfrm>
        </p:grpSpPr>
        <p:sp>
          <p:nvSpPr>
            <p:cNvPr id="16" name="Freeform 16" descr="image.png"/>
            <p:cNvSpPr/>
            <p:nvPr/>
          </p:nvSpPr>
          <p:spPr>
            <a:xfrm>
              <a:off x="0" y="0"/>
              <a:ext cx="4213352" cy="571500"/>
            </a:xfrm>
            <a:custGeom>
              <a:avLst/>
              <a:gdLst/>
              <a:ahLst/>
              <a:cxnLst/>
              <a:rect l="l" t="t" r="r" b="b"/>
              <a:pathLst>
                <a:path w="4213352" h="571500">
                  <a:moveTo>
                    <a:pt x="0" y="0"/>
                  </a:moveTo>
                  <a:lnTo>
                    <a:pt x="4213352" y="0"/>
                  </a:lnTo>
                  <a:lnTo>
                    <a:pt x="4213352" y="571500"/>
                  </a:lnTo>
                  <a:lnTo>
                    <a:pt x="0" y="571500"/>
                  </a:lnTo>
                  <a:lnTo>
                    <a:pt x="0" y="0"/>
                  </a:lnTo>
                  <a:close/>
                </a:path>
              </a:pathLst>
            </a:custGeom>
            <a:blipFill>
              <a:blip r:embed="rId6"/>
              <a:stretch>
                <a:fillRect l="-187" r="-186"/>
              </a:stretch>
            </a:blipFill>
          </p:spPr>
        </p:sp>
      </p:grpSp>
      <p:grpSp>
        <p:nvGrpSpPr>
          <p:cNvPr id="17" name="Group 17"/>
          <p:cNvGrpSpPr/>
          <p:nvPr/>
        </p:nvGrpSpPr>
        <p:grpSpPr>
          <a:xfrm>
            <a:off x="1328738" y="3764756"/>
            <a:ext cx="7680960" cy="328612"/>
            <a:chOff x="0" y="0"/>
            <a:chExt cx="10241280" cy="438150"/>
          </a:xfrm>
        </p:grpSpPr>
        <p:sp>
          <p:nvSpPr>
            <p:cNvPr id="18" name="Freeform 18"/>
            <p:cNvSpPr/>
            <p:nvPr/>
          </p:nvSpPr>
          <p:spPr>
            <a:xfrm>
              <a:off x="0" y="0"/>
              <a:ext cx="10241280" cy="438150"/>
            </a:xfrm>
            <a:custGeom>
              <a:avLst/>
              <a:gdLst/>
              <a:ahLst/>
              <a:cxnLst/>
              <a:rect l="l" t="t" r="r" b="b"/>
              <a:pathLst>
                <a:path w="10241280" h="438150">
                  <a:moveTo>
                    <a:pt x="0" y="0"/>
                  </a:moveTo>
                  <a:lnTo>
                    <a:pt x="10241280" y="0"/>
                  </a:lnTo>
                  <a:lnTo>
                    <a:pt x="10241280" y="438150"/>
                  </a:lnTo>
                  <a:lnTo>
                    <a:pt x="0" y="438150"/>
                  </a:lnTo>
                  <a:close/>
                </a:path>
              </a:pathLst>
            </a:custGeom>
            <a:blipFill>
              <a:blip r:embed="rId7">
                <a:alphaModFix amt="0"/>
              </a:blip>
              <a:stretch>
                <a:fillRect t="-405441" b="-405441"/>
              </a:stretch>
            </a:blipFill>
          </p:spPr>
        </p:sp>
        <p:sp>
          <p:nvSpPr>
            <p:cNvPr id="19" name="TextBox 19"/>
            <p:cNvSpPr txBox="1"/>
            <p:nvPr/>
          </p:nvSpPr>
          <p:spPr>
            <a:xfrm>
              <a:off x="0" y="0"/>
              <a:ext cx="10241280" cy="438150"/>
            </a:xfrm>
            <a:prstGeom prst="rect">
              <a:avLst/>
            </a:prstGeom>
          </p:spPr>
          <p:txBody>
            <a:bodyPr lIns="0" tIns="0" rIns="0" bIns="0" rtlCol="0" anchor="ctr"/>
            <a:lstStyle/>
            <a:p>
              <a:pPr algn="l">
                <a:lnSpc>
                  <a:spcPts val="2565"/>
                </a:lnSpc>
              </a:pPr>
              <a:r>
                <a:rPr lang="en-US" sz="2137">
                  <a:solidFill>
                    <a:srgbClr val="064E3B"/>
                  </a:solidFill>
                  <a:latin typeface="Inter"/>
                  <a:ea typeface="Inter"/>
                  <a:cs typeface="Inter"/>
                  <a:sym typeface="Inter"/>
                </a:rPr>
                <a:t>NLP Categorization Pipeline</a:t>
              </a:r>
            </a:p>
          </p:txBody>
        </p:sp>
      </p:grpSp>
      <p:sp>
        <p:nvSpPr>
          <p:cNvPr id="20" name="TextBox 20"/>
          <p:cNvSpPr txBox="1"/>
          <p:nvPr/>
        </p:nvSpPr>
        <p:spPr>
          <a:xfrm>
            <a:off x="971550" y="4188619"/>
            <a:ext cx="7672388" cy="690563"/>
          </a:xfrm>
          <a:prstGeom prst="rect">
            <a:avLst/>
          </a:prstGeom>
        </p:spPr>
        <p:txBody>
          <a:bodyPr lIns="0" tIns="0" rIns="0" bIns="0" rtlCol="0" anchor="t">
            <a:spAutoFit/>
          </a:bodyPr>
          <a:lstStyle/>
          <a:p>
            <a:pPr algn="l">
              <a:lnSpc>
                <a:spcPts val="2530"/>
              </a:lnSpc>
            </a:pPr>
            <a:r>
              <a:rPr lang="en-US" sz="1687">
                <a:solidFill>
                  <a:srgbClr val="64748B"/>
                </a:solidFill>
                <a:latin typeface="Inter"/>
                <a:ea typeface="Inter"/>
                <a:cs typeface="Inter"/>
                <a:sym typeface="Inter"/>
              </a:rPr>
              <a:t>Vectorizes textual descriptions using Term Frequency-Inverse Document Frequency (TF-IDF):</a:t>
            </a:r>
          </a:p>
        </p:txBody>
      </p:sp>
      <p:sp>
        <p:nvSpPr>
          <p:cNvPr id="21" name="TextBox 21"/>
          <p:cNvSpPr txBox="1"/>
          <p:nvPr/>
        </p:nvSpPr>
        <p:spPr>
          <a:xfrm>
            <a:off x="971550" y="6931819"/>
            <a:ext cx="7672388" cy="647700"/>
          </a:xfrm>
          <a:prstGeom prst="rect">
            <a:avLst/>
          </a:prstGeom>
        </p:spPr>
        <p:txBody>
          <a:bodyPr lIns="0" tIns="0" rIns="0" bIns="0" rtlCol="0" anchor="t">
            <a:spAutoFit/>
          </a:bodyPr>
          <a:lstStyle/>
          <a:p>
            <a:pPr algn="l">
              <a:lnSpc>
                <a:spcPts val="2362"/>
              </a:lnSpc>
            </a:pPr>
            <a:r>
              <a:rPr lang="en-US" sz="1575" b="1">
                <a:solidFill>
                  <a:srgbClr val="475569"/>
                </a:solidFill>
                <a:latin typeface="Inter Bold"/>
                <a:ea typeface="Inter Bold"/>
                <a:cs typeface="Inter Bold"/>
                <a:sym typeface="Inter Bold"/>
              </a:rPr>
              <a:t>Fail-Safe Logic:</a:t>
            </a:r>
            <a:r>
              <a:rPr lang="en-US" sz="1575">
                <a:solidFill>
                  <a:srgbClr val="475569"/>
                </a:solidFill>
                <a:latin typeface="Inter"/>
                <a:ea typeface="Inter"/>
                <a:cs typeface="Inter"/>
                <a:sym typeface="Inter"/>
              </a:rPr>
              <a:t> When classification confidence falls below 65%, transactions default to "Uncategorized" for manual verification.</a:t>
            </a:r>
          </a:p>
        </p:txBody>
      </p:sp>
      <p:grpSp>
        <p:nvGrpSpPr>
          <p:cNvPr id="22" name="Group 22"/>
          <p:cNvGrpSpPr/>
          <p:nvPr/>
        </p:nvGrpSpPr>
        <p:grpSpPr>
          <a:xfrm>
            <a:off x="10029825" y="3764756"/>
            <a:ext cx="7650956" cy="328612"/>
            <a:chOff x="0" y="0"/>
            <a:chExt cx="10201275" cy="438150"/>
          </a:xfrm>
        </p:grpSpPr>
        <p:sp>
          <p:nvSpPr>
            <p:cNvPr id="23" name="Freeform 23"/>
            <p:cNvSpPr/>
            <p:nvPr/>
          </p:nvSpPr>
          <p:spPr>
            <a:xfrm>
              <a:off x="0" y="0"/>
              <a:ext cx="10201274" cy="438150"/>
            </a:xfrm>
            <a:custGeom>
              <a:avLst/>
              <a:gdLst/>
              <a:ahLst/>
              <a:cxnLst/>
              <a:rect l="l" t="t" r="r" b="b"/>
              <a:pathLst>
                <a:path w="10201274" h="438150">
                  <a:moveTo>
                    <a:pt x="0" y="0"/>
                  </a:moveTo>
                  <a:lnTo>
                    <a:pt x="10201274" y="0"/>
                  </a:lnTo>
                  <a:lnTo>
                    <a:pt x="10201274" y="438150"/>
                  </a:lnTo>
                  <a:lnTo>
                    <a:pt x="0" y="438150"/>
                  </a:lnTo>
                  <a:close/>
                </a:path>
              </a:pathLst>
            </a:custGeom>
            <a:blipFill>
              <a:blip r:embed="rId7">
                <a:alphaModFix amt="0"/>
              </a:blip>
              <a:stretch>
                <a:fillRect t="-403662" b="-403662"/>
              </a:stretch>
            </a:blipFill>
          </p:spPr>
        </p:sp>
        <p:sp>
          <p:nvSpPr>
            <p:cNvPr id="24" name="TextBox 24"/>
            <p:cNvSpPr txBox="1"/>
            <p:nvPr/>
          </p:nvSpPr>
          <p:spPr>
            <a:xfrm>
              <a:off x="0" y="0"/>
              <a:ext cx="10201275" cy="438150"/>
            </a:xfrm>
            <a:prstGeom prst="rect">
              <a:avLst/>
            </a:prstGeom>
          </p:spPr>
          <p:txBody>
            <a:bodyPr lIns="0" tIns="0" rIns="0" bIns="0" rtlCol="0" anchor="ctr"/>
            <a:lstStyle/>
            <a:p>
              <a:pPr algn="l">
                <a:lnSpc>
                  <a:spcPts val="2565"/>
                </a:lnSpc>
              </a:pPr>
              <a:r>
                <a:rPr lang="en-US" sz="2137">
                  <a:solidFill>
                    <a:srgbClr val="064E3B"/>
                  </a:solidFill>
                  <a:latin typeface="Inter"/>
                  <a:ea typeface="Inter"/>
                  <a:cs typeface="Inter"/>
                  <a:sym typeface="Inter"/>
                </a:rPr>
                <a:t>Anomaly &amp; Regression Mechanics</a:t>
              </a:r>
            </a:p>
          </p:txBody>
        </p:sp>
      </p:grpSp>
      <p:grpSp>
        <p:nvGrpSpPr>
          <p:cNvPr id="25" name="Group 25"/>
          <p:cNvGrpSpPr/>
          <p:nvPr/>
        </p:nvGrpSpPr>
        <p:grpSpPr>
          <a:xfrm>
            <a:off x="971550" y="3793331"/>
            <a:ext cx="242888" cy="271462"/>
            <a:chOff x="0" y="0"/>
            <a:chExt cx="323850" cy="361950"/>
          </a:xfrm>
        </p:grpSpPr>
        <p:sp>
          <p:nvSpPr>
            <p:cNvPr id="26" name="Freeform 26" descr="image.png"/>
            <p:cNvSpPr/>
            <p:nvPr/>
          </p:nvSpPr>
          <p:spPr>
            <a:xfrm>
              <a:off x="0" y="0"/>
              <a:ext cx="323850" cy="361950"/>
            </a:xfrm>
            <a:custGeom>
              <a:avLst/>
              <a:gdLst/>
              <a:ahLst/>
              <a:cxnLst/>
              <a:rect l="l" t="t" r="r" b="b"/>
              <a:pathLst>
                <a:path w="323850" h="361950">
                  <a:moveTo>
                    <a:pt x="0" y="0"/>
                  </a:moveTo>
                  <a:lnTo>
                    <a:pt x="323850" y="0"/>
                  </a:lnTo>
                  <a:lnTo>
                    <a:pt x="323850" y="361950"/>
                  </a:lnTo>
                  <a:lnTo>
                    <a:pt x="0" y="361950"/>
                  </a:lnTo>
                  <a:lnTo>
                    <a:pt x="0" y="0"/>
                  </a:lnTo>
                  <a:close/>
                </a:path>
              </a:pathLst>
            </a:custGeom>
            <a:blipFill>
              <a:blip r:embed="rId8"/>
              <a:stretch>
                <a:fillRect t="-2631" b="-2631"/>
              </a:stretch>
            </a:blipFill>
          </p:spPr>
        </p:sp>
      </p:grpSp>
      <p:grpSp>
        <p:nvGrpSpPr>
          <p:cNvPr id="27" name="Group 27"/>
          <p:cNvGrpSpPr/>
          <p:nvPr/>
        </p:nvGrpSpPr>
        <p:grpSpPr>
          <a:xfrm>
            <a:off x="9644062" y="3793331"/>
            <a:ext cx="271462" cy="271462"/>
            <a:chOff x="0" y="0"/>
            <a:chExt cx="361950" cy="361950"/>
          </a:xfrm>
        </p:grpSpPr>
        <p:sp>
          <p:nvSpPr>
            <p:cNvPr id="28" name="Freeform 28" descr="image.png"/>
            <p:cNvSpPr/>
            <p:nvPr/>
          </p:nvSpPr>
          <p:spPr>
            <a:xfrm>
              <a:off x="0" y="0"/>
              <a:ext cx="361950" cy="361950"/>
            </a:xfrm>
            <a:custGeom>
              <a:avLst/>
              <a:gdLst/>
              <a:ahLst/>
              <a:cxnLst/>
              <a:rect l="l" t="t" r="r" b="b"/>
              <a:pathLst>
                <a:path w="361950" h="361950">
                  <a:moveTo>
                    <a:pt x="0" y="0"/>
                  </a:moveTo>
                  <a:lnTo>
                    <a:pt x="361950" y="0"/>
                  </a:lnTo>
                  <a:lnTo>
                    <a:pt x="361950" y="361950"/>
                  </a:lnTo>
                  <a:lnTo>
                    <a:pt x="0" y="361950"/>
                  </a:lnTo>
                  <a:lnTo>
                    <a:pt x="0" y="0"/>
                  </a:lnTo>
                  <a:close/>
                </a:path>
              </a:pathLst>
            </a:custGeom>
            <a:blipFill>
              <a:blip r:embed="rId9"/>
              <a:stretch>
                <a:fillRect t="-2631" b="-2631"/>
              </a:stretch>
            </a:blipFill>
          </p:spPr>
        </p:sp>
      </p:grpSp>
      <p:sp>
        <p:nvSpPr>
          <p:cNvPr id="29" name="TextBox 29"/>
          <p:cNvSpPr txBox="1"/>
          <p:nvPr/>
        </p:nvSpPr>
        <p:spPr>
          <a:xfrm>
            <a:off x="9644062" y="4279106"/>
            <a:ext cx="2757488" cy="228600"/>
          </a:xfrm>
          <a:prstGeom prst="rect">
            <a:avLst/>
          </a:prstGeom>
        </p:spPr>
        <p:txBody>
          <a:bodyPr lIns="0" tIns="0" rIns="0" bIns="0" rtlCol="0" anchor="t">
            <a:spAutoFit/>
          </a:bodyPr>
          <a:lstStyle/>
          <a:p>
            <a:pPr algn="l">
              <a:lnSpc>
                <a:spcPts val="1755"/>
              </a:lnSpc>
            </a:pPr>
            <a:r>
              <a:rPr lang="en-US" sz="1462" b="1">
                <a:solidFill>
                  <a:srgbClr val="92400E"/>
                </a:solidFill>
                <a:latin typeface="Inter Bold"/>
                <a:ea typeface="Inter Bold"/>
                <a:cs typeface="Inter Bold"/>
                <a:sym typeface="Inter Bold"/>
              </a:rPr>
              <a:t>ISOLATION FOREST SCORING</a:t>
            </a:r>
          </a:p>
        </p:txBody>
      </p:sp>
      <p:sp>
        <p:nvSpPr>
          <p:cNvPr id="30" name="TextBox 30"/>
          <p:cNvSpPr txBox="1"/>
          <p:nvPr/>
        </p:nvSpPr>
        <p:spPr>
          <a:xfrm>
            <a:off x="9644062" y="4521994"/>
            <a:ext cx="7672388" cy="678656"/>
          </a:xfrm>
          <a:prstGeom prst="rect">
            <a:avLst/>
          </a:prstGeom>
        </p:spPr>
        <p:txBody>
          <a:bodyPr lIns="0" tIns="0" rIns="0" bIns="0" rtlCol="0" anchor="t">
            <a:spAutoFit/>
          </a:bodyPr>
          <a:lstStyle/>
          <a:p>
            <a:pPr algn="l">
              <a:lnSpc>
                <a:spcPts val="2446"/>
              </a:lnSpc>
            </a:pPr>
            <a:r>
              <a:rPr lang="en-US" sz="1630">
                <a:solidFill>
                  <a:srgbClr val="475569"/>
                </a:solidFill>
                <a:latin typeface="Inter"/>
                <a:ea typeface="Inter"/>
                <a:cs typeface="Inter"/>
                <a:sym typeface="Inter"/>
              </a:rPr>
              <a:t>Evaluates transaction amounts alongside temporal attributes. Extreme deviations are partitioned in fewer tree splits, triggering an anomaly alert.</a:t>
            </a:r>
          </a:p>
        </p:txBody>
      </p:sp>
      <p:sp>
        <p:nvSpPr>
          <p:cNvPr id="31" name="TextBox 31"/>
          <p:cNvSpPr txBox="1"/>
          <p:nvPr/>
        </p:nvSpPr>
        <p:spPr>
          <a:xfrm>
            <a:off x="9644062" y="5443538"/>
            <a:ext cx="2771775" cy="228600"/>
          </a:xfrm>
          <a:prstGeom prst="rect">
            <a:avLst/>
          </a:prstGeom>
        </p:spPr>
        <p:txBody>
          <a:bodyPr lIns="0" tIns="0" rIns="0" bIns="0" rtlCol="0" anchor="t">
            <a:spAutoFit/>
          </a:bodyPr>
          <a:lstStyle/>
          <a:p>
            <a:pPr algn="l">
              <a:lnSpc>
                <a:spcPts val="1755"/>
              </a:lnSpc>
            </a:pPr>
            <a:r>
              <a:rPr lang="en-US" sz="1462" b="1">
                <a:solidFill>
                  <a:srgbClr val="064E3B"/>
                </a:solidFill>
                <a:latin typeface="Inter Bold"/>
                <a:ea typeface="Inter Bold"/>
                <a:cs typeface="Inter Bold"/>
                <a:sym typeface="Inter Bold"/>
              </a:rPr>
              <a:t>SPEND FORECASTING CHECK</a:t>
            </a:r>
          </a:p>
        </p:txBody>
      </p:sp>
      <p:sp>
        <p:nvSpPr>
          <p:cNvPr id="32" name="TextBox 32"/>
          <p:cNvSpPr txBox="1"/>
          <p:nvPr/>
        </p:nvSpPr>
        <p:spPr>
          <a:xfrm>
            <a:off x="9644062" y="5686425"/>
            <a:ext cx="7672388" cy="678656"/>
          </a:xfrm>
          <a:prstGeom prst="rect">
            <a:avLst/>
          </a:prstGeom>
        </p:spPr>
        <p:txBody>
          <a:bodyPr lIns="0" tIns="0" rIns="0" bIns="0" rtlCol="0" anchor="t">
            <a:spAutoFit/>
          </a:bodyPr>
          <a:lstStyle/>
          <a:p>
            <a:pPr algn="l">
              <a:lnSpc>
                <a:spcPts val="2446"/>
              </a:lnSpc>
            </a:pPr>
            <a:r>
              <a:rPr lang="en-US" sz="1630">
                <a:solidFill>
                  <a:srgbClr val="475569"/>
                </a:solidFill>
                <a:latin typeface="Inter"/>
                <a:ea typeface="Inter"/>
                <a:cs typeface="Inter"/>
                <a:sym typeface="Inter"/>
              </a:rPr>
              <a:t>Requires a minimum threshold of historical entries before generating regression projections, preventing spurious predictions on sparse data.</a:t>
            </a:r>
          </a:p>
        </p:txBody>
      </p:sp>
      <p:sp>
        <p:nvSpPr>
          <p:cNvPr id="33" name="TextBox 33"/>
          <p:cNvSpPr txBox="1"/>
          <p:nvPr/>
        </p:nvSpPr>
        <p:spPr>
          <a:xfrm>
            <a:off x="1157288" y="5169694"/>
            <a:ext cx="2160756" cy="252413"/>
          </a:xfrm>
          <a:prstGeom prst="rect">
            <a:avLst/>
          </a:prstGeom>
        </p:spPr>
        <p:txBody>
          <a:bodyPr lIns="0" tIns="0" rIns="0" bIns="0" rtlCol="0" anchor="t">
            <a:spAutoFit/>
          </a:bodyPr>
          <a:lstStyle/>
          <a:p>
            <a:pPr algn="l">
              <a:lnSpc>
                <a:spcPts val="1889"/>
              </a:lnSpc>
            </a:pPr>
            <a:r>
              <a:rPr lang="en-US" sz="1575">
                <a:solidFill>
                  <a:srgbClr val="0F172A"/>
                </a:solidFill>
                <a:latin typeface="Arimo"/>
                <a:ea typeface="Arimo"/>
                <a:cs typeface="Arimo"/>
                <a:sym typeface="Arimo"/>
              </a:rPr>
              <a:t>"SWIGGY BANGALORE"</a:t>
            </a:r>
          </a:p>
        </p:txBody>
      </p:sp>
      <p:sp>
        <p:nvSpPr>
          <p:cNvPr id="34" name="TextBox 34"/>
          <p:cNvSpPr txBox="1"/>
          <p:nvPr/>
        </p:nvSpPr>
        <p:spPr>
          <a:xfrm>
            <a:off x="6815138" y="5179219"/>
            <a:ext cx="1643062" cy="242888"/>
          </a:xfrm>
          <a:prstGeom prst="rect">
            <a:avLst/>
          </a:prstGeom>
        </p:spPr>
        <p:txBody>
          <a:bodyPr lIns="0" tIns="0" rIns="0" bIns="0" rtlCol="0" anchor="t">
            <a:spAutoFit/>
          </a:bodyPr>
          <a:lstStyle/>
          <a:p>
            <a:pPr algn="l">
              <a:lnSpc>
                <a:spcPts val="1889"/>
              </a:lnSpc>
            </a:pPr>
            <a:r>
              <a:rPr lang="en-US" sz="1575">
                <a:solidFill>
                  <a:srgbClr val="059669"/>
                </a:solidFill>
                <a:latin typeface="Inter"/>
                <a:ea typeface="Inter"/>
                <a:cs typeface="Inter"/>
                <a:sym typeface="Inter"/>
              </a:rPr>
              <a:t>→ Food &amp; Dining</a:t>
            </a:r>
          </a:p>
        </p:txBody>
      </p:sp>
      <p:sp>
        <p:nvSpPr>
          <p:cNvPr id="35" name="TextBox 35"/>
          <p:cNvSpPr txBox="1"/>
          <p:nvPr/>
        </p:nvSpPr>
        <p:spPr>
          <a:xfrm>
            <a:off x="1157288" y="5784056"/>
            <a:ext cx="2160756" cy="252413"/>
          </a:xfrm>
          <a:prstGeom prst="rect">
            <a:avLst/>
          </a:prstGeom>
        </p:spPr>
        <p:txBody>
          <a:bodyPr lIns="0" tIns="0" rIns="0" bIns="0" rtlCol="0" anchor="t">
            <a:spAutoFit/>
          </a:bodyPr>
          <a:lstStyle/>
          <a:p>
            <a:pPr algn="l">
              <a:lnSpc>
                <a:spcPts val="1889"/>
              </a:lnSpc>
            </a:pPr>
            <a:r>
              <a:rPr lang="en-US" sz="1575">
                <a:solidFill>
                  <a:srgbClr val="0F172A"/>
                </a:solidFill>
                <a:latin typeface="Arimo"/>
                <a:ea typeface="Arimo"/>
                <a:cs typeface="Arimo"/>
                <a:sym typeface="Arimo"/>
              </a:rPr>
              <a:t>"UBER RIDES INDIA"</a:t>
            </a:r>
          </a:p>
        </p:txBody>
      </p:sp>
      <p:sp>
        <p:nvSpPr>
          <p:cNvPr id="36" name="TextBox 36"/>
          <p:cNvSpPr txBox="1"/>
          <p:nvPr/>
        </p:nvSpPr>
        <p:spPr>
          <a:xfrm>
            <a:off x="6729412" y="5793581"/>
            <a:ext cx="1728788" cy="242888"/>
          </a:xfrm>
          <a:prstGeom prst="rect">
            <a:avLst/>
          </a:prstGeom>
        </p:spPr>
        <p:txBody>
          <a:bodyPr lIns="0" tIns="0" rIns="0" bIns="0" rtlCol="0" anchor="t">
            <a:spAutoFit/>
          </a:bodyPr>
          <a:lstStyle/>
          <a:p>
            <a:pPr algn="l">
              <a:lnSpc>
                <a:spcPts val="1889"/>
              </a:lnSpc>
            </a:pPr>
            <a:r>
              <a:rPr lang="en-US" sz="1575">
                <a:solidFill>
                  <a:srgbClr val="059669"/>
                </a:solidFill>
                <a:latin typeface="Inter"/>
                <a:ea typeface="Inter"/>
                <a:cs typeface="Inter"/>
                <a:sym typeface="Inter"/>
              </a:rPr>
              <a:t>→ Transportation</a:t>
            </a:r>
          </a:p>
        </p:txBody>
      </p:sp>
      <p:sp>
        <p:nvSpPr>
          <p:cNvPr id="37" name="TextBox 37"/>
          <p:cNvSpPr txBox="1"/>
          <p:nvPr/>
        </p:nvSpPr>
        <p:spPr>
          <a:xfrm>
            <a:off x="1157288" y="6398419"/>
            <a:ext cx="2040655" cy="252413"/>
          </a:xfrm>
          <a:prstGeom prst="rect">
            <a:avLst/>
          </a:prstGeom>
        </p:spPr>
        <p:txBody>
          <a:bodyPr lIns="0" tIns="0" rIns="0" bIns="0" rtlCol="0" anchor="t">
            <a:spAutoFit/>
          </a:bodyPr>
          <a:lstStyle/>
          <a:p>
            <a:pPr algn="l">
              <a:lnSpc>
                <a:spcPts val="1889"/>
              </a:lnSpc>
            </a:pPr>
            <a:r>
              <a:rPr lang="en-US" sz="1575">
                <a:solidFill>
                  <a:srgbClr val="0F172A"/>
                </a:solidFill>
                <a:latin typeface="Arimo"/>
                <a:ea typeface="Arimo"/>
                <a:cs typeface="Arimo"/>
                <a:sym typeface="Arimo"/>
              </a:rPr>
              <a:t>"NETFLIX MONTHLY"</a:t>
            </a:r>
          </a:p>
        </p:txBody>
      </p:sp>
      <p:sp>
        <p:nvSpPr>
          <p:cNvPr id="38" name="TextBox 38"/>
          <p:cNvSpPr txBox="1"/>
          <p:nvPr/>
        </p:nvSpPr>
        <p:spPr>
          <a:xfrm>
            <a:off x="6815138" y="6407944"/>
            <a:ext cx="1643062" cy="242888"/>
          </a:xfrm>
          <a:prstGeom prst="rect">
            <a:avLst/>
          </a:prstGeom>
        </p:spPr>
        <p:txBody>
          <a:bodyPr lIns="0" tIns="0" rIns="0" bIns="0" rtlCol="0" anchor="t">
            <a:spAutoFit/>
          </a:bodyPr>
          <a:lstStyle/>
          <a:p>
            <a:pPr algn="l">
              <a:lnSpc>
                <a:spcPts val="1889"/>
              </a:lnSpc>
            </a:pPr>
            <a:r>
              <a:rPr lang="en-US" sz="1575">
                <a:solidFill>
                  <a:srgbClr val="059669"/>
                </a:solidFill>
                <a:latin typeface="Inter"/>
                <a:ea typeface="Inter"/>
                <a:cs typeface="Inter"/>
                <a:sym typeface="Inter"/>
              </a:rPr>
              <a:t>→ Entertainment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sp>
      </p:grpSp>
      <p:grpSp>
        <p:nvGrpSpPr>
          <p:cNvPr id="4" name="Group 4"/>
          <p:cNvGrpSpPr/>
          <p:nvPr/>
        </p:nvGrpSpPr>
        <p:grpSpPr>
          <a:xfrm>
            <a:off x="642938" y="4339828"/>
            <a:ext cx="17002125" cy="2886075"/>
            <a:chOff x="0" y="0"/>
            <a:chExt cx="22669500" cy="3848100"/>
          </a:xfrm>
        </p:grpSpPr>
        <p:sp>
          <p:nvSpPr>
            <p:cNvPr id="5" name="Freeform 5" descr="image.png"/>
            <p:cNvSpPr/>
            <p:nvPr/>
          </p:nvSpPr>
          <p:spPr>
            <a:xfrm>
              <a:off x="0" y="0"/>
              <a:ext cx="22669500" cy="3848100"/>
            </a:xfrm>
            <a:custGeom>
              <a:avLst/>
              <a:gdLst/>
              <a:ahLst/>
              <a:cxnLst/>
              <a:rect l="l" t="t" r="r" b="b"/>
              <a:pathLst>
                <a:path w="22669500" h="3848100">
                  <a:moveTo>
                    <a:pt x="0" y="0"/>
                  </a:moveTo>
                  <a:lnTo>
                    <a:pt x="22669500" y="0"/>
                  </a:lnTo>
                  <a:lnTo>
                    <a:pt x="22669500" y="3848100"/>
                  </a:lnTo>
                  <a:lnTo>
                    <a:pt x="0" y="3848100"/>
                  </a:lnTo>
                  <a:lnTo>
                    <a:pt x="0" y="0"/>
                  </a:lnTo>
                  <a:close/>
                </a:path>
              </a:pathLst>
            </a:custGeom>
            <a:blipFill>
              <a:blip r:embed="rId3"/>
              <a:stretch>
                <a:fillRect t="-163" b="-163"/>
              </a:stretch>
            </a:blipFill>
          </p:spPr>
        </p:sp>
      </p:grpSp>
      <p:grpSp>
        <p:nvGrpSpPr>
          <p:cNvPr id="6" name="Group 6"/>
          <p:cNvGrpSpPr/>
          <p:nvPr/>
        </p:nvGrpSpPr>
        <p:grpSpPr>
          <a:xfrm>
            <a:off x="642938" y="7425928"/>
            <a:ext cx="17002125" cy="992981"/>
            <a:chOff x="0" y="0"/>
            <a:chExt cx="22669500" cy="1323975"/>
          </a:xfrm>
        </p:grpSpPr>
        <p:sp>
          <p:nvSpPr>
            <p:cNvPr id="7" name="Freeform 7" descr="image.png"/>
            <p:cNvSpPr/>
            <p:nvPr/>
          </p:nvSpPr>
          <p:spPr>
            <a:xfrm>
              <a:off x="0" y="0"/>
              <a:ext cx="22669500" cy="1323975"/>
            </a:xfrm>
            <a:custGeom>
              <a:avLst/>
              <a:gdLst/>
              <a:ahLst/>
              <a:cxnLst/>
              <a:rect l="l" t="t" r="r" b="b"/>
              <a:pathLst>
                <a:path w="22669500" h="1323975">
                  <a:moveTo>
                    <a:pt x="0" y="0"/>
                  </a:moveTo>
                  <a:lnTo>
                    <a:pt x="22669500" y="0"/>
                  </a:lnTo>
                  <a:lnTo>
                    <a:pt x="22669500" y="1323975"/>
                  </a:lnTo>
                  <a:lnTo>
                    <a:pt x="0" y="1323975"/>
                  </a:lnTo>
                  <a:lnTo>
                    <a:pt x="0" y="0"/>
                  </a:lnTo>
                  <a:close/>
                </a:path>
              </a:pathLst>
            </a:custGeom>
            <a:blipFill>
              <a:blip r:embed="rId4"/>
              <a:stretch>
                <a:fillRect t="-993" b="-992"/>
              </a:stretch>
            </a:blipFill>
          </p:spPr>
        </p:sp>
      </p:grpSp>
      <p:grpSp>
        <p:nvGrpSpPr>
          <p:cNvPr id="8" name="Group 8"/>
          <p:cNvGrpSpPr/>
          <p:nvPr/>
        </p:nvGrpSpPr>
        <p:grpSpPr>
          <a:xfrm>
            <a:off x="642938" y="2896791"/>
            <a:ext cx="4100512" cy="1185862"/>
            <a:chOff x="0" y="0"/>
            <a:chExt cx="5467350" cy="1581150"/>
          </a:xfrm>
        </p:grpSpPr>
        <p:sp>
          <p:nvSpPr>
            <p:cNvPr id="9" name="Freeform 9" descr="image.png"/>
            <p:cNvSpPr/>
            <p:nvPr/>
          </p:nvSpPr>
          <p:spPr>
            <a:xfrm>
              <a:off x="0" y="0"/>
              <a:ext cx="5467350" cy="1581150"/>
            </a:xfrm>
            <a:custGeom>
              <a:avLst/>
              <a:gdLst/>
              <a:ahLst/>
              <a:cxnLst/>
              <a:rect l="l" t="t" r="r" b="b"/>
              <a:pathLst>
                <a:path w="5467350" h="1581150">
                  <a:moveTo>
                    <a:pt x="0" y="0"/>
                  </a:moveTo>
                  <a:lnTo>
                    <a:pt x="5467350" y="0"/>
                  </a:lnTo>
                  <a:lnTo>
                    <a:pt x="5467350" y="1581150"/>
                  </a:lnTo>
                  <a:lnTo>
                    <a:pt x="0" y="1581150"/>
                  </a:lnTo>
                  <a:lnTo>
                    <a:pt x="0" y="0"/>
                  </a:lnTo>
                  <a:close/>
                </a:path>
              </a:pathLst>
            </a:custGeom>
            <a:blipFill>
              <a:blip r:embed="rId5"/>
              <a:stretch>
                <a:fillRect t="-426" b="-427"/>
              </a:stretch>
            </a:blipFill>
          </p:spPr>
        </p:sp>
      </p:grpSp>
      <p:grpSp>
        <p:nvGrpSpPr>
          <p:cNvPr id="10" name="Group 10"/>
          <p:cNvGrpSpPr/>
          <p:nvPr/>
        </p:nvGrpSpPr>
        <p:grpSpPr>
          <a:xfrm>
            <a:off x="4943475" y="2896791"/>
            <a:ext cx="4100512" cy="1185862"/>
            <a:chOff x="0" y="0"/>
            <a:chExt cx="5467350" cy="1581150"/>
          </a:xfrm>
        </p:grpSpPr>
        <p:sp>
          <p:nvSpPr>
            <p:cNvPr id="11" name="Freeform 11" descr="image.png"/>
            <p:cNvSpPr/>
            <p:nvPr/>
          </p:nvSpPr>
          <p:spPr>
            <a:xfrm>
              <a:off x="0" y="0"/>
              <a:ext cx="5467350" cy="1581150"/>
            </a:xfrm>
            <a:custGeom>
              <a:avLst/>
              <a:gdLst/>
              <a:ahLst/>
              <a:cxnLst/>
              <a:rect l="l" t="t" r="r" b="b"/>
              <a:pathLst>
                <a:path w="5467350" h="1581150">
                  <a:moveTo>
                    <a:pt x="0" y="0"/>
                  </a:moveTo>
                  <a:lnTo>
                    <a:pt x="5467350" y="0"/>
                  </a:lnTo>
                  <a:lnTo>
                    <a:pt x="5467350" y="1581150"/>
                  </a:lnTo>
                  <a:lnTo>
                    <a:pt x="0" y="1581150"/>
                  </a:lnTo>
                  <a:lnTo>
                    <a:pt x="0" y="0"/>
                  </a:lnTo>
                  <a:close/>
                </a:path>
              </a:pathLst>
            </a:custGeom>
            <a:blipFill>
              <a:blip r:embed="rId6"/>
              <a:stretch>
                <a:fillRect t="-426" b="-427"/>
              </a:stretch>
            </a:blipFill>
          </p:spPr>
        </p:sp>
      </p:grpSp>
      <p:grpSp>
        <p:nvGrpSpPr>
          <p:cNvPr id="12" name="Group 12"/>
          <p:cNvGrpSpPr/>
          <p:nvPr/>
        </p:nvGrpSpPr>
        <p:grpSpPr>
          <a:xfrm>
            <a:off x="9244012" y="2896791"/>
            <a:ext cx="4100512" cy="1185862"/>
            <a:chOff x="0" y="0"/>
            <a:chExt cx="5467350" cy="1581150"/>
          </a:xfrm>
        </p:grpSpPr>
        <p:sp>
          <p:nvSpPr>
            <p:cNvPr id="13" name="Freeform 13" descr="image.png"/>
            <p:cNvSpPr/>
            <p:nvPr/>
          </p:nvSpPr>
          <p:spPr>
            <a:xfrm>
              <a:off x="0" y="0"/>
              <a:ext cx="5467350" cy="1581150"/>
            </a:xfrm>
            <a:custGeom>
              <a:avLst/>
              <a:gdLst/>
              <a:ahLst/>
              <a:cxnLst/>
              <a:rect l="l" t="t" r="r" b="b"/>
              <a:pathLst>
                <a:path w="5467350" h="1581150">
                  <a:moveTo>
                    <a:pt x="0" y="0"/>
                  </a:moveTo>
                  <a:lnTo>
                    <a:pt x="5467350" y="0"/>
                  </a:lnTo>
                  <a:lnTo>
                    <a:pt x="5467350" y="1581150"/>
                  </a:lnTo>
                  <a:lnTo>
                    <a:pt x="0" y="1581150"/>
                  </a:lnTo>
                  <a:lnTo>
                    <a:pt x="0" y="0"/>
                  </a:lnTo>
                  <a:close/>
                </a:path>
              </a:pathLst>
            </a:custGeom>
            <a:blipFill>
              <a:blip r:embed="rId7"/>
              <a:stretch>
                <a:fillRect t="-426" b="-427"/>
              </a:stretch>
            </a:blipFill>
          </p:spPr>
        </p:sp>
      </p:grpSp>
      <p:grpSp>
        <p:nvGrpSpPr>
          <p:cNvPr id="14" name="Group 14"/>
          <p:cNvGrpSpPr/>
          <p:nvPr/>
        </p:nvGrpSpPr>
        <p:grpSpPr>
          <a:xfrm>
            <a:off x="13544550" y="2896791"/>
            <a:ext cx="4100512" cy="1185862"/>
            <a:chOff x="0" y="0"/>
            <a:chExt cx="5467350" cy="1581150"/>
          </a:xfrm>
        </p:grpSpPr>
        <p:sp>
          <p:nvSpPr>
            <p:cNvPr id="15" name="Freeform 15" descr="image.png"/>
            <p:cNvSpPr/>
            <p:nvPr/>
          </p:nvSpPr>
          <p:spPr>
            <a:xfrm>
              <a:off x="0" y="0"/>
              <a:ext cx="5467350" cy="1581150"/>
            </a:xfrm>
            <a:custGeom>
              <a:avLst/>
              <a:gdLst/>
              <a:ahLst/>
              <a:cxnLst/>
              <a:rect l="l" t="t" r="r" b="b"/>
              <a:pathLst>
                <a:path w="5467350" h="1581150">
                  <a:moveTo>
                    <a:pt x="0" y="0"/>
                  </a:moveTo>
                  <a:lnTo>
                    <a:pt x="5467350" y="0"/>
                  </a:lnTo>
                  <a:lnTo>
                    <a:pt x="5467350" y="1581150"/>
                  </a:lnTo>
                  <a:lnTo>
                    <a:pt x="0" y="1581150"/>
                  </a:lnTo>
                  <a:lnTo>
                    <a:pt x="0" y="0"/>
                  </a:lnTo>
                  <a:close/>
                </a:path>
              </a:pathLst>
            </a:custGeom>
            <a:blipFill>
              <a:blip r:embed="rId6"/>
              <a:stretch>
                <a:fillRect t="-426" b="-427"/>
              </a:stretch>
            </a:blipFill>
          </p:spPr>
        </p:sp>
      </p:grpSp>
      <p:sp>
        <p:nvSpPr>
          <p:cNvPr id="16" name="TextBox 16"/>
          <p:cNvSpPr txBox="1"/>
          <p:nvPr/>
        </p:nvSpPr>
        <p:spPr>
          <a:xfrm>
            <a:off x="642938" y="490537"/>
            <a:ext cx="6787648" cy="566737"/>
          </a:xfrm>
          <a:prstGeom prst="rect">
            <a:avLst/>
          </a:prstGeom>
        </p:spPr>
        <p:txBody>
          <a:bodyPr lIns="0" tIns="0" rIns="0" bIns="0" rtlCol="0" anchor="t">
            <a:spAutoFit/>
          </a:bodyPr>
          <a:lstStyle/>
          <a:p>
            <a:pPr algn="l">
              <a:lnSpc>
                <a:spcPts val="4320"/>
              </a:lnSpc>
            </a:pPr>
            <a:r>
              <a:rPr lang="en-US" sz="3600" b="1">
                <a:solidFill>
                  <a:srgbClr val="064E3B"/>
                </a:solidFill>
                <a:latin typeface="Inter Bold"/>
                <a:ea typeface="Inter Bold"/>
                <a:cs typeface="Inter Bold"/>
                <a:sym typeface="Inter Bold"/>
              </a:rPr>
              <a:t>Results &amp; Application Outputs</a:t>
            </a:r>
          </a:p>
        </p:txBody>
      </p:sp>
      <p:grpSp>
        <p:nvGrpSpPr>
          <p:cNvPr id="17" name="Group 17"/>
          <p:cNvGrpSpPr/>
          <p:nvPr/>
        </p:nvGrpSpPr>
        <p:grpSpPr>
          <a:xfrm>
            <a:off x="14456493" y="628650"/>
            <a:ext cx="3188570" cy="428625"/>
            <a:chOff x="0" y="0"/>
            <a:chExt cx="4251427" cy="571500"/>
          </a:xfrm>
        </p:grpSpPr>
        <p:sp>
          <p:nvSpPr>
            <p:cNvPr id="18" name="Freeform 18" descr="image.png"/>
            <p:cNvSpPr/>
            <p:nvPr/>
          </p:nvSpPr>
          <p:spPr>
            <a:xfrm>
              <a:off x="0" y="0"/>
              <a:ext cx="4251452" cy="571500"/>
            </a:xfrm>
            <a:custGeom>
              <a:avLst/>
              <a:gdLst/>
              <a:ahLst/>
              <a:cxnLst/>
              <a:rect l="l" t="t" r="r" b="b"/>
              <a:pathLst>
                <a:path w="4251452" h="571500">
                  <a:moveTo>
                    <a:pt x="0" y="0"/>
                  </a:moveTo>
                  <a:lnTo>
                    <a:pt x="4251452" y="0"/>
                  </a:lnTo>
                  <a:lnTo>
                    <a:pt x="4251452" y="571500"/>
                  </a:lnTo>
                  <a:lnTo>
                    <a:pt x="0" y="571500"/>
                  </a:lnTo>
                  <a:lnTo>
                    <a:pt x="0" y="0"/>
                  </a:lnTo>
                  <a:close/>
                </a:path>
              </a:pathLst>
            </a:custGeom>
            <a:blipFill>
              <a:blip r:embed="rId8"/>
              <a:stretch>
                <a:fillRect l="-185" r="-184"/>
              </a:stretch>
            </a:blipFill>
          </p:spPr>
        </p:sp>
      </p:grpSp>
      <p:grpSp>
        <p:nvGrpSpPr>
          <p:cNvPr id="19" name="Group 19"/>
          <p:cNvGrpSpPr/>
          <p:nvPr/>
        </p:nvGrpSpPr>
        <p:grpSpPr>
          <a:xfrm>
            <a:off x="1357312" y="4611291"/>
            <a:ext cx="16757094" cy="285750"/>
            <a:chOff x="0" y="0"/>
            <a:chExt cx="22342792" cy="381000"/>
          </a:xfrm>
        </p:grpSpPr>
        <p:sp>
          <p:nvSpPr>
            <p:cNvPr id="20" name="Freeform 20"/>
            <p:cNvSpPr/>
            <p:nvPr/>
          </p:nvSpPr>
          <p:spPr>
            <a:xfrm>
              <a:off x="0" y="0"/>
              <a:ext cx="22342793" cy="381000"/>
            </a:xfrm>
            <a:custGeom>
              <a:avLst/>
              <a:gdLst/>
              <a:ahLst/>
              <a:cxnLst/>
              <a:rect l="l" t="t" r="r" b="b"/>
              <a:pathLst>
                <a:path w="22342793" h="381000">
                  <a:moveTo>
                    <a:pt x="0" y="0"/>
                  </a:moveTo>
                  <a:lnTo>
                    <a:pt x="22342793" y="0"/>
                  </a:lnTo>
                  <a:lnTo>
                    <a:pt x="22342793" y="381000"/>
                  </a:lnTo>
                  <a:lnTo>
                    <a:pt x="0" y="381000"/>
                  </a:lnTo>
                  <a:close/>
                </a:path>
              </a:pathLst>
            </a:custGeom>
            <a:blipFill>
              <a:blip r:embed="rId9">
                <a:alphaModFix amt="0"/>
              </a:blip>
              <a:stretch>
                <a:fillRect t="-1092651" b="-1092651"/>
              </a:stretch>
            </a:blipFill>
          </p:spPr>
        </p:sp>
        <p:sp>
          <p:nvSpPr>
            <p:cNvPr id="21" name="TextBox 21"/>
            <p:cNvSpPr txBox="1"/>
            <p:nvPr/>
          </p:nvSpPr>
          <p:spPr>
            <a:xfrm>
              <a:off x="0" y="0"/>
              <a:ext cx="22342792" cy="381000"/>
            </a:xfrm>
            <a:prstGeom prst="rect">
              <a:avLst/>
            </a:prstGeom>
          </p:spPr>
          <p:txBody>
            <a:bodyPr lIns="0" tIns="0" rIns="0" bIns="0" rtlCol="0" anchor="ctr"/>
            <a:lstStyle/>
            <a:p>
              <a:pPr algn="l">
                <a:lnSpc>
                  <a:spcPts val="2295"/>
                </a:lnSpc>
              </a:pPr>
              <a:r>
                <a:rPr lang="en-US" sz="1912">
                  <a:solidFill>
                    <a:srgbClr val="064E3B"/>
                  </a:solidFill>
                  <a:latin typeface="Inter"/>
                  <a:ea typeface="Inter"/>
                  <a:cs typeface="Inter"/>
                  <a:sym typeface="Inter"/>
                </a:rPr>
                <a:t>Category Spend Distribution &amp; Budget Utilization</a:t>
              </a:r>
            </a:p>
          </p:txBody>
        </p:sp>
      </p:grpSp>
      <p:sp>
        <p:nvSpPr>
          <p:cNvPr id="22" name="TextBox 22"/>
          <p:cNvSpPr txBox="1"/>
          <p:nvPr/>
        </p:nvSpPr>
        <p:spPr>
          <a:xfrm>
            <a:off x="914400" y="7554516"/>
            <a:ext cx="16459200" cy="678656"/>
          </a:xfrm>
          <a:prstGeom prst="rect">
            <a:avLst/>
          </a:prstGeom>
        </p:spPr>
        <p:txBody>
          <a:bodyPr lIns="0" tIns="0" rIns="0" bIns="0" rtlCol="0" anchor="t">
            <a:spAutoFit/>
          </a:bodyPr>
          <a:lstStyle/>
          <a:p>
            <a:pPr algn="l">
              <a:lnSpc>
                <a:spcPts val="2446"/>
              </a:lnSpc>
            </a:pPr>
            <a:r>
              <a:rPr lang="en-US" sz="1630" b="1">
                <a:solidFill>
                  <a:srgbClr val="065F46"/>
                </a:solidFill>
                <a:latin typeface="Inter Bold"/>
                <a:ea typeface="Inter Bold"/>
                <a:cs typeface="Inter Bold"/>
                <a:sym typeface="Inter Bold"/>
              </a:rPr>
              <a:t>Key Accomplishment:</a:t>
            </a:r>
            <a:r>
              <a:rPr lang="en-US" sz="1630">
                <a:solidFill>
                  <a:srgbClr val="065F46"/>
                </a:solidFill>
                <a:latin typeface="Inter"/>
                <a:ea typeface="Inter"/>
                <a:cs typeface="Inter"/>
                <a:sym typeface="Inter"/>
              </a:rPr>
              <a:t> The dashboard seamlessly delivers real-time KPI scorecards, interactive date-filtering, auto-categorization accuracy of 89%+, and instant outlier isolation.</a:t>
            </a:r>
          </a:p>
        </p:txBody>
      </p:sp>
      <p:sp>
        <p:nvSpPr>
          <p:cNvPr id="23" name="TextBox 23"/>
          <p:cNvSpPr txBox="1"/>
          <p:nvPr/>
        </p:nvSpPr>
        <p:spPr>
          <a:xfrm>
            <a:off x="942975" y="3139678"/>
            <a:ext cx="3500438" cy="228600"/>
          </a:xfrm>
          <a:prstGeom prst="rect">
            <a:avLst/>
          </a:prstGeom>
        </p:spPr>
        <p:txBody>
          <a:bodyPr lIns="0" tIns="0" rIns="0" bIns="0" rtlCol="0" anchor="t">
            <a:spAutoFit/>
          </a:bodyPr>
          <a:lstStyle/>
          <a:p>
            <a:pPr algn="l">
              <a:lnSpc>
                <a:spcPts val="1755"/>
              </a:lnSpc>
            </a:pPr>
            <a:r>
              <a:rPr lang="en-US" sz="1462">
                <a:solidFill>
                  <a:srgbClr val="64748B"/>
                </a:solidFill>
                <a:latin typeface="Inter"/>
                <a:ea typeface="Inter"/>
                <a:cs typeface="Inter"/>
                <a:sym typeface="Inter"/>
              </a:rPr>
              <a:t>TOTAL INFLOW</a:t>
            </a:r>
          </a:p>
        </p:txBody>
      </p:sp>
      <p:sp>
        <p:nvSpPr>
          <p:cNvPr id="24" name="TextBox 24"/>
          <p:cNvSpPr txBox="1"/>
          <p:nvPr/>
        </p:nvSpPr>
        <p:spPr>
          <a:xfrm>
            <a:off x="942975" y="3425428"/>
            <a:ext cx="3500438" cy="414338"/>
          </a:xfrm>
          <a:prstGeom prst="rect">
            <a:avLst/>
          </a:prstGeom>
        </p:spPr>
        <p:txBody>
          <a:bodyPr lIns="0" tIns="0" rIns="0" bIns="0" rtlCol="0" anchor="t">
            <a:spAutoFit/>
          </a:bodyPr>
          <a:lstStyle/>
          <a:p>
            <a:pPr algn="l">
              <a:lnSpc>
                <a:spcPts val="3240"/>
              </a:lnSpc>
            </a:pPr>
            <a:r>
              <a:rPr lang="en-US" sz="2700" b="1">
                <a:solidFill>
                  <a:srgbClr val="059669"/>
                </a:solidFill>
                <a:latin typeface="Inter Bold"/>
                <a:ea typeface="Inter Bold"/>
                <a:cs typeface="Inter Bold"/>
                <a:sym typeface="Inter Bold"/>
              </a:rPr>
              <a:t>₹84,500</a:t>
            </a:r>
          </a:p>
        </p:txBody>
      </p:sp>
      <p:sp>
        <p:nvSpPr>
          <p:cNvPr id="25" name="TextBox 25"/>
          <p:cNvSpPr txBox="1"/>
          <p:nvPr/>
        </p:nvSpPr>
        <p:spPr>
          <a:xfrm>
            <a:off x="5243512" y="3139678"/>
            <a:ext cx="3500438" cy="228600"/>
          </a:xfrm>
          <a:prstGeom prst="rect">
            <a:avLst/>
          </a:prstGeom>
        </p:spPr>
        <p:txBody>
          <a:bodyPr lIns="0" tIns="0" rIns="0" bIns="0" rtlCol="0" anchor="t">
            <a:spAutoFit/>
          </a:bodyPr>
          <a:lstStyle/>
          <a:p>
            <a:pPr algn="l">
              <a:lnSpc>
                <a:spcPts val="1755"/>
              </a:lnSpc>
            </a:pPr>
            <a:r>
              <a:rPr lang="en-US" sz="1462">
                <a:solidFill>
                  <a:srgbClr val="64748B"/>
                </a:solidFill>
                <a:latin typeface="Inter"/>
                <a:ea typeface="Inter"/>
                <a:cs typeface="Inter"/>
                <a:sym typeface="Inter"/>
              </a:rPr>
              <a:t>TOTAL OUTFLOW</a:t>
            </a:r>
          </a:p>
        </p:txBody>
      </p:sp>
      <p:sp>
        <p:nvSpPr>
          <p:cNvPr id="26" name="TextBox 26"/>
          <p:cNvSpPr txBox="1"/>
          <p:nvPr/>
        </p:nvSpPr>
        <p:spPr>
          <a:xfrm>
            <a:off x="5243512" y="3425428"/>
            <a:ext cx="3500438" cy="414338"/>
          </a:xfrm>
          <a:prstGeom prst="rect">
            <a:avLst/>
          </a:prstGeom>
        </p:spPr>
        <p:txBody>
          <a:bodyPr lIns="0" tIns="0" rIns="0" bIns="0" rtlCol="0" anchor="t">
            <a:spAutoFit/>
          </a:bodyPr>
          <a:lstStyle/>
          <a:p>
            <a:pPr algn="l">
              <a:lnSpc>
                <a:spcPts val="3240"/>
              </a:lnSpc>
            </a:pPr>
            <a:r>
              <a:rPr lang="en-US" sz="2700" b="1">
                <a:solidFill>
                  <a:srgbClr val="DC2626"/>
                </a:solidFill>
                <a:latin typeface="Inter Bold"/>
                <a:ea typeface="Inter Bold"/>
                <a:cs typeface="Inter Bold"/>
                <a:sym typeface="Inter Bold"/>
              </a:rPr>
              <a:t>₹52,340</a:t>
            </a:r>
          </a:p>
        </p:txBody>
      </p:sp>
      <p:sp>
        <p:nvSpPr>
          <p:cNvPr id="27" name="TextBox 27"/>
          <p:cNvSpPr txBox="1"/>
          <p:nvPr/>
        </p:nvSpPr>
        <p:spPr>
          <a:xfrm>
            <a:off x="9544050" y="3139678"/>
            <a:ext cx="3500438" cy="228600"/>
          </a:xfrm>
          <a:prstGeom prst="rect">
            <a:avLst/>
          </a:prstGeom>
        </p:spPr>
        <p:txBody>
          <a:bodyPr lIns="0" tIns="0" rIns="0" bIns="0" rtlCol="0" anchor="t">
            <a:spAutoFit/>
          </a:bodyPr>
          <a:lstStyle/>
          <a:p>
            <a:pPr algn="l">
              <a:lnSpc>
                <a:spcPts val="1755"/>
              </a:lnSpc>
            </a:pPr>
            <a:r>
              <a:rPr lang="en-US" sz="1462">
                <a:solidFill>
                  <a:srgbClr val="64748B"/>
                </a:solidFill>
                <a:latin typeface="Inter"/>
                <a:ea typeface="Inter"/>
                <a:cs typeface="Inter"/>
                <a:sym typeface="Inter"/>
              </a:rPr>
              <a:t>NET BALANCE</a:t>
            </a:r>
          </a:p>
        </p:txBody>
      </p:sp>
      <p:sp>
        <p:nvSpPr>
          <p:cNvPr id="28" name="TextBox 28"/>
          <p:cNvSpPr txBox="1"/>
          <p:nvPr/>
        </p:nvSpPr>
        <p:spPr>
          <a:xfrm>
            <a:off x="9544050" y="3425428"/>
            <a:ext cx="3500438" cy="414338"/>
          </a:xfrm>
          <a:prstGeom prst="rect">
            <a:avLst/>
          </a:prstGeom>
        </p:spPr>
        <p:txBody>
          <a:bodyPr lIns="0" tIns="0" rIns="0" bIns="0" rtlCol="0" anchor="t">
            <a:spAutoFit/>
          </a:bodyPr>
          <a:lstStyle/>
          <a:p>
            <a:pPr algn="l">
              <a:lnSpc>
                <a:spcPts val="3240"/>
              </a:lnSpc>
            </a:pPr>
            <a:r>
              <a:rPr lang="en-US" sz="2700" b="1">
                <a:solidFill>
                  <a:srgbClr val="064E3B"/>
                </a:solidFill>
                <a:latin typeface="Inter Bold"/>
                <a:ea typeface="Inter Bold"/>
                <a:cs typeface="Inter Bold"/>
                <a:sym typeface="Inter Bold"/>
              </a:rPr>
              <a:t>₹32,160</a:t>
            </a:r>
          </a:p>
        </p:txBody>
      </p:sp>
      <p:sp>
        <p:nvSpPr>
          <p:cNvPr id="29" name="TextBox 29"/>
          <p:cNvSpPr txBox="1"/>
          <p:nvPr/>
        </p:nvSpPr>
        <p:spPr>
          <a:xfrm>
            <a:off x="13844588" y="3139678"/>
            <a:ext cx="3500438" cy="228600"/>
          </a:xfrm>
          <a:prstGeom prst="rect">
            <a:avLst/>
          </a:prstGeom>
        </p:spPr>
        <p:txBody>
          <a:bodyPr lIns="0" tIns="0" rIns="0" bIns="0" rtlCol="0" anchor="t">
            <a:spAutoFit/>
          </a:bodyPr>
          <a:lstStyle/>
          <a:p>
            <a:pPr algn="l">
              <a:lnSpc>
                <a:spcPts val="1755"/>
              </a:lnSpc>
            </a:pPr>
            <a:r>
              <a:rPr lang="en-US" sz="1462">
                <a:solidFill>
                  <a:srgbClr val="64748B"/>
                </a:solidFill>
                <a:latin typeface="Inter"/>
                <a:ea typeface="Inter"/>
                <a:cs typeface="Inter"/>
                <a:sym typeface="Inter"/>
              </a:rPr>
              <a:t>SAVINGS RATE</a:t>
            </a:r>
          </a:p>
        </p:txBody>
      </p:sp>
      <p:sp>
        <p:nvSpPr>
          <p:cNvPr id="30" name="TextBox 30"/>
          <p:cNvSpPr txBox="1"/>
          <p:nvPr/>
        </p:nvSpPr>
        <p:spPr>
          <a:xfrm>
            <a:off x="13844588" y="3425428"/>
            <a:ext cx="3500438" cy="414338"/>
          </a:xfrm>
          <a:prstGeom prst="rect">
            <a:avLst/>
          </a:prstGeom>
        </p:spPr>
        <p:txBody>
          <a:bodyPr lIns="0" tIns="0" rIns="0" bIns="0" rtlCol="0" anchor="t">
            <a:spAutoFit/>
          </a:bodyPr>
          <a:lstStyle/>
          <a:p>
            <a:pPr algn="l">
              <a:lnSpc>
                <a:spcPts val="3240"/>
              </a:lnSpc>
            </a:pPr>
            <a:r>
              <a:rPr lang="en-US" sz="2700" b="1">
                <a:solidFill>
                  <a:srgbClr val="D97706"/>
                </a:solidFill>
                <a:latin typeface="Inter Bold"/>
                <a:ea typeface="Inter Bold"/>
                <a:cs typeface="Inter Bold"/>
                <a:sym typeface="Inter Bold"/>
              </a:rPr>
              <a:t>38.1%</a:t>
            </a:r>
          </a:p>
        </p:txBody>
      </p:sp>
      <p:grpSp>
        <p:nvGrpSpPr>
          <p:cNvPr id="31" name="Group 31"/>
          <p:cNvGrpSpPr/>
          <p:nvPr/>
        </p:nvGrpSpPr>
        <p:grpSpPr>
          <a:xfrm>
            <a:off x="971550" y="4632722"/>
            <a:ext cx="271462" cy="242888"/>
            <a:chOff x="0" y="0"/>
            <a:chExt cx="361950" cy="323850"/>
          </a:xfrm>
        </p:grpSpPr>
        <p:sp>
          <p:nvSpPr>
            <p:cNvPr id="32" name="Freeform 32" descr="image.png"/>
            <p:cNvSpPr/>
            <p:nvPr/>
          </p:nvSpPr>
          <p:spPr>
            <a:xfrm>
              <a:off x="0" y="0"/>
              <a:ext cx="361950" cy="323850"/>
            </a:xfrm>
            <a:custGeom>
              <a:avLst/>
              <a:gdLst/>
              <a:ahLst/>
              <a:cxnLst/>
              <a:rect l="l" t="t" r="r" b="b"/>
              <a:pathLst>
                <a:path w="361950" h="323850">
                  <a:moveTo>
                    <a:pt x="0" y="0"/>
                  </a:moveTo>
                  <a:lnTo>
                    <a:pt x="361950" y="0"/>
                  </a:lnTo>
                  <a:lnTo>
                    <a:pt x="361950" y="323850"/>
                  </a:lnTo>
                  <a:lnTo>
                    <a:pt x="0" y="323850"/>
                  </a:lnTo>
                  <a:lnTo>
                    <a:pt x="0" y="0"/>
                  </a:lnTo>
                  <a:close/>
                </a:path>
              </a:pathLst>
            </a:custGeom>
            <a:blipFill>
              <a:blip r:embed="rId10"/>
              <a:stretch>
                <a:fillRect t="-2941" b="-2941"/>
              </a:stretch>
            </a:blipFill>
          </p:spPr>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sp>
      </p:grpSp>
      <p:grpSp>
        <p:nvGrpSpPr>
          <p:cNvPr id="4" name="Group 4"/>
          <p:cNvGrpSpPr/>
          <p:nvPr/>
        </p:nvGrpSpPr>
        <p:grpSpPr>
          <a:xfrm>
            <a:off x="642938" y="3609375"/>
            <a:ext cx="8329612" cy="4096941"/>
            <a:chOff x="0" y="0"/>
            <a:chExt cx="11106150" cy="5462588"/>
          </a:xfrm>
        </p:grpSpPr>
        <p:sp>
          <p:nvSpPr>
            <p:cNvPr id="5" name="Freeform 5" descr="image.png"/>
            <p:cNvSpPr/>
            <p:nvPr/>
          </p:nvSpPr>
          <p:spPr>
            <a:xfrm>
              <a:off x="0" y="0"/>
              <a:ext cx="11106150" cy="5462524"/>
            </a:xfrm>
            <a:custGeom>
              <a:avLst/>
              <a:gdLst/>
              <a:ahLst/>
              <a:cxnLst/>
              <a:rect l="l" t="t" r="r" b="b"/>
              <a:pathLst>
                <a:path w="11106150" h="5462524">
                  <a:moveTo>
                    <a:pt x="0" y="0"/>
                  </a:moveTo>
                  <a:lnTo>
                    <a:pt x="11106150" y="0"/>
                  </a:lnTo>
                  <a:lnTo>
                    <a:pt x="11106150" y="5462524"/>
                  </a:lnTo>
                  <a:lnTo>
                    <a:pt x="0" y="5462524"/>
                  </a:lnTo>
                  <a:lnTo>
                    <a:pt x="0" y="0"/>
                  </a:lnTo>
                  <a:close/>
                </a:path>
              </a:pathLst>
            </a:custGeom>
            <a:blipFill>
              <a:blip r:embed="rId3"/>
              <a:stretch>
                <a:fillRect t="-132" b="-132"/>
              </a:stretch>
            </a:blipFill>
          </p:spPr>
        </p:sp>
      </p:grpSp>
      <p:grpSp>
        <p:nvGrpSpPr>
          <p:cNvPr id="6" name="Group 6"/>
          <p:cNvGrpSpPr/>
          <p:nvPr/>
        </p:nvGrpSpPr>
        <p:grpSpPr>
          <a:xfrm>
            <a:off x="9315450" y="3609375"/>
            <a:ext cx="8329612" cy="4096941"/>
            <a:chOff x="0" y="0"/>
            <a:chExt cx="11106150" cy="5462588"/>
          </a:xfrm>
        </p:grpSpPr>
        <p:sp>
          <p:nvSpPr>
            <p:cNvPr id="7" name="Freeform 7" descr="image.png"/>
            <p:cNvSpPr/>
            <p:nvPr/>
          </p:nvSpPr>
          <p:spPr>
            <a:xfrm>
              <a:off x="0" y="0"/>
              <a:ext cx="11106150" cy="5462524"/>
            </a:xfrm>
            <a:custGeom>
              <a:avLst/>
              <a:gdLst/>
              <a:ahLst/>
              <a:cxnLst/>
              <a:rect l="l" t="t" r="r" b="b"/>
              <a:pathLst>
                <a:path w="11106150" h="5462524">
                  <a:moveTo>
                    <a:pt x="0" y="0"/>
                  </a:moveTo>
                  <a:lnTo>
                    <a:pt x="11106150" y="0"/>
                  </a:lnTo>
                  <a:lnTo>
                    <a:pt x="11106150" y="5462524"/>
                  </a:lnTo>
                  <a:lnTo>
                    <a:pt x="0" y="5462524"/>
                  </a:lnTo>
                  <a:lnTo>
                    <a:pt x="0" y="0"/>
                  </a:lnTo>
                  <a:close/>
                </a:path>
              </a:pathLst>
            </a:custGeom>
            <a:blipFill>
              <a:blip r:embed="rId4"/>
              <a:stretch>
                <a:fillRect t="-132" b="-132"/>
              </a:stretch>
            </a:blipFill>
          </p:spPr>
        </p:sp>
      </p:grpSp>
      <p:sp>
        <p:nvSpPr>
          <p:cNvPr id="8" name="TextBox 8"/>
          <p:cNvSpPr txBox="1"/>
          <p:nvPr/>
        </p:nvSpPr>
        <p:spPr>
          <a:xfrm>
            <a:off x="642938" y="490537"/>
            <a:ext cx="6321419" cy="566737"/>
          </a:xfrm>
          <a:prstGeom prst="rect">
            <a:avLst/>
          </a:prstGeom>
        </p:spPr>
        <p:txBody>
          <a:bodyPr lIns="0" tIns="0" rIns="0" bIns="0" rtlCol="0" anchor="t">
            <a:spAutoFit/>
          </a:bodyPr>
          <a:lstStyle/>
          <a:p>
            <a:pPr algn="l">
              <a:lnSpc>
                <a:spcPts val="4320"/>
              </a:lnSpc>
            </a:pPr>
            <a:r>
              <a:rPr lang="en-US" sz="3600" b="1">
                <a:solidFill>
                  <a:srgbClr val="064E3B"/>
                </a:solidFill>
                <a:latin typeface="Inter Bold"/>
                <a:ea typeface="Inter Bold"/>
                <a:cs typeface="Inter Bold"/>
                <a:sym typeface="Inter Bold"/>
              </a:rPr>
              <a:t>Challenges &amp; Key Learnings</a:t>
            </a:r>
          </a:p>
        </p:txBody>
      </p:sp>
      <p:grpSp>
        <p:nvGrpSpPr>
          <p:cNvPr id="9" name="Group 9"/>
          <p:cNvGrpSpPr/>
          <p:nvPr/>
        </p:nvGrpSpPr>
        <p:grpSpPr>
          <a:xfrm>
            <a:off x="15542790" y="628650"/>
            <a:ext cx="2102272" cy="428625"/>
            <a:chOff x="0" y="0"/>
            <a:chExt cx="2803030" cy="571500"/>
          </a:xfrm>
        </p:grpSpPr>
        <p:sp>
          <p:nvSpPr>
            <p:cNvPr id="10" name="Freeform 10" descr="image.png"/>
            <p:cNvSpPr/>
            <p:nvPr/>
          </p:nvSpPr>
          <p:spPr>
            <a:xfrm>
              <a:off x="0" y="0"/>
              <a:ext cx="2803017" cy="571500"/>
            </a:xfrm>
            <a:custGeom>
              <a:avLst/>
              <a:gdLst/>
              <a:ahLst/>
              <a:cxnLst/>
              <a:rect l="l" t="t" r="r" b="b"/>
              <a:pathLst>
                <a:path w="2803017" h="571500">
                  <a:moveTo>
                    <a:pt x="0" y="0"/>
                  </a:moveTo>
                  <a:lnTo>
                    <a:pt x="2803017" y="0"/>
                  </a:lnTo>
                  <a:lnTo>
                    <a:pt x="2803017" y="571500"/>
                  </a:lnTo>
                  <a:lnTo>
                    <a:pt x="0" y="571500"/>
                  </a:lnTo>
                  <a:lnTo>
                    <a:pt x="0" y="0"/>
                  </a:lnTo>
                  <a:close/>
                </a:path>
              </a:pathLst>
            </a:custGeom>
            <a:blipFill>
              <a:blip r:embed="rId5"/>
              <a:stretch>
                <a:fillRect l="-292" r="-292"/>
              </a:stretch>
            </a:blipFill>
          </p:spPr>
        </p:sp>
      </p:grpSp>
      <p:grpSp>
        <p:nvGrpSpPr>
          <p:cNvPr id="11" name="Group 11"/>
          <p:cNvGrpSpPr/>
          <p:nvPr/>
        </p:nvGrpSpPr>
        <p:grpSpPr>
          <a:xfrm>
            <a:off x="1357312" y="3937987"/>
            <a:ext cx="7650956" cy="328612"/>
            <a:chOff x="0" y="0"/>
            <a:chExt cx="10201275" cy="438150"/>
          </a:xfrm>
        </p:grpSpPr>
        <p:sp>
          <p:nvSpPr>
            <p:cNvPr id="12" name="Freeform 12"/>
            <p:cNvSpPr/>
            <p:nvPr/>
          </p:nvSpPr>
          <p:spPr>
            <a:xfrm>
              <a:off x="0" y="0"/>
              <a:ext cx="10201274" cy="438150"/>
            </a:xfrm>
            <a:custGeom>
              <a:avLst/>
              <a:gdLst/>
              <a:ahLst/>
              <a:cxnLst/>
              <a:rect l="l" t="t" r="r" b="b"/>
              <a:pathLst>
                <a:path w="10201274" h="438150">
                  <a:moveTo>
                    <a:pt x="0" y="0"/>
                  </a:moveTo>
                  <a:lnTo>
                    <a:pt x="10201274" y="0"/>
                  </a:lnTo>
                  <a:lnTo>
                    <a:pt x="10201274" y="438150"/>
                  </a:lnTo>
                  <a:lnTo>
                    <a:pt x="0" y="438150"/>
                  </a:lnTo>
                  <a:close/>
                </a:path>
              </a:pathLst>
            </a:custGeom>
            <a:blipFill>
              <a:blip r:embed="rId6">
                <a:alphaModFix amt="0"/>
              </a:blip>
              <a:stretch>
                <a:fillRect t="-403662" b="-403662"/>
              </a:stretch>
            </a:blipFill>
          </p:spPr>
        </p:sp>
        <p:sp>
          <p:nvSpPr>
            <p:cNvPr id="13" name="TextBox 13"/>
            <p:cNvSpPr txBox="1"/>
            <p:nvPr/>
          </p:nvSpPr>
          <p:spPr>
            <a:xfrm>
              <a:off x="0" y="0"/>
              <a:ext cx="10201275" cy="438150"/>
            </a:xfrm>
            <a:prstGeom prst="rect">
              <a:avLst/>
            </a:prstGeom>
          </p:spPr>
          <p:txBody>
            <a:bodyPr lIns="0" tIns="0" rIns="0" bIns="0" rtlCol="0" anchor="ctr"/>
            <a:lstStyle/>
            <a:p>
              <a:pPr algn="l">
                <a:lnSpc>
                  <a:spcPts val="2565"/>
                </a:lnSpc>
              </a:pPr>
              <a:r>
                <a:rPr lang="en-US" sz="2137">
                  <a:solidFill>
                    <a:srgbClr val="064E3B"/>
                  </a:solidFill>
                  <a:latin typeface="Inter"/>
                  <a:ea typeface="Inter"/>
                  <a:cs typeface="Inter"/>
                  <a:sym typeface="Inter"/>
                </a:rPr>
                <a:t>Technical Challenges Overcome</a:t>
              </a:r>
            </a:p>
          </p:txBody>
        </p:sp>
      </p:grpSp>
      <p:grpSp>
        <p:nvGrpSpPr>
          <p:cNvPr id="14" name="Group 14"/>
          <p:cNvGrpSpPr/>
          <p:nvPr/>
        </p:nvGrpSpPr>
        <p:grpSpPr>
          <a:xfrm>
            <a:off x="10101262" y="3937987"/>
            <a:ext cx="7575947" cy="328612"/>
            <a:chOff x="0" y="0"/>
            <a:chExt cx="10101262" cy="438150"/>
          </a:xfrm>
        </p:grpSpPr>
        <p:sp>
          <p:nvSpPr>
            <p:cNvPr id="15" name="Freeform 15"/>
            <p:cNvSpPr/>
            <p:nvPr/>
          </p:nvSpPr>
          <p:spPr>
            <a:xfrm>
              <a:off x="0" y="0"/>
              <a:ext cx="10101262" cy="438150"/>
            </a:xfrm>
            <a:custGeom>
              <a:avLst/>
              <a:gdLst/>
              <a:ahLst/>
              <a:cxnLst/>
              <a:rect l="l" t="t" r="r" b="b"/>
              <a:pathLst>
                <a:path w="10101262" h="438150">
                  <a:moveTo>
                    <a:pt x="0" y="0"/>
                  </a:moveTo>
                  <a:lnTo>
                    <a:pt x="10101262" y="0"/>
                  </a:lnTo>
                  <a:lnTo>
                    <a:pt x="10101262" y="438150"/>
                  </a:lnTo>
                  <a:lnTo>
                    <a:pt x="0" y="438150"/>
                  </a:lnTo>
                  <a:close/>
                </a:path>
              </a:pathLst>
            </a:custGeom>
            <a:blipFill>
              <a:blip r:embed="rId6">
                <a:alphaModFix amt="0"/>
              </a:blip>
              <a:stretch>
                <a:fillRect t="-399214" b="-399214"/>
              </a:stretch>
            </a:blipFill>
          </p:spPr>
        </p:sp>
        <p:sp>
          <p:nvSpPr>
            <p:cNvPr id="16" name="TextBox 16"/>
            <p:cNvSpPr txBox="1"/>
            <p:nvPr/>
          </p:nvSpPr>
          <p:spPr>
            <a:xfrm>
              <a:off x="0" y="0"/>
              <a:ext cx="10101262" cy="438150"/>
            </a:xfrm>
            <a:prstGeom prst="rect">
              <a:avLst/>
            </a:prstGeom>
          </p:spPr>
          <p:txBody>
            <a:bodyPr lIns="0" tIns="0" rIns="0" bIns="0" rtlCol="0" anchor="ctr"/>
            <a:lstStyle/>
            <a:p>
              <a:pPr algn="l">
                <a:lnSpc>
                  <a:spcPts val="2565"/>
                </a:lnSpc>
              </a:pPr>
              <a:r>
                <a:rPr lang="en-US" sz="2137">
                  <a:solidFill>
                    <a:srgbClr val="064E3B"/>
                  </a:solidFill>
                  <a:latin typeface="Inter"/>
                  <a:ea typeface="Inter"/>
                  <a:cs typeface="Inter"/>
                  <a:sym typeface="Inter"/>
                </a:rPr>
                <a:t>Core Professional Competencies</a:t>
              </a:r>
            </a:p>
          </p:txBody>
        </p:sp>
      </p:grpSp>
      <p:grpSp>
        <p:nvGrpSpPr>
          <p:cNvPr id="17" name="Group 17"/>
          <p:cNvGrpSpPr/>
          <p:nvPr/>
        </p:nvGrpSpPr>
        <p:grpSpPr>
          <a:xfrm>
            <a:off x="971550" y="3966562"/>
            <a:ext cx="271462" cy="271462"/>
            <a:chOff x="0" y="0"/>
            <a:chExt cx="361950" cy="361950"/>
          </a:xfrm>
        </p:grpSpPr>
        <p:sp>
          <p:nvSpPr>
            <p:cNvPr id="18" name="Freeform 18" descr="image.png"/>
            <p:cNvSpPr/>
            <p:nvPr/>
          </p:nvSpPr>
          <p:spPr>
            <a:xfrm>
              <a:off x="0" y="0"/>
              <a:ext cx="361950" cy="361950"/>
            </a:xfrm>
            <a:custGeom>
              <a:avLst/>
              <a:gdLst/>
              <a:ahLst/>
              <a:cxnLst/>
              <a:rect l="l" t="t" r="r" b="b"/>
              <a:pathLst>
                <a:path w="361950" h="361950">
                  <a:moveTo>
                    <a:pt x="0" y="0"/>
                  </a:moveTo>
                  <a:lnTo>
                    <a:pt x="361950" y="0"/>
                  </a:lnTo>
                  <a:lnTo>
                    <a:pt x="361950" y="361950"/>
                  </a:lnTo>
                  <a:lnTo>
                    <a:pt x="0" y="361950"/>
                  </a:lnTo>
                  <a:lnTo>
                    <a:pt x="0" y="0"/>
                  </a:lnTo>
                  <a:close/>
                </a:path>
              </a:pathLst>
            </a:custGeom>
            <a:blipFill>
              <a:blip r:embed="rId7"/>
              <a:stretch>
                <a:fillRect t="-2631" b="-2631"/>
              </a:stretch>
            </a:blipFill>
          </p:spPr>
        </p:sp>
      </p:grpSp>
      <p:sp>
        <p:nvSpPr>
          <p:cNvPr id="19" name="TextBox 19"/>
          <p:cNvSpPr txBox="1"/>
          <p:nvPr/>
        </p:nvSpPr>
        <p:spPr>
          <a:xfrm>
            <a:off x="1314450" y="4361850"/>
            <a:ext cx="7329488" cy="689667"/>
          </a:xfrm>
          <a:prstGeom prst="rect">
            <a:avLst/>
          </a:prstGeom>
        </p:spPr>
        <p:txBody>
          <a:bodyPr lIns="0" tIns="0" rIns="0" bIns="0" rtlCol="0" anchor="t">
            <a:spAutoFit/>
          </a:bodyPr>
          <a:lstStyle/>
          <a:p>
            <a:pPr algn="l">
              <a:lnSpc>
                <a:spcPts val="2527"/>
              </a:lnSpc>
            </a:pPr>
            <a:r>
              <a:rPr lang="en-US" sz="1743">
                <a:solidFill>
                  <a:srgbClr val="0F172A"/>
                </a:solidFill>
                <a:latin typeface="Inter"/>
                <a:ea typeface="Inter"/>
                <a:cs typeface="Inter"/>
                <a:sym typeface="Inter"/>
              </a:rPr>
              <a:t>Data Cleansing:</a:t>
            </a:r>
            <a:r>
              <a:rPr lang="en-US" sz="1743">
                <a:solidFill>
                  <a:srgbClr val="334155"/>
                </a:solidFill>
                <a:latin typeface="Inter"/>
                <a:ea typeface="Inter"/>
                <a:cs typeface="Inter"/>
                <a:sym typeface="Inter"/>
              </a:rPr>
              <a:t> Parsing heterogeneous CSV statement schemas and date formats.</a:t>
            </a:r>
          </a:p>
        </p:txBody>
      </p:sp>
      <p:sp>
        <p:nvSpPr>
          <p:cNvPr id="20" name="TextBox 20"/>
          <p:cNvSpPr txBox="1"/>
          <p:nvPr/>
        </p:nvSpPr>
        <p:spPr>
          <a:xfrm>
            <a:off x="1314450" y="5146777"/>
            <a:ext cx="7329488" cy="689667"/>
          </a:xfrm>
          <a:prstGeom prst="rect">
            <a:avLst/>
          </a:prstGeom>
        </p:spPr>
        <p:txBody>
          <a:bodyPr lIns="0" tIns="0" rIns="0" bIns="0" rtlCol="0" anchor="t">
            <a:spAutoFit/>
          </a:bodyPr>
          <a:lstStyle/>
          <a:p>
            <a:pPr algn="l">
              <a:lnSpc>
                <a:spcPts val="2527"/>
              </a:lnSpc>
            </a:pPr>
            <a:r>
              <a:rPr lang="en-US" sz="1743">
                <a:solidFill>
                  <a:srgbClr val="0F172A"/>
                </a:solidFill>
                <a:latin typeface="Inter"/>
                <a:ea typeface="Inter"/>
                <a:cs typeface="Inter"/>
                <a:sym typeface="Inter"/>
              </a:rPr>
              <a:t>Merchant Text Noise:</a:t>
            </a:r>
            <a:r>
              <a:rPr lang="en-US" sz="1743">
                <a:solidFill>
                  <a:srgbClr val="334155"/>
                </a:solidFill>
                <a:latin typeface="Inter"/>
                <a:ea typeface="Inter"/>
                <a:cs typeface="Inter"/>
                <a:sym typeface="Inter"/>
              </a:rPr>
              <a:t> Stripping transaction IDs &amp; city codes for NLP vectors.</a:t>
            </a:r>
          </a:p>
        </p:txBody>
      </p:sp>
      <p:sp>
        <p:nvSpPr>
          <p:cNvPr id="21" name="TextBox 21"/>
          <p:cNvSpPr txBox="1"/>
          <p:nvPr/>
        </p:nvSpPr>
        <p:spPr>
          <a:xfrm>
            <a:off x="1314450" y="5931694"/>
            <a:ext cx="7329488" cy="689667"/>
          </a:xfrm>
          <a:prstGeom prst="rect">
            <a:avLst/>
          </a:prstGeom>
        </p:spPr>
        <p:txBody>
          <a:bodyPr lIns="0" tIns="0" rIns="0" bIns="0" rtlCol="0" anchor="t">
            <a:spAutoFit/>
          </a:bodyPr>
          <a:lstStyle/>
          <a:p>
            <a:pPr algn="l">
              <a:lnSpc>
                <a:spcPts val="2527"/>
              </a:lnSpc>
            </a:pPr>
            <a:r>
              <a:rPr lang="en-US" sz="1743">
                <a:solidFill>
                  <a:srgbClr val="0F172A"/>
                </a:solidFill>
                <a:latin typeface="Inter"/>
                <a:ea typeface="Inter"/>
                <a:cs typeface="Inter"/>
                <a:sym typeface="Inter"/>
              </a:rPr>
              <a:t>Anomaly Calibration:</a:t>
            </a:r>
            <a:r>
              <a:rPr lang="en-US" sz="1743">
                <a:solidFill>
                  <a:srgbClr val="334155"/>
                </a:solidFill>
                <a:latin typeface="Inter"/>
                <a:ea typeface="Inter"/>
                <a:cs typeface="Inter"/>
                <a:sym typeface="Inter"/>
              </a:rPr>
              <a:t> Distinguishing legitimate high-value bills from true outliers.</a:t>
            </a:r>
          </a:p>
        </p:txBody>
      </p:sp>
      <p:sp>
        <p:nvSpPr>
          <p:cNvPr id="22" name="TextBox 22"/>
          <p:cNvSpPr txBox="1"/>
          <p:nvPr/>
        </p:nvSpPr>
        <p:spPr>
          <a:xfrm>
            <a:off x="1314450" y="6716611"/>
            <a:ext cx="7329488" cy="689667"/>
          </a:xfrm>
          <a:prstGeom prst="rect">
            <a:avLst/>
          </a:prstGeom>
        </p:spPr>
        <p:txBody>
          <a:bodyPr lIns="0" tIns="0" rIns="0" bIns="0" rtlCol="0" anchor="t">
            <a:spAutoFit/>
          </a:bodyPr>
          <a:lstStyle/>
          <a:p>
            <a:pPr algn="l">
              <a:lnSpc>
                <a:spcPts val="2527"/>
              </a:lnSpc>
            </a:pPr>
            <a:r>
              <a:rPr lang="en-US" sz="1743">
                <a:solidFill>
                  <a:srgbClr val="0F172A"/>
                </a:solidFill>
                <a:latin typeface="Inter"/>
                <a:ea typeface="Inter"/>
                <a:cs typeface="Inter"/>
                <a:sym typeface="Inter"/>
              </a:rPr>
              <a:t>Data Scarcity:</a:t>
            </a:r>
            <a:r>
              <a:rPr lang="en-US" sz="1743">
                <a:solidFill>
                  <a:srgbClr val="334155"/>
                </a:solidFill>
                <a:latin typeface="Inter"/>
                <a:ea typeface="Inter"/>
                <a:cs typeface="Inter"/>
                <a:sym typeface="Inter"/>
              </a:rPr>
              <a:t> Implementing safe fallbacks when historical samples were limited.</a:t>
            </a:r>
          </a:p>
        </p:txBody>
      </p:sp>
      <p:grpSp>
        <p:nvGrpSpPr>
          <p:cNvPr id="23" name="Group 23"/>
          <p:cNvGrpSpPr/>
          <p:nvPr/>
        </p:nvGrpSpPr>
        <p:grpSpPr>
          <a:xfrm>
            <a:off x="9644062" y="3966562"/>
            <a:ext cx="342900" cy="271462"/>
            <a:chOff x="0" y="0"/>
            <a:chExt cx="457200" cy="361950"/>
          </a:xfrm>
        </p:grpSpPr>
        <p:sp>
          <p:nvSpPr>
            <p:cNvPr id="24" name="Freeform 24" descr="image.png"/>
            <p:cNvSpPr/>
            <p:nvPr/>
          </p:nvSpPr>
          <p:spPr>
            <a:xfrm>
              <a:off x="0" y="0"/>
              <a:ext cx="457200" cy="361950"/>
            </a:xfrm>
            <a:custGeom>
              <a:avLst/>
              <a:gdLst/>
              <a:ahLst/>
              <a:cxnLst/>
              <a:rect l="l" t="t" r="r" b="b"/>
              <a:pathLst>
                <a:path w="457200" h="361950">
                  <a:moveTo>
                    <a:pt x="0" y="0"/>
                  </a:moveTo>
                  <a:lnTo>
                    <a:pt x="457200" y="0"/>
                  </a:lnTo>
                  <a:lnTo>
                    <a:pt x="457200" y="361950"/>
                  </a:lnTo>
                  <a:lnTo>
                    <a:pt x="0" y="361950"/>
                  </a:lnTo>
                  <a:lnTo>
                    <a:pt x="0" y="0"/>
                  </a:lnTo>
                  <a:close/>
                </a:path>
              </a:pathLst>
            </a:custGeom>
            <a:blipFill>
              <a:blip r:embed="rId8"/>
              <a:stretch>
                <a:fillRect t="-2631" b="-2631"/>
              </a:stretch>
            </a:blipFill>
          </p:spPr>
        </p:sp>
      </p:grpSp>
      <p:sp>
        <p:nvSpPr>
          <p:cNvPr id="25" name="TextBox 25"/>
          <p:cNvSpPr txBox="1"/>
          <p:nvPr/>
        </p:nvSpPr>
        <p:spPr>
          <a:xfrm>
            <a:off x="9986962" y="4361850"/>
            <a:ext cx="7329488" cy="689667"/>
          </a:xfrm>
          <a:prstGeom prst="rect">
            <a:avLst/>
          </a:prstGeom>
        </p:spPr>
        <p:txBody>
          <a:bodyPr lIns="0" tIns="0" rIns="0" bIns="0" rtlCol="0" anchor="t">
            <a:spAutoFit/>
          </a:bodyPr>
          <a:lstStyle/>
          <a:p>
            <a:pPr algn="l">
              <a:lnSpc>
                <a:spcPts val="2527"/>
              </a:lnSpc>
            </a:pPr>
            <a:r>
              <a:rPr lang="en-US" sz="1743">
                <a:solidFill>
                  <a:srgbClr val="0F172A"/>
                </a:solidFill>
                <a:latin typeface="Inter"/>
                <a:ea typeface="Inter"/>
                <a:cs typeface="Inter"/>
                <a:sym typeface="Inter"/>
              </a:rPr>
              <a:t>End-to-End Application:</a:t>
            </a:r>
            <a:r>
              <a:rPr lang="en-US" sz="1743">
                <a:solidFill>
                  <a:srgbClr val="334155"/>
                </a:solidFill>
                <a:latin typeface="Inter"/>
                <a:ea typeface="Inter"/>
                <a:cs typeface="Inter"/>
                <a:sym typeface="Inter"/>
              </a:rPr>
              <a:t> Architecting a full-stack Python Data Science app.</a:t>
            </a:r>
          </a:p>
        </p:txBody>
      </p:sp>
      <p:sp>
        <p:nvSpPr>
          <p:cNvPr id="26" name="TextBox 26"/>
          <p:cNvSpPr txBox="1"/>
          <p:nvPr/>
        </p:nvSpPr>
        <p:spPr>
          <a:xfrm>
            <a:off x="9986962" y="5146777"/>
            <a:ext cx="7329488" cy="689667"/>
          </a:xfrm>
          <a:prstGeom prst="rect">
            <a:avLst/>
          </a:prstGeom>
        </p:spPr>
        <p:txBody>
          <a:bodyPr lIns="0" tIns="0" rIns="0" bIns="0" rtlCol="0" anchor="t">
            <a:spAutoFit/>
          </a:bodyPr>
          <a:lstStyle/>
          <a:p>
            <a:pPr algn="l">
              <a:lnSpc>
                <a:spcPts val="2527"/>
              </a:lnSpc>
            </a:pPr>
            <a:r>
              <a:rPr lang="en-US" sz="1743">
                <a:solidFill>
                  <a:srgbClr val="0F172A"/>
                </a:solidFill>
                <a:latin typeface="Inter"/>
                <a:ea typeface="Inter"/>
                <a:cs typeface="Inter"/>
                <a:sym typeface="Inter"/>
              </a:rPr>
              <a:t>NLP Text Classification:</a:t>
            </a:r>
            <a:r>
              <a:rPr lang="en-US" sz="1743">
                <a:solidFill>
                  <a:srgbClr val="334155"/>
                </a:solidFill>
                <a:latin typeface="Inter"/>
                <a:ea typeface="Inter"/>
                <a:cs typeface="Inter"/>
                <a:sym typeface="Inter"/>
              </a:rPr>
              <a:t> Feature extraction using TF-IDF with Logistic Regression.</a:t>
            </a:r>
          </a:p>
        </p:txBody>
      </p:sp>
      <p:sp>
        <p:nvSpPr>
          <p:cNvPr id="27" name="TextBox 27"/>
          <p:cNvSpPr txBox="1"/>
          <p:nvPr/>
        </p:nvSpPr>
        <p:spPr>
          <a:xfrm>
            <a:off x="9986962" y="5931694"/>
            <a:ext cx="7329488" cy="689667"/>
          </a:xfrm>
          <a:prstGeom prst="rect">
            <a:avLst/>
          </a:prstGeom>
        </p:spPr>
        <p:txBody>
          <a:bodyPr lIns="0" tIns="0" rIns="0" bIns="0" rtlCol="0" anchor="t">
            <a:spAutoFit/>
          </a:bodyPr>
          <a:lstStyle/>
          <a:p>
            <a:pPr algn="l">
              <a:lnSpc>
                <a:spcPts val="2527"/>
              </a:lnSpc>
            </a:pPr>
            <a:r>
              <a:rPr lang="en-US" sz="1743">
                <a:solidFill>
                  <a:srgbClr val="0F172A"/>
                </a:solidFill>
                <a:latin typeface="Inter"/>
                <a:ea typeface="Inter"/>
                <a:cs typeface="Inter"/>
                <a:sym typeface="Inter"/>
              </a:rPr>
              <a:t>Unsupervised Learning:</a:t>
            </a:r>
            <a:r>
              <a:rPr lang="en-US" sz="1743">
                <a:solidFill>
                  <a:srgbClr val="334155"/>
                </a:solidFill>
                <a:latin typeface="Inter"/>
                <a:ea typeface="Inter"/>
                <a:cs typeface="Inter"/>
                <a:sym typeface="Inter"/>
              </a:rPr>
              <a:t> Parameterizing Isolation Forest for statistical outlier detection.</a:t>
            </a:r>
          </a:p>
        </p:txBody>
      </p:sp>
      <p:sp>
        <p:nvSpPr>
          <p:cNvPr id="28" name="TextBox 28"/>
          <p:cNvSpPr txBox="1"/>
          <p:nvPr/>
        </p:nvSpPr>
        <p:spPr>
          <a:xfrm>
            <a:off x="9986962" y="6716611"/>
            <a:ext cx="7329488" cy="689667"/>
          </a:xfrm>
          <a:prstGeom prst="rect">
            <a:avLst/>
          </a:prstGeom>
        </p:spPr>
        <p:txBody>
          <a:bodyPr lIns="0" tIns="0" rIns="0" bIns="0" rtlCol="0" anchor="t">
            <a:spAutoFit/>
          </a:bodyPr>
          <a:lstStyle/>
          <a:p>
            <a:pPr algn="l">
              <a:lnSpc>
                <a:spcPts val="2527"/>
              </a:lnSpc>
            </a:pPr>
            <a:r>
              <a:rPr lang="en-US" sz="1743">
                <a:solidFill>
                  <a:srgbClr val="0F172A"/>
                </a:solidFill>
                <a:latin typeface="Inter"/>
                <a:ea typeface="Inter"/>
                <a:cs typeface="Inter"/>
                <a:sym typeface="Inter"/>
              </a:rPr>
              <a:t>Database Engineering:</a:t>
            </a:r>
            <a:r>
              <a:rPr lang="en-US" sz="1743">
                <a:solidFill>
                  <a:srgbClr val="334155"/>
                </a:solidFill>
                <a:latin typeface="Inter"/>
                <a:ea typeface="Inter"/>
                <a:cs typeface="Inter"/>
                <a:sym typeface="Inter"/>
              </a:rPr>
              <a:t> Creating persistent transactional schemas in SQLite.</a:t>
            </a:r>
          </a:p>
        </p:txBody>
      </p:sp>
      <p:grpSp>
        <p:nvGrpSpPr>
          <p:cNvPr id="29" name="Group 29"/>
          <p:cNvGrpSpPr/>
          <p:nvPr/>
        </p:nvGrpSpPr>
        <p:grpSpPr>
          <a:xfrm>
            <a:off x="971550" y="4452337"/>
            <a:ext cx="200025" cy="214312"/>
            <a:chOff x="0" y="0"/>
            <a:chExt cx="266700" cy="285750"/>
          </a:xfrm>
        </p:grpSpPr>
        <p:sp>
          <p:nvSpPr>
            <p:cNvPr id="30" name="Freeform 30" descr="image.png"/>
            <p:cNvSpPr/>
            <p:nvPr/>
          </p:nvSpPr>
          <p:spPr>
            <a:xfrm>
              <a:off x="0" y="0"/>
              <a:ext cx="266700" cy="285750"/>
            </a:xfrm>
            <a:custGeom>
              <a:avLst/>
              <a:gdLst/>
              <a:ahLst/>
              <a:cxnLst/>
              <a:rect l="l" t="t" r="r" b="b"/>
              <a:pathLst>
                <a:path w="266700" h="285750">
                  <a:moveTo>
                    <a:pt x="0" y="0"/>
                  </a:moveTo>
                  <a:lnTo>
                    <a:pt x="266700" y="0"/>
                  </a:lnTo>
                  <a:lnTo>
                    <a:pt x="266700" y="285750"/>
                  </a:lnTo>
                  <a:lnTo>
                    <a:pt x="0" y="285750"/>
                  </a:lnTo>
                  <a:lnTo>
                    <a:pt x="0" y="0"/>
                  </a:lnTo>
                  <a:close/>
                </a:path>
              </a:pathLst>
            </a:custGeom>
            <a:blipFill>
              <a:blip r:embed="rId9"/>
              <a:stretch>
                <a:fillRect/>
              </a:stretch>
            </a:blipFill>
          </p:spPr>
        </p:sp>
      </p:grpSp>
      <p:grpSp>
        <p:nvGrpSpPr>
          <p:cNvPr id="31" name="Group 31"/>
          <p:cNvGrpSpPr/>
          <p:nvPr/>
        </p:nvGrpSpPr>
        <p:grpSpPr>
          <a:xfrm>
            <a:off x="971550" y="5237264"/>
            <a:ext cx="200025" cy="214312"/>
            <a:chOff x="0" y="0"/>
            <a:chExt cx="266700" cy="285750"/>
          </a:xfrm>
        </p:grpSpPr>
        <p:sp>
          <p:nvSpPr>
            <p:cNvPr id="32" name="Freeform 32" descr="image.png"/>
            <p:cNvSpPr/>
            <p:nvPr/>
          </p:nvSpPr>
          <p:spPr>
            <a:xfrm>
              <a:off x="0" y="0"/>
              <a:ext cx="266700" cy="285750"/>
            </a:xfrm>
            <a:custGeom>
              <a:avLst/>
              <a:gdLst/>
              <a:ahLst/>
              <a:cxnLst/>
              <a:rect l="l" t="t" r="r" b="b"/>
              <a:pathLst>
                <a:path w="266700" h="285750">
                  <a:moveTo>
                    <a:pt x="0" y="0"/>
                  </a:moveTo>
                  <a:lnTo>
                    <a:pt x="266700" y="0"/>
                  </a:lnTo>
                  <a:lnTo>
                    <a:pt x="266700" y="285750"/>
                  </a:lnTo>
                  <a:lnTo>
                    <a:pt x="0" y="285750"/>
                  </a:lnTo>
                  <a:lnTo>
                    <a:pt x="0" y="0"/>
                  </a:lnTo>
                  <a:close/>
                </a:path>
              </a:pathLst>
            </a:custGeom>
            <a:blipFill>
              <a:blip r:embed="rId9"/>
              <a:stretch>
                <a:fillRect/>
              </a:stretch>
            </a:blipFill>
          </p:spPr>
        </p:sp>
      </p:grpSp>
      <p:grpSp>
        <p:nvGrpSpPr>
          <p:cNvPr id="33" name="Group 33"/>
          <p:cNvGrpSpPr/>
          <p:nvPr/>
        </p:nvGrpSpPr>
        <p:grpSpPr>
          <a:xfrm>
            <a:off x="971550" y="6022181"/>
            <a:ext cx="200025" cy="214312"/>
            <a:chOff x="0" y="0"/>
            <a:chExt cx="266700" cy="285750"/>
          </a:xfrm>
        </p:grpSpPr>
        <p:sp>
          <p:nvSpPr>
            <p:cNvPr id="34" name="Freeform 34" descr="image.png"/>
            <p:cNvSpPr/>
            <p:nvPr/>
          </p:nvSpPr>
          <p:spPr>
            <a:xfrm>
              <a:off x="0" y="0"/>
              <a:ext cx="266700" cy="285750"/>
            </a:xfrm>
            <a:custGeom>
              <a:avLst/>
              <a:gdLst/>
              <a:ahLst/>
              <a:cxnLst/>
              <a:rect l="l" t="t" r="r" b="b"/>
              <a:pathLst>
                <a:path w="266700" h="285750">
                  <a:moveTo>
                    <a:pt x="0" y="0"/>
                  </a:moveTo>
                  <a:lnTo>
                    <a:pt x="266700" y="0"/>
                  </a:lnTo>
                  <a:lnTo>
                    <a:pt x="266700" y="285750"/>
                  </a:lnTo>
                  <a:lnTo>
                    <a:pt x="0" y="285750"/>
                  </a:lnTo>
                  <a:lnTo>
                    <a:pt x="0" y="0"/>
                  </a:lnTo>
                  <a:close/>
                </a:path>
              </a:pathLst>
            </a:custGeom>
            <a:blipFill>
              <a:blip r:embed="rId9"/>
              <a:stretch>
                <a:fillRect/>
              </a:stretch>
            </a:blipFill>
          </p:spPr>
        </p:sp>
      </p:grpSp>
      <p:grpSp>
        <p:nvGrpSpPr>
          <p:cNvPr id="35" name="Group 35"/>
          <p:cNvGrpSpPr/>
          <p:nvPr/>
        </p:nvGrpSpPr>
        <p:grpSpPr>
          <a:xfrm>
            <a:off x="971550" y="6807098"/>
            <a:ext cx="200025" cy="214312"/>
            <a:chOff x="0" y="0"/>
            <a:chExt cx="266700" cy="285750"/>
          </a:xfrm>
        </p:grpSpPr>
        <p:sp>
          <p:nvSpPr>
            <p:cNvPr id="36" name="Freeform 36" descr="image.png"/>
            <p:cNvSpPr/>
            <p:nvPr/>
          </p:nvSpPr>
          <p:spPr>
            <a:xfrm>
              <a:off x="0" y="0"/>
              <a:ext cx="266700" cy="285750"/>
            </a:xfrm>
            <a:custGeom>
              <a:avLst/>
              <a:gdLst/>
              <a:ahLst/>
              <a:cxnLst/>
              <a:rect l="l" t="t" r="r" b="b"/>
              <a:pathLst>
                <a:path w="266700" h="285750">
                  <a:moveTo>
                    <a:pt x="0" y="0"/>
                  </a:moveTo>
                  <a:lnTo>
                    <a:pt x="266700" y="0"/>
                  </a:lnTo>
                  <a:lnTo>
                    <a:pt x="266700" y="285750"/>
                  </a:lnTo>
                  <a:lnTo>
                    <a:pt x="0" y="285750"/>
                  </a:lnTo>
                  <a:lnTo>
                    <a:pt x="0" y="0"/>
                  </a:lnTo>
                  <a:close/>
                </a:path>
              </a:pathLst>
            </a:custGeom>
            <a:blipFill>
              <a:blip r:embed="rId9"/>
              <a:stretch>
                <a:fillRect/>
              </a:stretch>
            </a:blipFill>
          </p:spPr>
        </p:sp>
      </p:grpSp>
      <p:grpSp>
        <p:nvGrpSpPr>
          <p:cNvPr id="37" name="Group 37"/>
          <p:cNvGrpSpPr/>
          <p:nvPr/>
        </p:nvGrpSpPr>
        <p:grpSpPr>
          <a:xfrm>
            <a:off x="9644062" y="4452337"/>
            <a:ext cx="171450" cy="214312"/>
            <a:chOff x="0" y="0"/>
            <a:chExt cx="228600" cy="285750"/>
          </a:xfrm>
        </p:grpSpPr>
        <p:sp>
          <p:nvSpPr>
            <p:cNvPr id="38" name="Freeform 38" descr="image.png"/>
            <p:cNvSpPr/>
            <p:nvPr/>
          </p:nvSpPr>
          <p:spPr>
            <a:xfrm>
              <a:off x="0" y="0"/>
              <a:ext cx="228600" cy="285750"/>
            </a:xfrm>
            <a:custGeom>
              <a:avLst/>
              <a:gdLst/>
              <a:ahLst/>
              <a:cxnLst/>
              <a:rect l="l" t="t" r="r" b="b"/>
              <a:pathLst>
                <a:path w="228600" h="285750">
                  <a:moveTo>
                    <a:pt x="0" y="0"/>
                  </a:moveTo>
                  <a:lnTo>
                    <a:pt x="228600" y="0"/>
                  </a:lnTo>
                  <a:lnTo>
                    <a:pt x="228600" y="285750"/>
                  </a:lnTo>
                  <a:lnTo>
                    <a:pt x="0" y="285750"/>
                  </a:lnTo>
                  <a:lnTo>
                    <a:pt x="0" y="0"/>
                  </a:lnTo>
                  <a:close/>
                </a:path>
              </a:pathLst>
            </a:custGeom>
            <a:blipFill>
              <a:blip r:embed="rId10"/>
              <a:stretch>
                <a:fillRect/>
              </a:stretch>
            </a:blipFill>
          </p:spPr>
        </p:sp>
      </p:grpSp>
      <p:grpSp>
        <p:nvGrpSpPr>
          <p:cNvPr id="39" name="Group 39"/>
          <p:cNvGrpSpPr/>
          <p:nvPr/>
        </p:nvGrpSpPr>
        <p:grpSpPr>
          <a:xfrm>
            <a:off x="9644062" y="5237264"/>
            <a:ext cx="171450" cy="214312"/>
            <a:chOff x="0" y="0"/>
            <a:chExt cx="228600" cy="285750"/>
          </a:xfrm>
        </p:grpSpPr>
        <p:sp>
          <p:nvSpPr>
            <p:cNvPr id="40" name="Freeform 40" descr="image.png"/>
            <p:cNvSpPr/>
            <p:nvPr/>
          </p:nvSpPr>
          <p:spPr>
            <a:xfrm>
              <a:off x="0" y="0"/>
              <a:ext cx="228600" cy="285750"/>
            </a:xfrm>
            <a:custGeom>
              <a:avLst/>
              <a:gdLst/>
              <a:ahLst/>
              <a:cxnLst/>
              <a:rect l="l" t="t" r="r" b="b"/>
              <a:pathLst>
                <a:path w="228600" h="285750">
                  <a:moveTo>
                    <a:pt x="0" y="0"/>
                  </a:moveTo>
                  <a:lnTo>
                    <a:pt x="228600" y="0"/>
                  </a:lnTo>
                  <a:lnTo>
                    <a:pt x="228600" y="285750"/>
                  </a:lnTo>
                  <a:lnTo>
                    <a:pt x="0" y="285750"/>
                  </a:lnTo>
                  <a:lnTo>
                    <a:pt x="0" y="0"/>
                  </a:lnTo>
                  <a:close/>
                </a:path>
              </a:pathLst>
            </a:custGeom>
            <a:blipFill>
              <a:blip r:embed="rId10"/>
              <a:stretch>
                <a:fillRect/>
              </a:stretch>
            </a:blipFill>
          </p:spPr>
        </p:sp>
      </p:grpSp>
      <p:grpSp>
        <p:nvGrpSpPr>
          <p:cNvPr id="41" name="Group 41"/>
          <p:cNvGrpSpPr/>
          <p:nvPr/>
        </p:nvGrpSpPr>
        <p:grpSpPr>
          <a:xfrm>
            <a:off x="9644062" y="6022181"/>
            <a:ext cx="171450" cy="214312"/>
            <a:chOff x="0" y="0"/>
            <a:chExt cx="228600" cy="285750"/>
          </a:xfrm>
        </p:grpSpPr>
        <p:sp>
          <p:nvSpPr>
            <p:cNvPr id="42" name="Freeform 42" descr="image.png"/>
            <p:cNvSpPr/>
            <p:nvPr/>
          </p:nvSpPr>
          <p:spPr>
            <a:xfrm>
              <a:off x="0" y="0"/>
              <a:ext cx="228600" cy="285750"/>
            </a:xfrm>
            <a:custGeom>
              <a:avLst/>
              <a:gdLst/>
              <a:ahLst/>
              <a:cxnLst/>
              <a:rect l="l" t="t" r="r" b="b"/>
              <a:pathLst>
                <a:path w="228600" h="285750">
                  <a:moveTo>
                    <a:pt x="0" y="0"/>
                  </a:moveTo>
                  <a:lnTo>
                    <a:pt x="228600" y="0"/>
                  </a:lnTo>
                  <a:lnTo>
                    <a:pt x="228600" y="285750"/>
                  </a:lnTo>
                  <a:lnTo>
                    <a:pt x="0" y="285750"/>
                  </a:lnTo>
                  <a:lnTo>
                    <a:pt x="0" y="0"/>
                  </a:lnTo>
                  <a:close/>
                </a:path>
              </a:pathLst>
            </a:custGeom>
            <a:blipFill>
              <a:blip r:embed="rId10"/>
              <a:stretch>
                <a:fillRect/>
              </a:stretch>
            </a:blipFill>
          </p:spPr>
        </p:sp>
      </p:grpSp>
      <p:grpSp>
        <p:nvGrpSpPr>
          <p:cNvPr id="43" name="Group 43"/>
          <p:cNvGrpSpPr/>
          <p:nvPr/>
        </p:nvGrpSpPr>
        <p:grpSpPr>
          <a:xfrm>
            <a:off x="9644062" y="6807098"/>
            <a:ext cx="171450" cy="214312"/>
            <a:chOff x="0" y="0"/>
            <a:chExt cx="228600" cy="285750"/>
          </a:xfrm>
        </p:grpSpPr>
        <p:sp>
          <p:nvSpPr>
            <p:cNvPr id="44" name="Freeform 44" descr="image.png"/>
            <p:cNvSpPr/>
            <p:nvPr/>
          </p:nvSpPr>
          <p:spPr>
            <a:xfrm>
              <a:off x="0" y="0"/>
              <a:ext cx="228600" cy="285750"/>
            </a:xfrm>
            <a:custGeom>
              <a:avLst/>
              <a:gdLst/>
              <a:ahLst/>
              <a:cxnLst/>
              <a:rect l="l" t="t" r="r" b="b"/>
              <a:pathLst>
                <a:path w="228600" h="285750">
                  <a:moveTo>
                    <a:pt x="0" y="0"/>
                  </a:moveTo>
                  <a:lnTo>
                    <a:pt x="228600" y="0"/>
                  </a:lnTo>
                  <a:lnTo>
                    <a:pt x="228600" y="285750"/>
                  </a:lnTo>
                  <a:lnTo>
                    <a:pt x="0" y="285750"/>
                  </a:lnTo>
                  <a:lnTo>
                    <a:pt x="0" y="0"/>
                  </a:lnTo>
                  <a:close/>
                </a:path>
              </a:pathLst>
            </a:custGeom>
            <a:blipFill>
              <a:blip r:embed="rId10"/>
              <a:stretch>
                <a:fillRect/>
              </a:stretch>
            </a:blipFill>
          </p:spPr>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5405" y="49937"/>
            <a:ext cx="18199223" cy="10237063"/>
          </a:xfrm>
          <a:custGeom>
            <a:avLst/>
            <a:gdLst/>
            <a:ahLst/>
            <a:cxnLst/>
            <a:rect l="l" t="t" r="r" b="b"/>
            <a:pathLst>
              <a:path w="18199223" h="10237063">
                <a:moveTo>
                  <a:pt x="0" y="0"/>
                </a:moveTo>
                <a:lnTo>
                  <a:pt x="18199223" y="0"/>
                </a:lnTo>
                <a:lnTo>
                  <a:pt x="18199223" y="10237063"/>
                </a:lnTo>
                <a:lnTo>
                  <a:pt x="0" y="10237063"/>
                </a:lnTo>
                <a:lnTo>
                  <a:pt x="0" y="0"/>
                </a:lnTo>
                <a:close/>
              </a:path>
            </a:pathLst>
          </a:custGeom>
          <a:blipFill>
            <a:blip r:embed="rId2"/>
            <a:stretch>
              <a:fillRect/>
            </a:stretch>
          </a:blipFill>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61C16"/>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61C16"/>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sp>
      </p:grpSp>
      <p:grpSp>
        <p:nvGrpSpPr>
          <p:cNvPr id="4" name="Group 4"/>
          <p:cNvGrpSpPr/>
          <p:nvPr/>
        </p:nvGrpSpPr>
        <p:grpSpPr>
          <a:xfrm>
            <a:off x="2571750" y="5446214"/>
            <a:ext cx="13144500" cy="1357312"/>
            <a:chOff x="0" y="0"/>
            <a:chExt cx="17526000" cy="1809750"/>
          </a:xfrm>
        </p:grpSpPr>
        <p:sp>
          <p:nvSpPr>
            <p:cNvPr id="5" name="Freeform 5" descr="image.png"/>
            <p:cNvSpPr/>
            <p:nvPr/>
          </p:nvSpPr>
          <p:spPr>
            <a:xfrm>
              <a:off x="0" y="0"/>
              <a:ext cx="17526000" cy="1809750"/>
            </a:xfrm>
            <a:custGeom>
              <a:avLst/>
              <a:gdLst/>
              <a:ahLst/>
              <a:cxnLst/>
              <a:rect l="l" t="t" r="r" b="b"/>
              <a:pathLst>
                <a:path w="17526000" h="1809750">
                  <a:moveTo>
                    <a:pt x="0" y="0"/>
                  </a:moveTo>
                  <a:lnTo>
                    <a:pt x="17526000" y="0"/>
                  </a:lnTo>
                  <a:lnTo>
                    <a:pt x="17526000" y="1809750"/>
                  </a:lnTo>
                  <a:lnTo>
                    <a:pt x="0" y="1809750"/>
                  </a:lnTo>
                  <a:lnTo>
                    <a:pt x="0" y="0"/>
                  </a:lnTo>
                  <a:close/>
                </a:path>
              </a:pathLst>
            </a:custGeom>
            <a:blipFill>
              <a:blip r:embed="rId3"/>
              <a:stretch>
                <a:fillRect t="-526" b="-526"/>
              </a:stretch>
            </a:blipFill>
          </p:spPr>
        </p:sp>
      </p:grpSp>
      <p:grpSp>
        <p:nvGrpSpPr>
          <p:cNvPr id="6" name="Group 6"/>
          <p:cNvGrpSpPr/>
          <p:nvPr/>
        </p:nvGrpSpPr>
        <p:grpSpPr>
          <a:xfrm>
            <a:off x="7526607" y="2040207"/>
            <a:ext cx="3234557" cy="428625"/>
            <a:chOff x="0" y="0"/>
            <a:chExt cx="4312742" cy="571500"/>
          </a:xfrm>
        </p:grpSpPr>
        <p:sp>
          <p:nvSpPr>
            <p:cNvPr id="7" name="Freeform 7" descr="image.png"/>
            <p:cNvSpPr/>
            <p:nvPr/>
          </p:nvSpPr>
          <p:spPr>
            <a:xfrm>
              <a:off x="0" y="0"/>
              <a:ext cx="4312793" cy="571500"/>
            </a:xfrm>
            <a:custGeom>
              <a:avLst/>
              <a:gdLst/>
              <a:ahLst/>
              <a:cxnLst/>
              <a:rect l="l" t="t" r="r" b="b"/>
              <a:pathLst>
                <a:path w="4312793" h="571500">
                  <a:moveTo>
                    <a:pt x="0" y="0"/>
                  </a:moveTo>
                  <a:lnTo>
                    <a:pt x="4312793" y="0"/>
                  </a:lnTo>
                  <a:lnTo>
                    <a:pt x="4312793" y="571500"/>
                  </a:lnTo>
                  <a:lnTo>
                    <a:pt x="0" y="571500"/>
                  </a:lnTo>
                  <a:lnTo>
                    <a:pt x="0" y="0"/>
                  </a:lnTo>
                  <a:close/>
                </a:path>
              </a:pathLst>
            </a:custGeom>
            <a:blipFill>
              <a:blip r:embed="rId4"/>
              <a:stretch>
                <a:fillRect t="-1302" r="1" b="-1302"/>
              </a:stretch>
            </a:blipFill>
          </p:spPr>
        </p:sp>
      </p:grpSp>
      <p:sp>
        <p:nvSpPr>
          <p:cNvPr id="8" name="TextBox 8"/>
          <p:cNvSpPr txBox="1"/>
          <p:nvPr/>
        </p:nvSpPr>
        <p:spPr>
          <a:xfrm>
            <a:off x="2243138" y="2773632"/>
            <a:ext cx="13801725" cy="781050"/>
          </a:xfrm>
          <a:prstGeom prst="rect">
            <a:avLst/>
          </a:prstGeom>
        </p:spPr>
        <p:txBody>
          <a:bodyPr lIns="0" tIns="0" rIns="0" bIns="0" rtlCol="0" anchor="t">
            <a:spAutoFit/>
          </a:bodyPr>
          <a:lstStyle/>
          <a:p>
            <a:pPr algn="ctr">
              <a:lnSpc>
                <a:spcPts val="5940"/>
              </a:lnSpc>
            </a:pPr>
            <a:r>
              <a:rPr lang="en-US" sz="4950" b="1">
                <a:solidFill>
                  <a:srgbClr val="FFFFFF"/>
                </a:solidFill>
                <a:latin typeface="Inter Bold"/>
                <a:ea typeface="Inter Bold"/>
                <a:cs typeface="Inter Bold"/>
                <a:sym typeface="Inter Bold"/>
              </a:rPr>
              <a:t>CONCLUSION &amp; FUTURE SCOPE</a:t>
            </a:r>
          </a:p>
        </p:txBody>
      </p:sp>
      <p:sp>
        <p:nvSpPr>
          <p:cNvPr id="9" name="TextBox 9"/>
          <p:cNvSpPr txBox="1"/>
          <p:nvPr/>
        </p:nvSpPr>
        <p:spPr>
          <a:xfrm>
            <a:off x="2571750" y="3697557"/>
            <a:ext cx="13144500" cy="1320032"/>
          </a:xfrm>
          <a:prstGeom prst="rect">
            <a:avLst/>
          </a:prstGeom>
        </p:spPr>
        <p:txBody>
          <a:bodyPr lIns="0" tIns="0" rIns="0" bIns="0" rtlCol="0" anchor="t">
            <a:spAutoFit/>
          </a:bodyPr>
          <a:lstStyle/>
          <a:p>
            <a:pPr algn="ctr">
              <a:lnSpc>
                <a:spcPts val="3240"/>
              </a:lnSpc>
            </a:pPr>
            <a:r>
              <a:rPr lang="en-US" sz="2025">
                <a:solidFill>
                  <a:srgbClr val="94A3B8"/>
                </a:solidFill>
                <a:latin typeface="Inter"/>
                <a:ea typeface="Inter"/>
                <a:cs typeface="Inter"/>
                <a:sym typeface="Inter"/>
              </a:rPr>
              <a:t>The 45-day industrial training successfully consolidated core Data Science and Machine Learning concepts, culminating in the Smart Expense Pattern Analyzer—a practical tool that transforms raw financial transactions into actionable personal wealth intelligence.</a:t>
            </a:r>
          </a:p>
        </p:txBody>
      </p:sp>
      <p:sp>
        <p:nvSpPr>
          <p:cNvPr id="10" name="TextBox 10"/>
          <p:cNvSpPr txBox="1"/>
          <p:nvPr/>
        </p:nvSpPr>
        <p:spPr>
          <a:xfrm>
            <a:off x="2571750" y="7270252"/>
            <a:ext cx="13144500" cy="576263"/>
          </a:xfrm>
          <a:prstGeom prst="rect">
            <a:avLst/>
          </a:prstGeom>
        </p:spPr>
        <p:txBody>
          <a:bodyPr lIns="0" tIns="0" rIns="0" bIns="0" rtlCol="0" anchor="t">
            <a:spAutoFit/>
          </a:bodyPr>
          <a:lstStyle/>
          <a:p>
            <a:pPr algn="ctr">
              <a:lnSpc>
                <a:spcPts val="4590"/>
              </a:lnSpc>
            </a:pPr>
            <a:r>
              <a:rPr lang="en-US" sz="3825" b="1">
                <a:solidFill>
                  <a:srgbClr val="34D399"/>
                </a:solidFill>
                <a:latin typeface="Inter Bold"/>
                <a:ea typeface="Inter Bold"/>
                <a:cs typeface="Inter Bold"/>
                <a:sym typeface="Inter Bold"/>
              </a:rPr>
              <a:t>THANK YOU</a:t>
            </a:r>
          </a:p>
        </p:txBody>
      </p:sp>
      <p:sp>
        <p:nvSpPr>
          <p:cNvPr id="11" name="TextBox 11"/>
          <p:cNvSpPr txBox="1"/>
          <p:nvPr/>
        </p:nvSpPr>
        <p:spPr>
          <a:xfrm>
            <a:off x="2571750" y="7960814"/>
            <a:ext cx="13144500" cy="285750"/>
          </a:xfrm>
          <a:prstGeom prst="rect">
            <a:avLst/>
          </a:prstGeom>
        </p:spPr>
        <p:txBody>
          <a:bodyPr lIns="0" tIns="0" rIns="0" bIns="0" rtlCol="0" anchor="t">
            <a:spAutoFit/>
          </a:bodyPr>
          <a:lstStyle/>
          <a:p>
            <a:pPr algn="ctr">
              <a:lnSpc>
                <a:spcPts val="2295"/>
              </a:lnSpc>
            </a:pPr>
            <a:r>
              <a:rPr lang="en-US" sz="1912">
                <a:solidFill>
                  <a:srgbClr val="94A3B8"/>
                </a:solidFill>
                <a:latin typeface="Inter"/>
                <a:ea typeface="Inter"/>
                <a:cs typeface="Inter"/>
                <a:sym typeface="Inter"/>
              </a:rPr>
              <a:t>Questions &amp; Discussion Welcomed</a:t>
            </a:r>
          </a:p>
        </p:txBody>
      </p:sp>
      <p:sp>
        <p:nvSpPr>
          <p:cNvPr id="12" name="TextBox 12"/>
          <p:cNvSpPr txBox="1"/>
          <p:nvPr/>
        </p:nvSpPr>
        <p:spPr>
          <a:xfrm>
            <a:off x="2986088" y="5774827"/>
            <a:ext cx="12315825" cy="228600"/>
          </a:xfrm>
          <a:prstGeom prst="rect">
            <a:avLst/>
          </a:prstGeom>
        </p:spPr>
        <p:txBody>
          <a:bodyPr lIns="0" tIns="0" rIns="0" bIns="0" rtlCol="0" anchor="t">
            <a:spAutoFit/>
          </a:bodyPr>
          <a:lstStyle/>
          <a:p>
            <a:pPr algn="ctr">
              <a:lnSpc>
                <a:spcPts val="1755"/>
              </a:lnSpc>
            </a:pPr>
            <a:r>
              <a:rPr lang="en-US" sz="1462" b="1">
                <a:solidFill>
                  <a:srgbClr val="FBBF24"/>
                </a:solidFill>
                <a:latin typeface="Inter Bold"/>
                <a:ea typeface="Inter Bold"/>
                <a:cs typeface="Inter Bold"/>
                <a:sym typeface="Inter Bold"/>
              </a:rPr>
              <a:t>KEY TAKEAWAY</a:t>
            </a:r>
          </a:p>
        </p:txBody>
      </p:sp>
      <p:sp>
        <p:nvSpPr>
          <p:cNvPr id="13" name="TextBox 13"/>
          <p:cNvSpPr txBox="1"/>
          <p:nvPr/>
        </p:nvSpPr>
        <p:spPr>
          <a:xfrm>
            <a:off x="2986088" y="6079627"/>
            <a:ext cx="12315825" cy="395287"/>
          </a:xfrm>
          <a:prstGeom prst="rect">
            <a:avLst/>
          </a:prstGeom>
        </p:spPr>
        <p:txBody>
          <a:bodyPr lIns="0" tIns="0" rIns="0" bIns="0" rtlCol="0" anchor="t">
            <a:spAutoFit/>
          </a:bodyPr>
          <a:lstStyle/>
          <a:p>
            <a:pPr algn="ctr">
              <a:lnSpc>
                <a:spcPts val="2970"/>
              </a:lnSpc>
            </a:pPr>
            <a:r>
              <a:rPr lang="en-US" sz="2475">
                <a:solidFill>
                  <a:srgbClr val="FFFFFF"/>
                </a:solidFill>
                <a:latin typeface="Inter"/>
                <a:ea typeface="Inter"/>
                <a:cs typeface="Inter"/>
                <a:sym typeface="Inter"/>
              </a:rPr>
              <a:t>From Learning Data Science  →  To Building a Practical AI/ML Application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1841</Words>
  <Application>Microsoft Office PowerPoint</Application>
  <PresentationFormat>Custom</PresentationFormat>
  <Paragraphs>265</Paragraphs>
  <Slides>24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Times New Roman</vt:lpstr>
      <vt:lpstr>Arial</vt:lpstr>
      <vt:lpstr>Inter Medium</vt:lpstr>
      <vt:lpstr>Calibri</vt:lpstr>
      <vt:lpstr>Inter</vt:lpstr>
      <vt:lpstr>Times New Roman Bold</vt:lpstr>
      <vt:lpstr>Inter Bold</vt:lpstr>
      <vt:lpstr>Arimo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Gourav Saini V Sem, AI &amp; DS 24EACAD044</dc:title>
  <cp:lastModifiedBy>Chayan Saini</cp:lastModifiedBy>
  <cp:revision>2</cp:revision>
  <dcterms:created xsi:type="dcterms:W3CDTF">2006-08-16T00:00:00Z</dcterms:created>
  <dcterms:modified xsi:type="dcterms:W3CDTF">2026-09-18T14:46:07Z</dcterms:modified>
  <dc:identifier>DAHVexMfwpM</dc:identifier>
</cp:coreProperties>
</file>